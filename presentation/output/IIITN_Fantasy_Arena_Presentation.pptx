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711bcc22714e19" /><Relationship Type="http://schemas.openxmlformats.org/officeDocument/2006/relationships/extended-properties" Target="/docProps/app.xml" Id="Rebd0fbe43e2840e0" /><Relationship Type="http://schemas.openxmlformats.org/officeDocument/2006/relationships/officeDocument" Target="/ppt/presentation.xml" Id="R9d97208170d2423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464eaac8624e11"/>
  </p:sldMasterIdLst>
  <p:notesMasterIdLst>
    <p:notesMasterId xmlns:r="http://schemas.openxmlformats.org/officeDocument/2006/relationships" r:id="R05c56eda37e74cf8"/>
  </p:notesMasterIdLst>
  <p:sldIdLst>
    <p:sldId xmlns:r="http://schemas.openxmlformats.org/officeDocument/2006/relationships" id="256" r:id="Ra42c4f81070d4dc2"/>
    <p:sldId xmlns:r="http://schemas.openxmlformats.org/officeDocument/2006/relationships" id="257" r:id="R4e15be9c429b499a"/>
    <p:sldId xmlns:r="http://schemas.openxmlformats.org/officeDocument/2006/relationships" id="258" r:id="Ra5af31a5879f4427"/>
    <p:sldId xmlns:r="http://schemas.openxmlformats.org/officeDocument/2006/relationships" id="259" r:id="Rb3c43ea1cc5f43b4"/>
    <p:sldId xmlns:r="http://schemas.openxmlformats.org/officeDocument/2006/relationships" id="260" r:id="R875e3351a08d464e"/>
    <p:sldId xmlns:r="http://schemas.openxmlformats.org/officeDocument/2006/relationships" id="261" r:id="R2815c5aaca3b4389"/>
    <p:sldId xmlns:r="http://schemas.openxmlformats.org/officeDocument/2006/relationships" id="262" r:id="Rf811fe1f17a049e0"/>
    <p:sldId xmlns:r="http://schemas.openxmlformats.org/officeDocument/2006/relationships" id="263" r:id="R174acf1a234f47c6"/>
    <p:sldId xmlns:r="http://schemas.openxmlformats.org/officeDocument/2006/relationships" id="264" r:id="R7cff532441164fb6"/>
    <p:sldId xmlns:r="http://schemas.openxmlformats.org/officeDocument/2006/relationships" id="265" r:id="R5973b82da0194f6e"/>
    <p:sldId xmlns:r="http://schemas.openxmlformats.org/officeDocument/2006/relationships" id="266" r:id="R97fa7b5bb5b84735"/>
    <p:sldId xmlns:r="http://schemas.openxmlformats.org/officeDocument/2006/relationships" id="267" r:id="Rd126b689cca141f6"/>
    <p:sldId xmlns:r="http://schemas.openxmlformats.org/officeDocument/2006/relationships" id="268" r:id="R9bc2c092765e41eb"/>
    <p:sldId xmlns:r="http://schemas.openxmlformats.org/officeDocument/2006/relationships" id="269" r:id="Rff76ca83fd394803"/>
    <p:sldId xmlns:r="http://schemas.openxmlformats.org/officeDocument/2006/relationships" id="270" r:id="Rc562dbbd20f64772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464eaac8624e11" /><Relationship Type="http://schemas.openxmlformats.org/officeDocument/2006/relationships/theme" Target="/ppt/theme/theme1.xml" Id="R989ea3c8301f4591" /><Relationship Type="http://schemas.openxmlformats.org/officeDocument/2006/relationships/notesMaster" Target="/ppt/notesMasters/notesMaster1.xml" Id="R05c56eda37e74cf8" /><Relationship Type="http://schemas.openxmlformats.org/officeDocument/2006/relationships/presProps" Target="/ppt/presProps.xml" Id="R96407580a5034d93" /><Relationship Type="http://schemas.openxmlformats.org/officeDocument/2006/relationships/viewProps" Target="/ppt/viewProps.xml" Id="R27fe0f7719864884" /><Relationship Type="http://schemas.openxmlformats.org/officeDocument/2006/relationships/tableStyles" Target="/ppt/tableStyles.xml" Id="R50942878ca37404b" /><Relationship Type="http://schemas.openxmlformats.org/officeDocument/2006/relationships/slide" Target="/ppt/slides/slide1.xml" Id="Ra42c4f81070d4dc2" /><Relationship Type="http://schemas.openxmlformats.org/officeDocument/2006/relationships/slide" Target="/ppt/slides/slide2.xml" Id="R4e15be9c429b499a" /><Relationship Type="http://schemas.openxmlformats.org/officeDocument/2006/relationships/slide" Target="/ppt/slides/slide3.xml" Id="Ra5af31a5879f4427" /><Relationship Type="http://schemas.openxmlformats.org/officeDocument/2006/relationships/slide" Target="/ppt/slides/slide4.xml" Id="Rb3c43ea1cc5f43b4" /><Relationship Type="http://schemas.openxmlformats.org/officeDocument/2006/relationships/slide" Target="/ppt/slides/slide5.xml" Id="R875e3351a08d464e" /><Relationship Type="http://schemas.openxmlformats.org/officeDocument/2006/relationships/slide" Target="/ppt/slides/slide6.xml" Id="R2815c5aaca3b4389" /><Relationship Type="http://schemas.openxmlformats.org/officeDocument/2006/relationships/slide" Target="/ppt/slides/slide7.xml" Id="Rf811fe1f17a049e0" /><Relationship Type="http://schemas.openxmlformats.org/officeDocument/2006/relationships/slide" Target="/ppt/slides/slide8.xml" Id="R174acf1a234f47c6" /><Relationship Type="http://schemas.openxmlformats.org/officeDocument/2006/relationships/slide" Target="/ppt/slides/slide9.xml" Id="R7cff532441164fb6" /><Relationship Type="http://schemas.openxmlformats.org/officeDocument/2006/relationships/slide" Target="/ppt/slides/slide10.xml" Id="R5973b82da0194f6e" /><Relationship Type="http://schemas.openxmlformats.org/officeDocument/2006/relationships/slide" Target="/ppt/slides/slide11.xml" Id="R97fa7b5bb5b84735" /><Relationship Type="http://schemas.openxmlformats.org/officeDocument/2006/relationships/slide" Target="/ppt/slides/slide12.xml" Id="Rd126b689cca141f6" /><Relationship Type="http://schemas.openxmlformats.org/officeDocument/2006/relationships/slide" Target="/ppt/slides/slide13.xml" Id="R9bc2c092765e41eb" /><Relationship Type="http://schemas.openxmlformats.org/officeDocument/2006/relationships/slide" Target="/ppt/slides/slide14.xml" Id="Rff76ca83fd394803" /><Relationship Type="http://schemas.openxmlformats.org/officeDocument/2006/relationships/slide" Target="/ppt/slides/slide15.xml" Id="Rc562dbbd20f647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ed7315c841948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ce375064d1484c" /><Relationship Type="http://schemas.openxmlformats.org/officeDocument/2006/relationships/notesMaster" Target="/ppt/notesMasters/notesMaster1.xml" Id="R530d8e7526ad47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c8eae1fafd481f" /><Relationship Type="http://schemas.openxmlformats.org/officeDocument/2006/relationships/notesMaster" Target="/ppt/notesMasters/notesMaster1.xml" Id="Rca51a9374d534de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3b318cad774feb" /><Relationship Type="http://schemas.openxmlformats.org/officeDocument/2006/relationships/notesMaster" Target="/ppt/notesMasters/notesMaster1.xml" Id="Rdd15b724e9e449a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355ec8c0314812" /><Relationship Type="http://schemas.openxmlformats.org/officeDocument/2006/relationships/notesMaster" Target="/ppt/notesMasters/notesMaster1.xml" Id="Recd7056c9d80471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22096eaa024196" /><Relationship Type="http://schemas.openxmlformats.org/officeDocument/2006/relationships/notesMaster" Target="/ppt/notesMasters/notesMaster1.xml" Id="Ra75af3d279e24a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228bd290834725" /><Relationship Type="http://schemas.openxmlformats.org/officeDocument/2006/relationships/notesMaster" Target="/ppt/notesMasters/notesMaster1.xml" Id="R38e3a6e55b3449b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f1b503dcf94ef4" /><Relationship Type="http://schemas.openxmlformats.org/officeDocument/2006/relationships/notesMaster" Target="/ppt/notesMasters/notesMaster1.xml" Id="Rb2e9f4d1ed5c40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29a34e2cce40a6" /><Relationship Type="http://schemas.openxmlformats.org/officeDocument/2006/relationships/notesMaster" Target="/ppt/notesMasters/notesMaster1.xml" Id="R8ab7d0b23d6241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1819d4ace04598" /><Relationship Type="http://schemas.openxmlformats.org/officeDocument/2006/relationships/notesMaster" Target="/ppt/notesMasters/notesMaster1.xml" Id="R44dd02af57fe42a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f0ca13dc6cd4b0a" /><Relationship Type="http://schemas.openxmlformats.org/officeDocument/2006/relationships/notesMaster" Target="/ppt/notesMasters/notesMaster1.xml" Id="R8eb7ccf1e0a541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a40b9a13bf4e13" /><Relationship Type="http://schemas.openxmlformats.org/officeDocument/2006/relationships/notesMaster" Target="/ppt/notesMasters/notesMaster1.xml" Id="Raa690ff904d1479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6521b2be4b474c" /><Relationship Type="http://schemas.openxmlformats.org/officeDocument/2006/relationships/notesMaster" Target="/ppt/notesMasters/notesMaster1.xml" Id="Rd491b08968a14f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36709a497ec430f" /><Relationship Type="http://schemas.openxmlformats.org/officeDocument/2006/relationships/notesMaster" Target="/ppt/notesMasters/notesMaster1.xml" Id="R3f90e9d3838d45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ec2477d45b14898" /><Relationship Type="http://schemas.openxmlformats.org/officeDocument/2006/relationships/notesMaster" Target="/ppt/notesMasters/notesMaster1.xml" Id="Rb5b42c9eecfc44d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305010af9734389" /><Relationship Type="http://schemas.openxmlformats.org/officeDocument/2006/relationships/notesMaster" Target="/ppt/notesMasters/notesMaster1.xml" Id="R0e27ba3afdc0418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as a sports and events platform built for a college demo, not just a fantasy picker.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motivation as fragmentation: watching, prediction, scoring, and help are usually in different places.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state the project objective in product language before moving into 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these are not imagined modules; they are visible in the current app routes and backend endpoints.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review panel through the product as a user experience, not as isolated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shows the rules that make team creation a real fantasy workflow rather than a simple checklist.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how wallet, contests, entries, points, and rankings work together.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Mention the live endpoints and the user-facing Live Match Center screens.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two modes: OBS Studio for formal streaming and WebRTC/screen share for quick browser broadcasting.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Champak shows how the app helps users understand both fantasy rules and streaming setup without leaving the platform.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control loop that makes fantasy scoring updateable in a live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through frontend, REST backend, database, real-time, streaming, and AI services.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database model to prove the app has real persistence and relationships, not just UI screens.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technical portion by explaining each layer in language a review panel can follow.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future scope and a simple conclusion: the project brings participation to campus events.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a6bea35b6c465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abf85568f304441" /><Relationship Type="http://schemas.openxmlformats.org/officeDocument/2006/relationships/slideLayout" Target="/ppt/slideLayouts/slideLayout2.xml" Id="R82f385f3c6654e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f385f3c6654e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1ca96a10f54614" /><Relationship Type="http://schemas.openxmlformats.org/officeDocument/2006/relationships/notesSlide" Target="/ppt/notesSlides/notesSlide1.xml" Id="Rf2979d88852c408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1e950418d24861" /><Relationship Type="http://schemas.openxmlformats.org/officeDocument/2006/relationships/notesSlide" Target="/ppt/notesSlides/notesSlide2.xml" Id="R84215bae494043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108ac93a134c07" /><Relationship Type="http://schemas.openxmlformats.org/officeDocument/2006/relationships/notesSlide" Target="/ppt/notesSlides/notesSlide3.xml" Id="R97efb5bf649642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668a6435f14363" /><Relationship Type="http://schemas.openxmlformats.org/officeDocument/2006/relationships/notesSlide" Target="/ppt/notesSlides/notesSlide4.xml" Id="Re97b7cb7513842a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7a03aa71b7f4e10" /><Relationship Type="http://schemas.openxmlformats.org/officeDocument/2006/relationships/notesSlide" Target="/ppt/notesSlides/notesSlide5.xml" Id="Rd1bb4caf361243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a2340efcaf4a5d" /><Relationship Type="http://schemas.openxmlformats.org/officeDocument/2006/relationships/notesSlide" Target="/ppt/notesSlides/notesSlide6.xml" Id="R4985c1835b8743b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2fb08935554ecc" /><Relationship Type="http://schemas.openxmlformats.org/officeDocument/2006/relationships/notesSlide" Target="/ppt/notesSlides/notesSlide7.xml" Id="Rffa6b268f36b4b8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55d41af4514d63" /><Relationship Type="http://schemas.openxmlformats.org/officeDocument/2006/relationships/notesSlide" Target="/ppt/notesSlides/notesSlide8.xml" Id="R044fc4b708f44a8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8aff09c254e490a" /><Relationship Type="http://schemas.openxmlformats.org/officeDocument/2006/relationships/notesSlide" Target="/ppt/notesSlides/notesSlide9.xml" Id="R31d7780a24714e5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2220b0da9440ca" /><Relationship Type="http://schemas.openxmlformats.org/officeDocument/2006/relationships/notesSlide" Target="/ppt/notesSlides/notesSlide10.xml" Id="R88d07611be8042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f67d88b3294f6f" /><Relationship Type="http://schemas.openxmlformats.org/officeDocument/2006/relationships/notesSlide" Target="/ppt/notesSlides/notesSlide11.xml" Id="Ref4cc76e0d014fa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801f90bdcb4a2b" /><Relationship Type="http://schemas.openxmlformats.org/officeDocument/2006/relationships/notesSlide" Target="/ppt/notesSlides/notesSlide12.xml" Id="R92075be18bc0459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cbe2a6e5464587" /><Relationship Type="http://schemas.openxmlformats.org/officeDocument/2006/relationships/notesSlide" Target="/ppt/notesSlides/notesSlide13.xml" Id="Rfc5a7f218fbf43d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7d6a81208248d2" /><Relationship Type="http://schemas.openxmlformats.org/officeDocument/2006/relationships/notesSlide" Target="/ppt/notesSlides/notesSlide14.xml" Id="R43dde386a7a14ab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cad21c03bec40fa" /><Relationship Type="http://schemas.openxmlformats.org/officeDocument/2006/relationships/notesSlide" Target="/ppt/notesSlides/notesSlide15.xml" Id="R8a9cf59b0d204d2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.bg">
            <a:extLst xmlns:a="http://schemas.openxmlformats.org/drawingml/2006/main">
              <a:ext uri="{FF2B5EF4-FFF2-40B4-BE49-F238E27FC236}">
                <a16:creationId xmlns:a16="http://schemas.microsoft.com/office/drawing/2014/main" id="{A119BE60-6539-4B6C-AD50-DD3E1E158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20207"/>
              </a:gs>
              <a:gs pos="54000">
                <a:srgbClr val="121331"/>
              </a:gs>
              <a:gs pos="100000">
                <a:srgbClr val="2A0B22"/>
              </a:gs>
            </a:gsLst>
            <a:lin ang="108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cover.track.1">
            <a:extLst xmlns:a="http://schemas.openxmlformats.org/drawingml/2006/main">
              <a:ext uri="{FF2B5EF4-FFF2-40B4-BE49-F238E27FC236}">
                <a16:creationId xmlns:a16="http://schemas.microsoft.com/office/drawing/2014/main" id="{818AEBA7-C1FD-4DAA-86E4-B69FAF3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20000">
            <a:off x="11334750" y="-1714500"/>
            <a:ext cx="1047750" cy="142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cover.track.2">
            <a:extLst xmlns:a="http://schemas.openxmlformats.org/drawingml/2006/main">
              <a:ext uri="{FF2B5EF4-FFF2-40B4-BE49-F238E27FC236}">
                <a16:creationId xmlns:a16="http://schemas.microsoft.com/office/drawing/2014/main" id="{150F67E2-3B93-4F81-BD17-2EF2E6B5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20000">
            <a:off x="12630150" y="-1714500"/>
            <a:ext cx="342900" cy="142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cover.track.3">
            <a:extLst xmlns:a="http://schemas.openxmlformats.org/drawingml/2006/main">
              <a:ext uri="{FF2B5EF4-FFF2-40B4-BE49-F238E27FC236}">
                <a16:creationId xmlns:a16="http://schemas.microsoft.com/office/drawing/2014/main" id="{00A55238-03E3-408D-9D77-8F730021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320000">
            <a:off x="13477875" y="-1714500"/>
            <a:ext cx="742950" cy="1428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5" name="label.COLLEGE PROJECT DEMO">
            <a:extLst xmlns:a="http://schemas.openxmlformats.org/drawingml/2006/main">
              <a:ext uri="{FF2B5EF4-FFF2-40B4-BE49-F238E27FC236}">
                <a16:creationId xmlns:a16="http://schemas.microsoft.com/office/drawing/2014/main" id="{13D522D4-542C-4919-B2D5-F945D06C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38200"/>
            <a:ext cx="31432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E5FF"/>
                </a:solidFill>
              </a:defRPr>
            </a:pPr>
            <a:r>
              <a:t>COLLEGE PROJECT DEMO</a:t>
            </a:r>
          </a:p>
        </p:txBody>
      </p:sp>
      <p:sp>
        <p:nvSpPr>
          <p:cNvPr id="6" name="cover.kicker">
            <a:extLst xmlns:a="http://schemas.openxmlformats.org/drawingml/2006/main">
              <a:ext uri="{FF2B5EF4-FFF2-40B4-BE49-F238E27FC236}">
                <a16:creationId xmlns:a16="http://schemas.microsoft.com/office/drawing/2014/main" id="{8FE9EC84-86B8-4BEE-9AC7-3D0488B91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90700"/>
            <a:ext cx="6477000" cy="819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FF107A"/>
                </a:solidFill>
              </a:defRPr>
            </a:pPr>
            <a:r>
              <a:t>IIITN</a:t>
            </a:r>
          </a:p>
        </p:txBody>
      </p:sp>
      <p:sp>
        <p:nvSpPr>
          <p:cNvPr id="7" name="cover.title">
            <a:extLst xmlns:a="http://schemas.openxmlformats.org/drawingml/2006/main">
              <a:ext uri="{FF2B5EF4-FFF2-40B4-BE49-F238E27FC236}">
                <a16:creationId xmlns:a16="http://schemas.microsoft.com/office/drawing/2014/main" id="{7654B6EC-EC90-45D6-9C87-579D0A3B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9906000" cy="27241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100" b="1">
                <a:solidFill>
                  <a:srgbClr val="FFFFFF"/>
                </a:solidFill>
              </a:defRPr>
            </a:pPr>
            <a:r>
              <a:t>FANTASY</a:t>
            </a:r>
          </a:p>
          <a:p xmlns:a="http://schemas.openxmlformats.org/drawingml/2006/main">
            <a:pPr algn="l">
              <a:defRPr sz="8100" b="1">
                <a:solidFill>
                  <a:srgbClr val="FFFFFF"/>
                </a:solidFill>
              </a:defRPr>
            </a:pPr>
            <a:r>
              <a:t>ARENA</a:t>
            </a:r>
          </a:p>
        </p:txBody>
      </p:sp>
      <p:sp>
        <p:nvSpPr>
          <p:cNvPr id="8" name="rule.104.602">
            <a:extLst xmlns:a="http://schemas.openxmlformats.org/drawingml/2006/main">
              <a:ext uri="{FF2B5EF4-FFF2-40B4-BE49-F238E27FC236}">
                <a16:creationId xmlns:a16="http://schemas.microsoft.com/office/drawing/2014/main" id="{12B867C5-09D6-4929-9338-7B632BD4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34050"/>
            <a:ext cx="4000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9" name="cover.subtitle">
            <a:extLst xmlns:a="http://schemas.openxmlformats.org/drawingml/2006/main">
              <a:ext uri="{FF2B5EF4-FFF2-40B4-BE49-F238E27FC236}">
                <a16:creationId xmlns:a16="http://schemas.microsoft.com/office/drawing/2014/main" id="{A95B386B-4A66-4BA8-A7E0-1AD612CE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6076950"/>
            <a:ext cx="8763000" cy="5524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0E5FF"/>
                </a:solidFill>
              </a:defRPr>
            </a:pPr>
            <a:r>
              <a:t>Fantasy League &amp; Watch Party Platform</a:t>
            </a:r>
          </a:p>
        </p:txBody>
      </p:sp>
      <p:sp>
        <p:nvSpPr>
          <p:cNvPr id="10" name="cover.promise">
            <a:extLst xmlns:a="http://schemas.openxmlformats.org/drawingml/2006/main">
              <a:ext uri="{FF2B5EF4-FFF2-40B4-BE49-F238E27FC236}">
                <a16:creationId xmlns:a16="http://schemas.microsoft.com/office/drawing/2014/main" id="{84B58F53-C1BE-468A-B586-CF590A02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953250"/>
            <a:ext cx="9144000" cy="11049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F4F4F5"/>
                </a:solidFill>
              </a:defRPr>
            </a:pPr>
            <a:r>
              <a:t>A unified campus experience for drafting teams, joining contests, tracking live scores, streaming watch parties, and getting AI coaching.</a:t>
            </a:r>
          </a:p>
        </p:txBody>
      </p:sp>
      <p:sp>
        <p:nvSpPr>
          <p:cNvPr id="11" name="label.CRICKET">
            <a:extLst xmlns:a="http://schemas.openxmlformats.org/drawingml/2006/main">
              <a:ext uri="{FF2B5EF4-FFF2-40B4-BE49-F238E27FC236}">
                <a16:creationId xmlns:a16="http://schemas.microsoft.com/office/drawing/2014/main" id="{02E73F07-CC45-4AD6-930D-AEAD492D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420100"/>
            <a:ext cx="142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D700"/>
                </a:solidFill>
              </a:defRPr>
            </a:pPr>
            <a:r>
              <a:t>CRICKET</a:t>
            </a:r>
          </a:p>
        </p:txBody>
      </p:sp>
      <p:sp>
        <p:nvSpPr>
          <p:cNvPr id="12" name="label.FOOTBALL">
            <a:extLst xmlns:a="http://schemas.openxmlformats.org/drawingml/2006/main">
              <a:ext uri="{FF2B5EF4-FFF2-40B4-BE49-F238E27FC236}">
                <a16:creationId xmlns:a16="http://schemas.microsoft.com/office/drawing/2014/main" id="{47D45287-885F-4AE8-87E1-37E98FB6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8420100"/>
            <a:ext cx="142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FF87"/>
                </a:solidFill>
              </a:defRPr>
            </a:pPr>
            <a:r>
              <a:t>FOOTBALL</a:t>
            </a:r>
          </a:p>
        </p:txBody>
      </p:sp>
      <p:sp>
        <p:nvSpPr>
          <p:cNvPr id="13" name="label.F1">
            <a:extLst xmlns:a="http://schemas.openxmlformats.org/drawingml/2006/main">
              <a:ext uri="{FF2B5EF4-FFF2-40B4-BE49-F238E27FC236}">
                <a16:creationId xmlns:a16="http://schemas.microsoft.com/office/drawing/2014/main" id="{F6D39B5A-E674-4B6B-8B20-B0F559EE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8420100"/>
            <a:ext cx="142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50914"/>
                </a:solidFill>
              </a:defRPr>
            </a:pPr>
            <a:r>
              <a:t>F1</a:t>
            </a:r>
          </a:p>
        </p:txBody>
      </p:sp>
      <p:sp>
        <p:nvSpPr>
          <p:cNvPr id="14" name="label.HACKATHON">
            <a:extLst xmlns:a="http://schemas.openxmlformats.org/drawingml/2006/main">
              <a:ext uri="{FF2B5EF4-FFF2-40B4-BE49-F238E27FC236}">
                <a16:creationId xmlns:a16="http://schemas.microsoft.com/office/drawing/2014/main" id="{A0E595A9-BEAF-4603-BFAA-A8F89AF3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8420100"/>
            <a:ext cx="1428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E5FF"/>
                </a:solidFill>
              </a:defRPr>
            </a:pPr>
            <a:r>
              <a:t>HACKATHON</a:t>
            </a:r>
          </a:p>
        </p:txBody>
      </p:sp>
      <p:sp>
        <p:nvSpPr>
          <p:cNvPr id="15" name="cover.date">
            <a:extLst xmlns:a="http://schemas.openxmlformats.org/drawingml/2006/main">
              <a:ext uri="{FF2B5EF4-FFF2-40B4-BE49-F238E27FC236}">
                <a16:creationId xmlns:a16="http://schemas.microsoft.com/office/drawing/2014/main" id="{40470E6A-A571-4A56-B2BE-140A21120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8686800"/>
            <a:ext cx="64770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A1A1AA"/>
                </a:solidFill>
              </a:defRPr>
            </a:pPr>
            <a:r>
              <a:t>React + Express + Prisma + Socket.IO + Streaming + AI</a:t>
            </a:r>
          </a:p>
        </p:txBody>
      </p:sp>
    </p:spTree>
    <p:extLst>
      <p:ext uri="{BB962C8B-B14F-4D97-AF65-F5344CB8AC3E}">
        <p14:creationId xmlns:p14="http://schemas.microsoft.com/office/powerpoint/2010/main" val="163571688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2">
            <a:extLst xmlns:a="http://schemas.openxmlformats.org/drawingml/2006/main">
              <a:ext uri="{FF2B5EF4-FFF2-40B4-BE49-F238E27FC236}">
                <a16:creationId xmlns:a16="http://schemas.microsoft.com/office/drawing/2014/main" id="{F3F2AAA4-2C71-40F3-AE1F-1BC5E5CAE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2.1">
            <a:extLst xmlns:a="http://schemas.openxmlformats.org/drawingml/2006/main">
              <a:ext uri="{FF2B5EF4-FFF2-40B4-BE49-F238E27FC236}">
                <a16:creationId xmlns:a16="http://schemas.microsoft.com/office/drawing/2014/main" id="{1061EF34-F0F0-49FC-8C5D-AF5F9B333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2.2">
            <a:extLst xmlns:a="http://schemas.openxmlformats.org/drawingml/2006/main">
              <a:ext uri="{FF2B5EF4-FFF2-40B4-BE49-F238E27FC236}">
                <a16:creationId xmlns:a16="http://schemas.microsoft.com/office/drawing/2014/main" id="{828ABAA3-DFDA-482A-82E5-A8A41DC8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2">
            <a:extLst xmlns:a="http://schemas.openxmlformats.org/drawingml/2006/main">
              <a:ext uri="{FF2B5EF4-FFF2-40B4-BE49-F238E27FC236}">
                <a16:creationId xmlns:a16="http://schemas.microsoft.com/office/drawing/2014/main" id="{C35CC970-9799-413E-9C63-ECEFEB65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2">
            <a:extLst xmlns:a="http://schemas.openxmlformats.org/drawingml/2006/main">
              <a:ext uri="{FF2B5EF4-FFF2-40B4-BE49-F238E27FC236}">
                <a16:creationId xmlns:a16="http://schemas.microsoft.com/office/drawing/2014/main" id="{392BAB92-E999-4B5B-95F1-5AB94991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2">
            <a:extLst xmlns:a="http://schemas.openxmlformats.org/drawingml/2006/main">
              <a:ext uri="{FF2B5EF4-FFF2-40B4-BE49-F238E27FC236}">
                <a16:creationId xmlns:a16="http://schemas.microsoft.com/office/drawing/2014/main" id="{072550C2-B044-460E-8C72-FA3491E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MOTIVATION</a:t>
            </a:r>
          </a:p>
        </p:txBody>
      </p:sp>
      <p:sp>
        <p:nvSpPr>
          <p:cNvPr id="7" name="footer.page.2">
            <a:extLst xmlns:a="http://schemas.openxmlformats.org/drawingml/2006/main">
              <a:ext uri="{FF2B5EF4-FFF2-40B4-BE49-F238E27FC236}">
                <a16:creationId xmlns:a16="http://schemas.microsoft.com/office/drawing/2014/main" id="{006D3200-5063-4E95-886B-097AC0AE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02</a:t>
            </a:r>
          </a:p>
        </p:txBody>
      </p:sp>
      <p:sp>
        <p:nvSpPr>
          <p:cNvPr id="8" name="label.MOTIVATION">
            <a:extLst xmlns:a="http://schemas.openxmlformats.org/drawingml/2006/main">
              <a:ext uri="{FF2B5EF4-FFF2-40B4-BE49-F238E27FC236}">
                <a16:creationId xmlns:a16="http://schemas.microsoft.com/office/drawing/2014/main" id="{CC6F3FBC-CE97-4E32-BBC5-93734E96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038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MOTIVATION</a:t>
            </a:r>
          </a:p>
        </p:txBody>
      </p:sp>
      <p:sp>
        <p:nvSpPr>
          <p:cNvPr id="9" name="slide-title.2">
            <a:extLst xmlns:a="http://schemas.openxmlformats.org/drawingml/2006/main">
              <a:ext uri="{FF2B5EF4-FFF2-40B4-BE49-F238E27FC236}">
                <a16:creationId xmlns:a16="http://schemas.microsoft.com/office/drawing/2014/main" id="{347EECC8-0F2D-400C-A345-E66663B6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Campus events are exciting, but the digital experience is split</a:t>
            </a:r>
          </a:p>
        </p:txBody>
      </p:sp>
      <p:sp>
        <p:nvSpPr>
          <p:cNvPr id="10" name="slide-subtitle.2">
            <a:extLst xmlns:a="http://schemas.openxmlformats.org/drawingml/2006/main">
              <a:ext uri="{FF2B5EF4-FFF2-40B4-BE49-F238E27FC236}">
                <a16:creationId xmlns:a16="http://schemas.microsoft.com/office/drawing/2014/main" id="{95D5A7F2-16DF-4CF2-83C0-CCC8745C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project brings prediction, live viewing, scores, and community into one flow.</a:t>
            </a:r>
          </a:p>
        </p:txBody>
      </p:sp>
      <p:sp>
        <p:nvSpPr>
          <p:cNvPr id="11" name="problem.0.node">
            <a:extLst xmlns:a="http://schemas.openxmlformats.org/drawingml/2006/main">
              <a:ext uri="{FF2B5EF4-FFF2-40B4-BE49-F238E27FC236}">
                <a16:creationId xmlns:a16="http://schemas.microsoft.com/office/drawing/2014/main" id="{8263B3B2-BBB9-4D77-93AC-D009B74D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32766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</p:sp>
      <p:sp>
        <p:nvSpPr>
          <p:cNvPr id="12" name="problem.0.accent">
            <a:extLst xmlns:a="http://schemas.openxmlformats.org/drawingml/2006/main">
              <a:ext uri="{FF2B5EF4-FFF2-40B4-BE49-F238E27FC236}">
                <a16:creationId xmlns:a16="http://schemas.microsoft.com/office/drawing/2014/main" id="{AAECFDA6-B106-4A87-9D4E-979DC32D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13" name="problem.0.label">
            <a:extLst xmlns:a="http://schemas.openxmlformats.org/drawingml/2006/main">
              <a:ext uri="{FF2B5EF4-FFF2-40B4-BE49-F238E27FC236}">
                <a16:creationId xmlns:a16="http://schemas.microsoft.com/office/drawing/2014/main" id="{09CBD198-F899-4527-8669-163CF7DB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0050"/>
            <a:ext cx="2819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Watch</a:t>
            </a:r>
          </a:p>
        </p:txBody>
      </p:sp>
      <p:sp>
        <p:nvSpPr>
          <p:cNvPr id="14" name="problem.0.sub">
            <a:extLst xmlns:a="http://schemas.openxmlformats.org/drawingml/2006/main">
              <a:ext uri="{FF2B5EF4-FFF2-40B4-BE49-F238E27FC236}">
                <a16:creationId xmlns:a16="http://schemas.microsoft.com/office/drawing/2014/main" id="{F527E866-56C8-4B95-82E4-F313B5821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629150"/>
            <a:ext cx="2781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Streaming links or screen share happen outside the event app.</a:t>
            </a:r>
          </a:p>
        </p:txBody>
      </p:sp>
      <p:sp>
        <p:nvSpPr>
          <p:cNvPr id="15" name="problem.1.node">
            <a:extLst xmlns:a="http://schemas.openxmlformats.org/drawingml/2006/main">
              <a:ext uri="{FF2B5EF4-FFF2-40B4-BE49-F238E27FC236}">
                <a16:creationId xmlns:a16="http://schemas.microsoft.com/office/drawing/2014/main" id="{384603BE-4B18-4F5D-ABF6-B0B0831E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32766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16" name="problem.1.accent">
            <a:extLst xmlns:a="http://schemas.openxmlformats.org/drawingml/2006/main">
              <a:ext uri="{FF2B5EF4-FFF2-40B4-BE49-F238E27FC236}">
                <a16:creationId xmlns:a16="http://schemas.microsoft.com/office/drawing/2014/main" id="{21AC08E3-125E-4D7B-BEC3-974C646A0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00050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7" name="problem.1.label">
            <a:extLst xmlns:a="http://schemas.openxmlformats.org/drawingml/2006/main">
              <a:ext uri="{FF2B5EF4-FFF2-40B4-BE49-F238E27FC236}">
                <a16:creationId xmlns:a16="http://schemas.microsoft.com/office/drawing/2014/main" id="{C80D41B5-4D91-492D-B867-9DF6E545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210050"/>
            <a:ext cx="2819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18" name="problem.1.sub">
            <a:extLst xmlns:a="http://schemas.openxmlformats.org/drawingml/2006/main">
              <a:ext uri="{FF2B5EF4-FFF2-40B4-BE49-F238E27FC236}">
                <a16:creationId xmlns:a16="http://schemas.microsoft.com/office/drawing/2014/main" id="{B8AD0D13-07AF-4A71-948E-A47DDEF4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4629150"/>
            <a:ext cx="2781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Fantasy team strategy is separate from the live match context.</a:t>
            </a:r>
          </a:p>
        </p:txBody>
      </p:sp>
      <p:sp>
        <p:nvSpPr>
          <p:cNvPr id="19" name="problem.2.node">
            <a:extLst xmlns:a="http://schemas.openxmlformats.org/drawingml/2006/main">
              <a:ext uri="{FF2B5EF4-FFF2-40B4-BE49-F238E27FC236}">
                <a16:creationId xmlns:a16="http://schemas.microsoft.com/office/drawing/2014/main" id="{3EB25B94-3CBA-494B-BDDB-19E6F922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32766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20" name="problem.2.accent">
            <a:extLst xmlns:a="http://schemas.openxmlformats.org/drawingml/2006/main">
              <a:ext uri="{FF2B5EF4-FFF2-40B4-BE49-F238E27FC236}">
                <a16:creationId xmlns:a16="http://schemas.microsoft.com/office/drawing/2014/main" id="{4F0157A5-FE86-47E9-A954-D538CE7C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0050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1" name="problem.2.label">
            <a:extLst xmlns:a="http://schemas.openxmlformats.org/drawingml/2006/main">
              <a:ext uri="{FF2B5EF4-FFF2-40B4-BE49-F238E27FC236}">
                <a16:creationId xmlns:a16="http://schemas.microsoft.com/office/drawing/2014/main" id="{A6F18F5E-C6A1-4F2D-B37F-2584144A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10050"/>
            <a:ext cx="2819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Track</a:t>
            </a:r>
          </a:p>
        </p:txBody>
      </p:sp>
      <p:sp>
        <p:nvSpPr>
          <p:cNvPr id="22" name="problem.2.sub">
            <a:extLst xmlns:a="http://schemas.openxmlformats.org/drawingml/2006/main">
              <a:ext uri="{FF2B5EF4-FFF2-40B4-BE49-F238E27FC236}">
                <a16:creationId xmlns:a16="http://schemas.microsoft.com/office/drawing/2014/main" id="{EF89E67A-FBE8-49C4-AAE1-7B5D1D65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629150"/>
            <a:ext cx="2781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Scores, standings, and leaderboards need manual checking.</a:t>
            </a:r>
          </a:p>
        </p:txBody>
      </p:sp>
      <p:sp>
        <p:nvSpPr>
          <p:cNvPr id="23" name="problem.3.node">
            <a:extLst xmlns:a="http://schemas.openxmlformats.org/drawingml/2006/main">
              <a:ext uri="{FF2B5EF4-FFF2-40B4-BE49-F238E27FC236}">
                <a16:creationId xmlns:a16="http://schemas.microsoft.com/office/drawing/2014/main" id="{40E34120-D576-4EAF-ADD1-C1F8621E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550" y="4000500"/>
            <a:ext cx="32766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A855F7"/>
            </a:solidFill>
            <a:prstDash val="solid"/>
          </a:ln>
        </p:spPr>
      </p:sp>
      <p:sp>
        <p:nvSpPr>
          <p:cNvPr id="24" name="problem.3.accent">
            <a:extLst xmlns:a="http://schemas.openxmlformats.org/drawingml/2006/main">
              <a:ext uri="{FF2B5EF4-FFF2-40B4-BE49-F238E27FC236}">
                <a16:creationId xmlns:a16="http://schemas.microsoft.com/office/drawing/2014/main" id="{42FCA34E-2C34-40EF-9BD1-75BD65BA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3550" y="4000500"/>
            <a:ext cx="76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25" name="problem.3.label">
            <a:extLst xmlns:a="http://schemas.openxmlformats.org/drawingml/2006/main">
              <a:ext uri="{FF2B5EF4-FFF2-40B4-BE49-F238E27FC236}">
                <a16:creationId xmlns:a16="http://schemas.microsoft.com/office/drawing/2014/main" id="{8385B713-14E0-4481-846E-D16FB30E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210050"/>
            <a:ext cx="2819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Discuss</a:t>
            </a:r>
          </a:p>
        </p:txBody>
      </p:sp>
      <p:sp>
        <p:nvSpPr>
          <p:cNvPr id="26" name="problem.3.sub">
            <a:extLst xmlns:a="http://schemas.openxmlformats.org/drawingml/2006/main">
              <a:ext uri="{FF2B5EF4-FFF2-40B4-BE49-F238E27FC236}">
                <a16:creationId xmlns:a16="http://schemas.microsoft.com/office/drawing/2014/main" id="{557A1432-CE80-4BC4-9E39-582DB36C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4629150"/>
            <a:ext cx="278130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Users still need help understanding rules and setup.</a:t>
            </a:r>
          </a:p>
        </p:txBody>
      </p:sp>
      <p:sp>
        <p:nvSpPr>
          <p:cNvPr id="27" name="problem.thesis">
            <a:extLst xmlns:a="http://schemas.openxmlformats.org/drawingml/2006/main">
              <a:ext uri="{FF2B5EF4-FFF2-40B4-BE49-F238E27FC236}">
                <a16:creationId xmlns:a16="http://schemas.microsoft.com/office/drawing/2014/main" id="{F7229CC3-7E14-4D55-B8B8-912662071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05650"/>
            <a:ext cx="10572750" cy="876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</a:defRPr>
            </a:pPr>
            <a:r>
              <a:t>Need: one arena where participation continues before, during, and after the event.</a:t>
            </a:r>
          </a:p>
        </p:txBody>
      </p:sp>
      <p:sp>
        <p:nvSpPr>
          <p:cNvPr id="28" name="problem.ring">
            <a:extLst xmlns:a="http://schemas.openxmlformats.org/drawingml/2006/main">
              <a:ext uri="{FF2B5EF4-FFF2-40B4-BE49-F238E27FC236}">
                <a16:creationId xmlns:a16="http://schemas.microsoft.com/office/drawing/2014/main" id="{ABA7A60E-015D-41D1-BB9A-0D0E8B6AC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0" y="634365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107A"/>
            </a:solidFill>
            <a:prstDash val="solid"/>
          </a:ln>
        </p:spPr>
      </p:sp>
      <p:sp>
        <p:nvSpPr>
          <p:cNvPr id="29" name="problem.ring.text">
            <a:extLst xmlns:a="http://schemas.openxmlformats.org/drawingml/2006/main">
              <a:ext uri="{FF2B5EF4-FFF2-40B4-BE49-F238E27FC236}">
                <a16:creationId xmlns:a16="http://schemas.microsoft.com/office/drawing/2014/main" id="{B491A06A-7DBB-4817-8235-414B6883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972300"/>
            <a:ext cx="1905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F107A"/>
                </a:solidFill>
              </a:defRPr>
            </a:pPr>
            <a:r>
              <a:t>ONE</a:t>
            </a:r>
          </a:p>
          <a:p xmlns:a="http://schemas.openxmlformats.org/drawingml/2006/main">
            <a:pPr algn="ctr">
              <a:defRPr sz="3000" b="1">
                <a:solidFill>
                  <a:srgbClr val="FF107A"/>
                </a:solidFill>
              </a:defRPr>
            </a:pPr>
            <a:r>
              <a:t>ARENA</a:t>
            </a:r>
          </a:p>
        </p:txBody>
      </p:sp>
    </p:spTree>
    <p:extLst>
      <p:ext uri="{BB962C8B-B14F-4D97-AF65-F5344CB8AC3E}">
        <p14:creationId xmlns:p14="http://schemas.microsoft.com/office/powerpoint/2010/main" val="1103161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3">
            <a:extLst xmlns:a="http://schemas.openxmlformats.org/drawingml/2006/main">
              <a:ext uri="{FF2B5EF4-FFF2-40B4-BE49-F238E27FC236}">
                <a16:creationId xmlns:a16="http://schemas.microsoft.com/office/drawing/2014/main" id="{80CD63C1-C0A3-4317-9EDC-ABDE9BD8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3.1">
            <a:extLst xmlns:a="http://schemas.openxmlformats.org/drawingml/2006/main">
              <a:ext uri="{FF2B5EF4-FFF2-40B4-BE49-F238E27FC236}">
                <a16:creationId xmlns:a16="http://schemas.microsoft.com/office/drawing/2014/main" id="{CCBF93CA-EAAD-4CD9-8746-69D0B5B2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3.2">
            <a:extLst xmlns:a="http://schemas.openxmlformats.org/drawingml/2006/main">
              <a:ext uri="{FF2B5EF4-FFF2-40B4-BE49-F238E27FC236}">
                <a16:creationId xmlns:a16="http://schemas.microsoft.com/office/drawing/2014/main" id="{29E94E9E-1711-4503-AA49-0D049C80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3">
            <a:extLst xmlns:a="http://schemas.openxmlformats.org/drawingml/2006/main">
              <a:ext uri="{FF2B5EF4-FFF2-40B4-BE49-F238E27FC236}">
                <a16:creationId xmlns:a16="http://schemas.microsoft.com/office/drawing/2014/main" id="{4AFA2FB5-967A-4E1A-84FF-3E3271CC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3">
            <a:extLst xmlns:a="http://schemas.openxmlformats.org/drawingml/2006/main">
              <a:ext uri="{FF2B5EF4-FFF2-40B4-BE49-F238E27FC236}">
                <a16:creationId xmlns:a16="http://schemas.microsoft.com/office/drawing/2014/main" id="{A32638F8-F211-46AC-AB20-2C7C8BEC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3">
            <a:extLst xmlns:a="http://schemas.openxmlformats.org/drawingml/2006/main">
              <a:ext uri="{FF2B5EF4-FFF2-40B4-BE49-F238E27FC236}">
                <a16:creationId xmlns:a16="http://schemas.microsoft.com/office/drawing/2014/main" id="{FACD19E1-B89E-443A-93D2-BCDE9885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OBJECTIVE</a:t>
            </a:r>
          </a:p>
        </p:txBody>
      </p:sp>
      <p:sp>
        <p:nvSpPr>
          <p:cNvPr id="7" name="footer.page.3">
            <a:extLst xmlns:a="http://schemas.openxmlformats.org/drawingml/2006/main">
              <a:ext uri="{FF2B5EF4-FFF2-40B4-BE49-F238E27FC236}">
                <a16:creationId xmlns:a16="http://schemas.microsoft.com/office/drawing/2014/main" id="{F7FE02A8-37EB-4421-A21E-4202D62D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03</a:t>
            </a:r>
          </a:p>
        </p:txBody>
      </p:sp>
      <p:sp>
        <p:nvSpPr>
          <p:cNvPr id="8" name="label.OBJECTIVE">
            <a:extLst xmlns:a="http://schemas.openxmlformats.org/drawingml/2006/main">
              <a:ext uri="{FF2B5EF4-FFF2-40B4-BE49-F238E27FC236}">
                <a16:creationId xmlns:a16="http://schemas.microsoft.com/office/drawing/2014/main" id="{DAE128C4-7286-4639-87F3-4F24D092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905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OBJECTIVE</a:t>
            </a:r>
          </a:p>
        </p:txBody>
      </p:sp>
      <p:sp>
        <p:nvSpPr>
          <p:cNvPr id="9" name="slide-title.3">
            <a:extLst xmlns:a="http://schemas.openxmlformats.org/drawingml/2006/main">
              <a:ext uri="{FF2B5EF4-FFF2-40B4-BE49-F238E27FC236}">
                <a16:creationId xmlns:a16="http://schemas.microsoft.com/office/drawing/2014/main" id="{30707734-1C1C-471A-B969-B1A60368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Build a playable event platform, not only a scoreboard</a:t>
            </a:r>
          </a:p>
        </p:txBody>
      </p:sp>
      <p:sp>
        <p:nvSpPr>
          <p:cNvPr id="10" name="slide-subtitle.3">
            <a:extLst xmlns:a="http://schemas.openxmlformats.org/drawingml/2006/main">
              <a:ext uri="{FF2B5EF4-FFF2-40B4-BE49-F238E27FC236}">
                <a16:creationId xmlns:a16="http://schemas.microsoft.com/office/drawing/2014/main" id="{15A8BFFB-7F9C-48BE-B317-4BEAC57E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objective is to turn IIITN events into interactive live experiences.</a:t>
            </a:r>
          </a:p>
        </p:txBody>
      </p:sp>
      <p:sp>
        <p:nvSpPr>
          <p:cNvPr id="11" name="objective.big">
            <a:extLst xmlns:a="http://schemas.openxmlformats.org/drawingml/2006/main">
              <a:ext uri="{FF2B5EF4-FFF2-40B4-BE49-F238E27FC236}">
                <a16:creationId xmlns:a16="http://schemas.microsoft.com/office/drawing/2014/main" id="{EB25058E-CF37-49A7-9173-91C1A5C3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76650"/>
            <a:ext cx="8382000" cy="12573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</a:defRPr>
            </a:pPr>
            <a:r>
              <a:t>Let every viewer become a manager.</a:t>
            </a:r>
          </a:p>
        </p:txBody>
      </p:sp>
      <p:sp>
        <p:nvSpPr>
          <p:cNvPr id="12" name="objective.pillar.0.line">
            <a:extLst xmlns:a="http://schemas.openxmlformats.org/drawingml/2006/main">
              <a:ext uri="{FF2B5EF4-FFF2-40B4-BE49-F238E27FC236}">
                <a16:creationId xmlns:a16="http://schemas.microsoft.com/office/drawing/2014/main" id="{E050A155-3900-4E26-9131-507488D3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386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3" name="objective.pillar.0.title">
            <a:extLst xmlns:a="http://schemas.openxmlformats.org/drawingml/2006/main">
              <a:ext uri="{FF2B5EF4-FFF2-40B4-BE49-F238E27FC236}">
                <a16:creationId xmlns:a16="http://schemas.microsoft.com/office/drawing/2014/main" id="{CC563AE8-26B9-4438-AEC9-C520B990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115050"/>
            <a:ext cx="4000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E5FF"/>
                </a:solidFill>
              </a:defRPr>
            </a:pPr>
            <a:r>
              <a:t>Pre-event</a:t>
            </a:r>
          </a:p>
        </p:txBody>
      </p:sp>
      <p:sp>
        <p:nvSpPr>
          <p:cNvPr id="14" name="objective.pillar.0.body">
            <a:extLst xmlns:a="http://schemas.openxmlformats.org/drawingml/2006/main">
              <a:ext uri="{FF2B5EF4-FFF2-40B4-BE49-F238E27FC236}">
                <a16:creationId xmlns:a16="http://schemas.microsoft.com/office/drawing/2014/main" id="{5E3AA06F-FDC2-4BDC-84F4-DF339292F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705600"/>
            <a:ext cx="4000500" cy="895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Browse matches, choose sport, create team before deadline</a:t>
            </a:r>
          </a:p>
        </p:txBody>
      </p:sp>
      <p:sp>
        <p:nvSpPr>
          <p:cNvPr id="15" name="objective.pillar.1.line">
            <a:extLst xmlns:a="http://schemas.openxmlformats.org/drawingml/2006/main">
              <a:ext uri="{FF2B5EF4-FFF2-40B4-BE49-F238E27FC236}">
                <a16:creationId xmlns:a16="http://schemas.microsoft.com/office/drawing/2014/main" id="{239AC4CF-AC76-44D6-BA99-A393EE96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810250"/>
            <a:ext cx="386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16" name="objective.pillar.1.title">
            <a:extLst xmlns:a="http://schemas.openxmlformats.org/drawingml/2006/main">
              <a:ext uri="{FF2B5EF4-FFF2-40B4-BE49-F238E27FC236}">
                <a16:creationId xmlns:a16="http://schemas.microsoft.com/office/drawing/2014/main" id="{DAEF7A8F-129D-409C-908E-CFCB9718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115050"/>
            <a:ext cx="4000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50914"/>
                </a:solidFill>
              </a:defRPr>
            </a:pPr>
            <a:r>
              <a:t>Live event</a:t>
            </a:r>
          </a:p>
        </p:txBody>
      </p:sp>
      <p:sp>
        <p:nvSpPr>
          <p:cNvPr id="17" name="objective.pillar.1.body">
            <a:extLst xmlns:a="http://schemas.openxmlformats.org/drawingml/2006/main">
              <a:ext uri="{FF2B5EF4-FFF2-40B4-BE49-F238E27FC236}">
                <a16:creationId xmlns:a16="http://schemas.microsoft.com/office/drawing/2014/main" id="{A8CF71F3-034B-4D6E-A357-50CEE049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6705600"/>
            <a:ext cx="4000500" cy="895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Watch stream, track scores, follow contest position</a:t>
            </a:r>
          </a:p>
        </p:txBody>
      </p:sp>
      <p:sp>
        <p:nvSpPr>
          <p:cNvPr id="18" name="objective.pillar.2.line">
            <a:extLst xmlns:a="http://schemas.openxmlformats.org/drawingml/2006/main">
              <a:ext uri="{FF2B5EF4-FFF2-40B4-BE49-F238E27FC236}">
                <a16:creationId xmlns:a16="http://schemas.microsoft.com/office/drawing/2014/main" id="{5572FB5F-9AF9-48AE-A651-604098D4D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5810250"/>
            <a:ext cx="386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19" name="objective.pillar.2.title">
            <a:extLst xmlns:a="http://schemas.openxmlformats.org/drawingml/2006/main">
              <a:ext uri="{FF2B5EF4-FFF2-40B4-BE49-F238E27FC236}">
                <a16:creationId xmlns:a16="http://schemas.microsoft.com/office/drawing/2014/main" id="{530A5D31-9435-4E5B-BD14-FBD1AF564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115050"/>
            <a:ext cx="4000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0FF87"/>
                </a:solidFill>
              </a:defRPr>
            </a:pPr>
            <a:r>
              <a:t>Post-event</a:t>
            </a:r>
          </a:p>
        </p:txBody>
      </p:sp>
      <p:sp>
        <p:nvSpPr>
          <p:cNvPr id="20" name="objective.pillar.2.body">
            <a:extLst xmlns:a="http://schemas.openxmlformats.org/drawingml/2006/main">
              <a:ext uri="{FF2B5EF4-FFF2-40B4-BE49-F238E27FC236}">
                <a16:creationId xmlns:a16="http://schemas.microsoft.com/office/drawing/2014/main" id="{1E98C932-3C19-45A9-ABE7-D999E563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705600"/>
            <a:ext cx="4000500" cy="895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Leaderboard, rankings, points, and learning loop</a:t>
            </a:r>
          </a:p>
        </p:txBody>
      </p:sp>
      <p:sp>
        <p:nvSpPr>
          <p:cNvPr id="21" name="objective.core">
            <a:extLst xmlns:a="http://schemas.openxmlformats.org/drawingml/2006/main">
              <a:ext uri="{FF2B5EF4-FFF2-40B4-BE49-F238E27FC236}">
                <a16:creationId xmlns:a16="http://schemas.microsoft.com/office/drawing/2014/main" id="{521DE0AE-B337-4400-8FB5-15D462C1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429000"/>
            <a:ext cx="4476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22" name="objective.core.text">
            <a:extLst xmlns:a="http://schemas.openxmlformats.org/drawingml/2006/main">
              <a:ext uri="{FF2B5EF4-FFF2-40B4-BE49-F238E27FC236}">
                <a16:creationId xmlns:a16="http://schemas.microsoft.com/office/drawing/2014/main" id="{A17D6E27-A738-4EFD-8D64-ABF517E5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829050"/>
            <a:ext cx="37623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t>Fantasy + Streaming + Live Data + AI</a:t>
            </a:r>
          </a:p>
        </p:txBody>
      </p:sp>
    </p:spTree>
    <p:extLst>
      <p:ext uri="{BB962C8B-B14F-4D97-AF65-F5344CB8AC3E}">
        <p14:creationId xmlns:p14="http://schemas.microsoft.com/office/powerpoint/2010/main" val="127165295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4">
            <a:extLst xmlns:a="http://schemas.openxmlformats.org/drawingml/2006/main">
              <a:ext uri="{FF2B5EF4-FFF2-40B4-BE49-F238E27FC236}">
                <a16:creationId xmlns:a16="http://schemas.microsoft.com/office/drawing/2014/main" id="{7FC8F03D-678D-4A03-AA9A-A9AFEB1E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4.1">
            <a:extLst xmlns:a="http://schemas.openxmlformats.org/drawingml/2006/main">
              <a:ext uri="{FF2B5EF4-FFF2-40B4-BE49-F238E27FC236}">
                <a16:creationId xmlns:a16="http://schemas.microsoft.com/office/drawing/2014/main" id="{6120D4E2-6378-4552-AB00-FFC70714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4.2">
            <a:extLst xmlns:a="http://schemas.openxmlformats.org/drawingml/2006/main">
              <a:ext uri="{FF2B5EF4-FFF2-40B4-BE49-F238E27FC236}">
                <a16:creationId xmlns:a16="http://schemas.microsoft.com/office/drawing/2014/main" id="{E1BAF8B6-768E-43A0-9FC9-D6E225AA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4">
            <a:extLst xmlns:a="http://schemas.openxmlformats.org/drawingml/2006/main">
              <a:ext uri="{FF2B5EF4-FFF2-40B4-BE49-F238E27FC236}">
                <a16:creationId xmlns:a16="http://schemas.microsoft.com/office/drawing/2014/main" id="{79832570-2FAF-490C-9676-C942D1C1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4">
            <a:extLst xmlns:a="http://schemas.openxmlformats.org/drawingml/2006/main">
              <a:ext uri="{FF2B5EF4-FFF2-40B4-BE49-F238E27FC236}">
                <a16:creationId xmlns:a16="http://schemas.microsoft.com/office/drawing/2014/main" id="{1CC1A05E-B35D-4B4D-BD92-1646BEFA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4">
            <a:extLst xmlns:a="http://schemas.openxmlformats.org/drawingml/2006/main">
              <a:ext uri="{FF2B5EF4-FFF2-40B4-BE49-F238E27FC236}">
                <a16:creationId xmlns:a16="http://schemas.microsoft.com/office/drawing/2014/main" id="{E6E65632-1343-408B-999C-E0F6D33AD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OVERVIEW</a:t>
            </a:r>
          </a:p>
        </p:txBody>
      </p:sp>
      <p:sp>
        <p:nvSpPr>
          <p:cNvPr id="7" name="footer.page.4">
            <a:extLst xmlns:a="http://schemas.openxmlformats.org/drawingml/2006/main">
              <a:ext uri="{FF2B5EF4-FFF2-40B4-BE49-F238E27FC236}">
                <a16:creationId xmlns:a16="http://schemas.microsoft.com/office/drawing/2014/main" id="{986C9A68-B160-424A-8322-974E7BBAE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04</a:t>
            </a:r>
          </a:p>
        </p:txBody>
      </p:sp>
      <p:sp>
        <p:nvSpPr>
          <p:cNvPr id="8" name="label.OVERVIEW">
            <a:extLst xmlns:a="http://schemas.openxmlformats.org/drawingml/2006/main">
              <a:ext uri="{FF2B5EF4-FFF2-40B4-BE49-F238E27FC236}">
                <a16:creationId xmlns:a16="http://schemas.microsoft.com/office/drawing/2014/main" id="{3D1529A6-9637-44D3-9CF2-FE89489C5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9050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OVERVIEW</a:t>
            </a:r>
          </a:p>
        </p:txBody>
      </p:sp>
      <p:sp>
        <p:nvSpPr>
          <p:cNvPr id="9" name="slide-title.4">
            <a:extLst xmlns:a="http://schemas.openxmlformats.org/drawingml/2006/main">
              <a:ext uri="{FF2B5EF4-FFF2-40B4-BE49-F238E27FC236}">
                <a16:creationId xmlns:a16="http://schemas.microsoft.com/office/drawing/2014/main" id="{C6524786-996E-4EB2-8F84-1DBA86B3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One platform, six connected modules</a:t>
            </a:r>
          </a:p>
        </p:txBody>
      </p:sp>
      <p:sp>
        <p:nvSpPr>
          <p:cNvPr id="10" name="slide-subtitle.4">
            <a:extLst xmlns:a="http://schemas.openxmlformats.org/drawingml/2006/main">
              <a:ext uri="{FF2B5EF4-FFF2-40B4-BE49-F238E27FC236}">
                <a16:creationId xmlns:a16="http://schemas.microsoft.com/office/drawing/2014/main" id="{DE115BE8-397A-40CD-816B-22467AEE5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Each module maps directly to a route or service in the current app.</a:t>
            </a:r>
          </a:p>
        </p:txBody>
      </p:sp>
      <p:sp>
        <p:nvSpPr>
          <p:cNvPr id="11" name="overview.center">
            <a:extLst xmlns:a="http://schemas.openxmlformats.org/drawingml/2006/main">
              <a:ext uri="{FF2B5EF4-FFF2-40B4-BE49-F238E27FC236}">
                <a16:creationId xmlns:a16="http://schemas.microsoft.com/office/drawing/2014/main" id="{4568FBD8-D848-4B04-B719-3A93362B6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05250"/>
            <a:ext cx="3905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107A"/>
            </a:solidFill>
            <a:prstDash val="solid"/>
          </a:ln>
        </p:spPr>
      </p:sp>
      <p:sp>
        <p:nvSpPr>
          <p:cNvPr id="12" name="overview.center.text">
            <a:extLst xmlns:a="http://schemas.openxmlformats.org/drawingml/2006/main">
              <a:ext uri="{FF2B5EF4-FFF2-40B4-BE49-F238E27FC236}">
                <a16:creationId xmlns:a16="http://schemas.microsoft.com/office/drawing/2014/main" id="{8B95C5F9-9640-4DD5-A947-056A7986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4767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t>IIITN</a:t>
            </a:r>
          </a:p>
          <a:p xmlns:a="http://schemas.openxmlformats.org/drawingml/2006/main">
            <a:pPr algn="ctr">
              <a:defRPr sz="2850" b="1">
                <a:solidFill>
                  <a:srgbClr val="FFFFFF"/>
                </a:solidFill>
              </a:defRPr>
            </a:pPr>
            <a:r>
              <a:t>Fantasy Arena</a:t>
            </a:r>
          </a:p>
        </p:txBody>
      </p:sp>
      <p:sp>
        <p:nvSpPr>
          <p:cNvPr id="13" name="overview.node.0.node">
            <a:extLst xmlns:a="http://schemas.openxmlformats.org/drawingml/2006/main">
              <a:ext uri="{FF2B5EF4-FFF2-40B4-BE49-F238E27FC236}">
                <a16:creationId xmlns:a16="http://schemas.microsoft.com/office/drawing/2014/main" id="{1094B000-C83E-473C-9C44-82F5B4DD5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14" name="overview.node.0.accent">
            <a:extLst xmlns:a="http://schemas.openxmlformats.org/drawingml/2006/main">
              <a:ext uri="{FF2B5EF4-FFF2-40B4-BE49-F238E27FC236}">
                <a16:creationId xmlns:a16="http://schemas.microsoft.com/office/drawing/2014/main" id="{A446C01A-6CFA-4ED0-B200-EDD6FD6E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195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5" name="overview.node.0.label">
            <a:extLst xmlns:a="http://schemas.openxmlformats.org/drawingml/2006/main">
              <a:ext uri="{FF2B5EF4-FFF2-40B4-BE49-F238E27FC236}">
                <a16:creationId xmlns:a16="http://schemas.microsoft.com/office/drawing/2014/main" id="{46D333BC-4DEC-4299-91F5-5AD4F525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Matches</a:t>
            </a:r>
          </a:p>
        </p:txBody>
      </p:sp>
      <p:sp>
        <p:nvSpPr>
          <p:cNvPr id="16" name="overview.node.0.sub">
            <a:extLst xmlns:a="http://schemas.openxmlformats.org/drawingml/2006/main">
              <a:ext uri="{FF2B5EF4-FFF2-40B4-BE49-F238E27FC236}">
                <a16:creationId xmlns:a16="http://schemas.microsoft.com/office/drawing/2014/main" id="{9F6CBF2A-9B3A-4786-9912-538AC4EC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24815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Dashboard and match detail</a:t>
            </a:r>
          </a:p>
        </p:txBody>
      </p:sp>
      <p:sp>
        <p:nvSpPr>
          <p:cNvPr id="17" name="overview.node.1.node">
            <a:extLst xmlns:a="http://schemas.openxmlformats.org/drawingml/2006/main">
              <a:ext uri="{FF2B5EF4-FFF2-40B4-BE49-F238E27FC236}">
                <a16:creationId xmlns:a16="http://schemas.microsoft.com/office/drawing/2014/main" id="{D8129357-A02D-4824-A1B9-AEFA7472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76275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18" name="overview.node.1.accent">
            <a:extLst xmlns:a="http://schemas.openxmlformats.org/drawingml/2006/main">
              <a:ext uri="{FF2B5EF4-FFF2-40B4-BE49-F238E27FC236}">
                <a16:creationId xmlns:a16="http://schemas.microsoft.com/office/drawing/2014/main" id="{96B05400-1C47-471B-8E6F-94FEEB248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6762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9" name="overview.node.1.label">
            <a:extLst xmlns:a="http://schemas.openxmlformats.org/drawingml/2006/main">
              <a:ext uri="{FF2B5EF4-FFF2-40B4-BE49-F238E27FC236}">
                <a16:creationId xmlns:a16="http://schemas.microsoft.com/office/drawing/2014/main" id="{3FBB7601-69D2-415B-9A81-FEAC50B3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69723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Team Draft</a:t>
            </a:r>
          </a:p>
        </p:txBody>
      </p:sp>
      <p:sp>
        <p:nvSpPr>
          <p:cNvPr id="20" name="overview.node.1.sub">
            <a:extLst xmlns:a="http://schemas.openxmlformats.org/drawingml/2006/main">
              <a:ext uri="{FF2B5EF4-FFF2-40B4-BE49-F238E27FC236}">
                <a16:creationId xmlns:a16="http://schemas.microsoft.com/office/drawing/2014/main" id="{4966E5C8-EC0A-4698-8B3B-819AEF97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739140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11-player selection rules</a:t>
            </a:r>
          </a:p>
        </p:txBody>
      </p:sp>
      <p:sp>
        <p:nvSpPr>
          <p:cNvPr id="21" name="overview.node.2.node">
            <a:extLst xmlns:a="http://schemas.openxmlformats.org/drawingml/2006/main">
              <a:ext uri="{FF2B5EF4-FFF2-40B4-BE49-F238E27FC236}">
                <a16:creationId xmlns:a16="http://schemas.microsoft.com/office/drawing/2014/main" id="{37EA9FFF-2638-44EB-8C7F-6F52356C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76275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2" name="overview.node.2.accent">
            <a:extLst xmlns:a="http://schemas.openxmlformats.org/drawingml/2006/main">
              <a:ext uri="{FF2B5EF4-FFF2-40B4-BE49-F238E27FC236}">
                <a16:creationId xmlns:a16="http://schemas.microsoft.com/office/drawing/2014/main" id="{29A16D50-4CAC-4607-902B-AE8EEB11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762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3" name="overview.node.2.label">
            <a:extLst xmlns:a="http://schemas.openxmlformats.org/drawingml/2006/main">
              <a:ext uri="{FF2B5EF4-FFF2-40B4-BE49-F238E27FC236}">
                <a16:creationId xmlns:a16="http://schemas.microsoft.com/office/drawing/2014/main" id="{558C45AE-2C84-4D5C-AEC5-1F3B8BC95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9723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Contests</a:t>
            </a:r>
          </a:p>
        </p:txBody>
      </p:sp>
      <p:sp>
        <p:nvSpPr>
          <p:cNvPr id="24" name="overview.node.2.sub">
            <a:extLst xmlns:a="http://schemas.openxmlformats.org/drawingml/2006/main">
              <a:ext uri="{FF2B5EF4-FFF2-40B4-BE49-F238E27FC236}">
                <a16:creationId xmlns:a16="http://schemas.microsoft.com/office/drawing/2014/main" id="{2E74A25B-F531-488F-BD75-C2C752775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739140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 fees and rankings</a:t>
            </a:r>
          </a:p>
        </p:txBody>
      </p:sp>
      <p:sp>
        <p:nvSpPr>
          <p:cNvPr id="25" name="overview.node.3.node">
            <a:extLst xmlns:a="http://schemas.openxmlformats.org/drawingml/2006/main">
              <a:ext uri="{FF2B5EF4-FFF2-40B4-BE49-F238E27FC236}">
                <a16:creationId xmlns:a16="http://schemas.microsoft.com/office/drawing/2014/main" id="{5A13A8CE-AD21-4361-9DD8-702E346F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361950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</p:sp>
      <p:sp>
        <p:nvSpPr>
          <p:cNvPr id="26" name="overview.node.3.accent">
            <a:extLst xmlns:a="http://schemas.openxmlformats.org/drawingml/2006/main">
              <a:ext uri="{FF2B5EF4-FFF2-40B4-BE49-F238E27FC236}">
                <a16:creationId xmlns:a16="http://schemas.microsoft.com/office/drawing/2014/main" id="{A0662CEA-29DA-4406-8DB6-C96CA07A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361950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27" name="overview.node.3.label">
            <a:extLst xmlns:a="http://schemas.openxmlformats.org/drawingml/2006/main">
              <a:ext uri="{FF2B5EF4-FFF2-40B4-BE49-F238E27FC236}">
                <a16:creationId xmlns:a16="http://schemas.microsoft.com/office/drawing/2014/main" id="{9CB98470-057E-451B-8D8F-C4582BF4C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382905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Live Scores</a:t>
            </a:r>
          </a:p>
        </p:txBody>
      </p:sp>
      <p:sp>
        <p:nvSpPr>
          <p:cNvPr id="28" name="overview.node.3.sub">
            <a:extLst xmlns:a="http://schemas.openxmlformats.org/drawingml/2006/main">
              <a:ext uri="{FF2B5EF4-FFF2-40B4-BE49-F238E27FC236}">
                <a16:creationId xmlns:a16="http://schemas.microsoft.com/office/drawing/2014/main" id="{F723D0B4-62CF-406F-A8AF-D65F8934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424815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Cricket and F1 tracking</a:t>
            </a:r>
          </a:p>
        </p:txBody>
      </p:sp>
      <p:sp>
        <p:nvSpPr>
          <p:cNvPr id="29" name="overview.node.4.node">
            <a:extLst xmlns:a="http://schemas.openxmlformats.org/drawingml/2006/main">
              <a:ext uri="{FF2B5EF4-FFF2-40B4-BE49-F238E27FC236}">
                <a16:creationId xmlns:a16="http://schemas.microsoft.com/office/drawing/2014/main" id="{51262A1E-6E5C-41D9-B83F-3201857B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6225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A855F7"/>
            </a:solidFill>
            <a:prstDash val="solid"/>
          </a:ln>
        </p:spPr>
      </p:sp>
      <p:sp>
        <p:nvSpPr>
          <p:cNvPr id="30" name="overview.node.4.accent">
            <a:extLst xmlns:a="http://schemas.openxmlformats.org/drawingml/2006/main">
              <a:ext uri="{FF2B5EF4-FFF2-40B4-BE49-F238E27FC236}">
                <a16:creationId xmlns:a16="http://schemas.microsoft.com/office/drawing/2014/main" id="{83177747-C847-4B64-B751-9EBC1FC81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7622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31" name="overview.node.4.label">
            <a:extLst xmlns:a="http://schemas.openxmlformats.org/drawingml/2006/main">
              <a:ext uri="{FF2B5EF4-FFF2-40B4-BE49-F238E27FC236}">
                <a16:creationId xmlns:a16="http://schemas.microsoft.com/office/drawing/2014/main" id="{5C014936-D86B-44AC-9D89-4465CD38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9718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Watch Party</a:t>
            </a:r>
          </a:p>
        </p:txBody>
      </p:sp>
      <p:sp>
        <p:nvSpPr>
          <p:cNvPr id="32" name="overview.node.4.sub">
            <a:extLst xmlns:a="http://schemas.openxmlformats.org/drawingml/2006/main">
              <a:ext uri="{FF2B5EF4-FFF2-40B4-BE49-F238E27FC236}">
                <a16:creationId xmlns:a16="http://schemas.microsoft.com/office/drawing/2014/main" id="{841479EE-DD2F-464B-9A83-241CE891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339090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OBS and screen share</a:t>
            </a:r>
          </a:p>
        </p:txBody>
      </p:sp>
      <p:sp>
        <p:nvSpPr>
          <p:cNvPr id="33" name="overview.node.5.node">
            <a:extLst xmlns:a="http://schemas.openxmlformats.org/drawingml/2006/main">
              <a:ext uri="{FF2B5EF4-FFF2-40B4-BE49-F238E27FC236}">
                <a16:creationId xmlns:a16="http://schemas.microsoft.com/office/drawing/2014/main" id="{3EA87300-75B1-4278-9A14-1E6752036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31432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34" name="overview.node.5.accent">
            <a:extLst xmlns:a="http://schemas.openxmlformats.org/drawingml/2006/main">
              <a:ext uri="{FF2B5EF4-FFF2-40B4-BE49-F238E27FC236}">
                <a16:creationId xmlns:a16="http://schemas.microsoft.com/office/drawing/2014/main" id="{8DF2A9DE-0ED9-4982-A491-AD70D65D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622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5" name="overview.node.5.label">
            <a:extLst xmlns:a="http://schemas.openxmlformats.org/drawingml/2006/main">
              <a:ext uri="{FF2B5EF4-FFF2-40B4-BE49-F238E27FC236}">
                <a16:creationId xmlns:a16="http://schemas.microsoft.com/office/drawing/2014/main" id="{CB01304A-D51D-41FD-8675-A9BC1704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26860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AI Coach</a:t>
            </a:r>
          </a:p>
        </p:txBody>
      </p:sp>
      <p:sp>
        <p:nvSpPr>
          <p:cNvPr id="36" name="overview.node.5.sub">
            <a:extLst xmlns:a="http://schemas.openxmlformats.org/drawingml/2006/main">
              <a:ext uri="{FF2B5EF4-FFF2-40B4-BE49-F238E27FC236}">
                <a16:creationId xmlns:a16="http://schemas.microsoft.com/office/drawing/2014/main" id="{3672F47B-5B94-442C-B551-B1E3133C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90900"/>
            <a:ext cx="26479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Champak guidance</a:t>
            </a:r>
          </a:p>
        </p:txBody>
      </p:sp>
    </p:spTree>
    <p:extLst>
      <p:ext uri="{BB962C8B-B14F-4D97-AF65-F5344CB8AC3E}">
        <p14:creationId xmlns:p14="http://schemas.microsoft.com/office/powerpoint/2010/main" val="138029190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5">
            <a:extLst xmlns:a="http://schemas.openxmlformats.org/drawingml/2006/main">
              <a:ext uri="{FF2B5EF4-FFF2-40B4-BE49-F238E27FC236}">
                <a16:creationId xmlns:a16="http://schemas.microsoft.com/office/drawing/2014/main" id="{67817C64-ED64-4931-8DA1-B618308E1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5.1">
            <a:extLst xmlns:a="http://schemas.openxmlformats.org/drawingml/2006/main">
              <a:ext uri="{FF2B5EF4-FFF2-40B4-BE49-F238E27FC236}">
                <a16:creationId xmlns:a16="http://schemas.microsoft.com/office/drawing/2014/main" id="{DFDE68EE-14D6-4F9C-931E-9A459A8D9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5.2">
            <a:extLst xmlns:a="http://schemas.openxmlformats.org/drawingml/2006/main">
              <a:ext uri="{FF2B5EF4-FFF2-40B4-BE49-F238E27FC236}">
                <a16:creationId xmlns:a16="http://schemas.microsoft.com/office/drawing/2014/main" id="{9A6FACB1-12AC-4018-A0E5-C6DAC40B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5">
            <a:extLst xmlns:a="http://schemas.openxmlformats.org/drawingml/2006/main">
              <a:ext uri="{FF2B5EF4-FFF2-40B4-BE49-F238E27FC236}">
                <a16:creationId xmlns:a16="http://schemas.microsoft.com/office/drawing/2014/main" id="{9B1B8BBC-13ED-4507-848E-F92EA715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5">
            <a:extLst xmlns:a="http://schemas.openxmlformats.org/drawingml/2006/main">
              <a:ext uri="{FF2B5EF4-FFF2-40B4-BE49-F238E27FC236}">
                <a16:creationId xmlns:a16="http://schemas.microsoft.com/office/drawing/2014/main" id="{118AC0B3-1EED-43E4-9861-3B48D537D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5">
            <a:extLst xmlns:a="http://schemas.openxmlformats.org/drawingml/2006/main">
              <a:ext uri="{FF2B5EF4-FFF2-40B4-BE49-F238E27FC236}">
                <a16:creationId xmlns:a16="http://schemas.microsoft.com/office/drawing/2014/main" id="{4E430934-076A-4F01-8333-BF4F5D25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USER JOURNEY</a:t>
            </a:r>
          </a:p>
        </p:txBody>
      </p:sp>
      <p:sp>
        <p:nvSpPr>
          <p:cNvPr id="7" name="footer.page.5">
            <a:extLst xmlns:a="http://schemas.openxmlformats.org/drawingml/2006/main">
              <a:ext uri="{FF2B5EF4-FFF2-40B4-BE49-F238E27FC236}">
                <a16:creationId xmlns:a16="http://schemas.microsoft.com/office/drawing/2014/main" id="{CBC851C0-BC3D-4A33-9152-79928100C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05</a:t>
            </a:r>
          </a:p>
        </p:txBody>
      </p:sp>
      <p:sp>
        <p:nvSpPr>
          <p:cNvPr id="8" name="label.USER JOURNEY">
            <a:extLst xmlns:a="http://schemas.openxmlformats.org/drawingml/2006/main">
              <a:ext uri="{FF2B5EF4-FFF2-40B4-BE49-F238E27FC236}">
                <a16:creationId xmlns:a16="http://schemas.microsoft.com/office/drawing/2014/main" id="{FE39C8BC-85AA-4088-ABFB-293EF379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3622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USER JOURNEY</a:t>
            </a:r>
          </a:p>
        </p:txBody>
      </p:sp>
      <p:sp>
        <p:nvSpPr>
          <p:cNvPr id="9" name="slide-title.5">
            <a:extLst xmlns:a="http://schemas.openxmlformats.org/drawingml/2006/main">
              <a:ext uri="{FF2B5EF4-FFF2-40B4-BE49-F238E27FC236}">
                <a16:creationId xmlns:a16="http://schemas.microsoft.com/office/drawing/2014/main" id="{8FD2185C-F999-451D-85E2-68AA56AE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From match discovery to leaderboard in one session</a:t>
            </a:r>
          </a:p>
        </p:txBody>
      </p:sp>
      <p:sp>
        <p:nvSpPr>
          <p:cNvPr id="10" name="slide-subtitle.5">
            <a:extLst xmlns:a="http://schemas.openxmlformats.org/drawingml/2006/main">
              <a:ext uri="{FF2B5EF4-FFF2-40B4-BE49-F238E27FC236}">
                <a16:creationId xmlns:a16="http://schemas.microsoft.com/office/drawing/2014/main" id="{DFA82894-B7F0-4990-95AD-D98BEE0DE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flow is designed around a student opening the app before a live event.</a:t>
            </a:r>
          </a:p>
        </p:txBody>
      </p:sp>
      <p:sp>
        <p:nvSpPr>
          <p:cNvPr id="11" name="journey.badge.0">
            <a:extLst xmlns:a="http://schemas.openxmlformats.org/drawingml/2006/main">
              <a:ext uri="{FF2B5EF4-FFF2-40B4-BE49-F238E27FC236}">
                <a16:creationId xmlns:a16="http://schemas.microsoft.com/office/drawing/2014/main" id="{6233F07C-6F89-4FD0-AFC5-3609E02D8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909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00E5FF"/>
            </a:solidFill>
            <a:prstDash val="solid"/>
          </a:ln>
        </p:spPr>
      </p:sp>
      <p:sp>
        <p:nvSpPr>
          <p:cNvPr id="12" name="journey.num.0">
            <a:extLst xmlns:a="http://schemas.openxmlformats.org/drawingml/2006/main">
              <a:ext uri="{FF2B5EF4-FFF2-40B4-BE49-F238E27FC236}">
                <a16:creationId xmlns:a16="http://schemas.microsoft.com/office/drawing/2014/main" id="{C0488087-5607-4149-B7D0-A839E9FE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4038600"/>
            <a:ext cx="609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0E5FF"/>
                </a:solidFill>
              </a:defRPr>
            </a:pPr>
            <a:r>
              <a:t>1</a:t>
            </a:r>
          </a:p>
        </p:txBody>
      </p:sp>
      <p:sp>
        <p:nvSpPr>
          <p:cNvPr id="13" name="journey.title.0">
            <a:extLst xmlns:a="http://schemas.openxmlformats.org/drawingml/2006/main">
              <a:ext uri="{FF2B5EF4-FFF2-40B4-BE49-F238E27FC236}">
                <a16:creationId xmlns:a16="http://schemas.microsoft.com/office/drawing/2014/main" id="{CBE820C0-5E8D-4551-9D12-73533FCE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19700"/>
            <a:ext cx="2781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Discover</a:t>
            </a:r>
          </a:p>
        </p:txBody>
      </p:sp>
      <p:sp>
        <p:nvSpPr>
          <p:cNvPr id="14" name="journey.body.0">
            <a:extLst xmlns:a="http://schemas.openxmlformats.org/drawingml/2006/main">
              <a:ext uri="{FF2B5EF4-FFF2-40B4-BE49-F238E27FC236}">
                <a16:creationId xmlns:a16="http://schemas.microsoft.com/office/drawing/2014/main" id="{70C70C70-BBCD-49DE-8D0E-AB102B3F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829300"/>
            <a:ext cx="2781300" cy="971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1A1AA"/>
                </a:solidFill>
              </a:defRPr>
            </a:pPr>
            <a:r>
              <a:t>Filter cricket, football, F1, or hackathon events.</a:t>
            </a:r>
          </a:p>
        </p:txBody>
      </p:sp>
      <p:sp>
        <p:nvSpPr>
          <p:cNvPr id="15" name="journey.line.0">
            <a:extLst xmlns:a="http://schemas.openxmlformats.org/drawingml/2006/main">
              <a:ext uri="{FF2B5EF4-FFF2-40B4-BE49-F238E27FC236}">
                <a16:creationId xmlns:a16="http://schemas.microsoft.com/office/drawing/2014/main" id="{A383BB77-FC38-45F9-9B06-8C61972E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314825"/>
            <a:ext cx="1104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6" name="journey.badge.1">
            <a:extLst xmlns:a="http://schemas.openxmlformats.org/drawingml/2006/main">
              <a:ext uri="{FF2B5EF4-FFF2-40B4-BE49-F238E27FC236}">
                <a16:creationId xmlns:a16="http://schemas.microsoft.com/office/drawing/2014/main" id="{2D3DD193-5BAE-4846-BCEC-71A513BC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909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D700"/>
            </a:solidFill>
            <a:prstDash val="solid"/>
          </a:ln>
        </p:spPr>
      </p:sp>
      <p:sp>
        <p:nvSpPr>
          <p:cNvPr id="17" name="journey.num.1">
            <a:extLst xmlns:a="http://schemas.openxmlformats.org/drawingml/2006/main">
              <a:ext uri="{FF2B5EF4-FFF2-40B4-BE49-F238E27FC236}">
                <a16:creationId xmlns:a16="http://schemas.microsoft.com/office/drawing/2014/main" id="{767430E4-A33E-42DA-B9B9-69BD5A57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038600"/>
            <a:ext cx="609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D700"/>
                </a:solidFill>
              </a:defRPr>
            </a:pPr>
            <a:r>
              <a:t>2</a:t>
            </a:r>
          </a:p>
        </p:txBody>
      </p:sp>
      <p:sp>
        <p:nvSpPr>
          <p:cNvPr id="18" name="journey.title.1">
            <a:extLst xmlns:a="http://schemas.openxmlformats.org/drawingml/2006/main">
              <a:ext uri="{FF2B5EF4-FFF2-40B4-BE49-F238E27FC236}">
                <a16:creationId xmlns:a16="http://schemas.microsoft.com/office/drawing/2014/main" id="{0FF5D342-15EB-40FE-852B-87CAC5373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219700"/>
            <a:ext cx="2781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Draft</a:t>
            </a:r>
          </a:p>
        </p:txBody>
      </p:sp>
      <p:sp>
        <p:nvSpPr>
          <p:cNvPr id="19" name="journey.body.1">
            <a:extLst xmlns:a="http://schemas.openxmlformats.org/drawingml/2006/main">
              <a:ext uri="{FF2B5EF4-FFF2-40B4-BE49-F238E27FC236}">
                <a16:creationId xmlns:a16="http://schemas.microsoft.com/office/drawing/2014/main" id="{892A8203-F58A-4319-943C-C107D7B7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829300"/>
            <a:ext cx="2781300" cy="971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1A1AA"/>
                </a:solidFill>
              </a:defRPr>
            </a:pPr>
            <a:r>
              <a:t>Build an 11-member team within credits and role limits.</a:t>
            </a:r>
          </a:p>
        </p:txBody>
      </p:sp>
      <p:sp>
        <p:nvSpPr>
          <p:cNvPr id="20" name="journey.line.1">
            <a:extLst xmlns:a="http://schemas.openxmlformats.org/drawingml/2006/main">
              <a:ext uri="{FF2B5EF4-FFF2-40B4-BE49-F238E27FC236}">
                <a16:creationId xmlns:a16="http://schemas.microsoft.com/office/drawing/2014/main" id="{F469925E-B7FA-4566-A87A-760454EF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314825"/>
            <a:ext cx="1104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1" name="journey.badge.2">
            <a:extLst xmlns:a="http://schemas.openxmlformats.org/drawingml/2006/main">
              <a:ext uri="{FF2B5EF4-FFF2-40B4-BE49-F238E27FC236}">
                <a16:creationId xmlns:a16="http://schemas.microsoft.com/office/drawing/2014/main" id="{33573D91-E060-4792-A19F-5A6C6834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7909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00FF87"/>
            </a:solidFill>
            <a:prstDash val="solid"/>
          </a:ln>
        </p:spPr>
      </p:sp>
      <p:sp>
        <p:nvSpPr>
          <p:cNvPr id="22" name="journey.num.2">
            <a:extLst xmlns:a="http://schemas.openxmlformats.org/drawingml/2006/main">
              <a:ext uri="{FF2B5EF4-FFF2-40B4-BE49-F238E27FC236}">
                <a16:creationId xmlns:a16="http://schemas.microsoft.com/office/drawing/2014/main" id="{5D170E10-AE0D-46B6-8F57-32713B85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038600"/>
            <a:ext cx="609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0FF87"/>
                </a:solidFill>
              </a:defRPr>
            </a:pPr>
            <a:r>
              <a:t>3</a:t>
            </a:r>
          </a:p>
        </p:txBody>
      </p:sp>
      <p:sp>
        <p:nvSpPr>
          <p:cNvPr id="23" name="journey.title.2">
            <a:extLst xmlns:a="http://schemas.openxmlformats.org/drawingml/2006/main">
              <a:ext uri="{FF2B5EF4-FFF2-40B4-BE49-F238E27FC236}">
                <a16:creationId xmlns:a16="http://schemas.microsoft.com/office/drawing/2014/main" id="{0C06F24F-7D10-43D7-B490-60036E37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19700"/>
            <a:ext cx="2781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Enter</a:t>
            </a:r>
          </a:p>
        </p:txBody>
      </p:sp>
      <p:sp>
        <p:nvSpPr>
          <p:cNvPr id="24" name="journey.body.2">
            <a:extLst xmlns:a="http://schemas.openxmlformats.org/drawingml/2006/main">
              <a:ext uri="{FF2B5EF4-FFF2-40B4-BE49-F238E27FC236}">
                <a16:creationId xmlns:a16="http://schemas.microsoft.com/office/drawing/2014/main" id="{73A8B6E1-AA53-4544-86C6-BF0308AC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829300"/>
            <a:ext cx="2781300" cy="971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1A1AA"/>
                </a:solidFill>
              </a:defRPr>
            </a:pPr>
            <a:r>
              <a:t>Join mega, head-to-head, practice, or winner-takes-all contests.</a:t>
            </a:r>
          </a:p>
        </p:txBody>
      </p:sp>
      <p:sp>
        <p:nvSpPr>
          <p:cNvPr id="25" name="journey.line.2">
            <a:extLst xmlns:a="http://schemas.openxmlformats.org/drawingml/2006/main">
              <a:ext uri="{FF2B5EF4-FFF2-40B4-BE49-F238E27FC236}">
                <a16:creationId xmlns:a16="http://schemas.microsoft.com/office/drawing/2014/main" id="{794931EB-9BDA-4B3E-81F8-53B980EF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314825"/>
            <a:ext cx="1104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6" name="journey.badge.3">
            <a:extLst xmlns:a="http://schemas.openxmlformats.org/drawingml/2006/main">
              <a:ext uri="{FF2B5EF4-FFF2-40B4-BE49-F238E27FC236}">
                <a16:creationId xmlns:a16="http://schemas.microsoft.com/office/drawing/2014/main" id="{3997E6D8-472B-42AB-962C-79FE7CB7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37909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E50914"/>
            </a:solidFill>
            <a:prstDash val="solid"/>
          </a:ln>
        </p:spPr>
      </p:sp>
      <p:sp>
        <p:nvSpPr>
          <p:cNvPr id="27" name="journey.num.3">
            <a:extLst xmlns:a="http://schemas.openxmlformats.org/drawingml/2006/main">
              <a:ext uri="{FF2B5EF4-FFF2-40B4-BE49-F238E27FC236}">
                <a16:creationId xmlns:a16="http://schemas.microsoft.com/office/drawing/2014/main" id="{DB193C88-25D1-49B6-B3BB-83E3D30F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0075" y="4038600"/>
            <a:ext cx="609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E50914"/>
                </a:solidFill>
              </a:defRPr>
            </a:pPr>
            <a:r>
              <a:t>4</a:t>
            </a:r>
          </a:p>
        </p:txBody>
      </p:sp>
      <p:sp>
        <p:nvSpPr>
          <p:cNvPr id="28" name="journey.title.3">
            <a:extLst xmlns:a="http://schemas.openxmlformats.org/drawingml/2006/main">
              <a:ext uri="{FF2B5EF4-FFF2-40B4-BE49-F238E27FC236}">
                <a16:creationId xmlns:a16="http://schemas.microsoft.com/office/drawing/2014/main" id="{1894584A-8DC9-42CD-95CB-32C7D23B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19700"/>
            <a:ext cx="2781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Watch</a:t>
            </a:r>
          </a:p>
        </p:txBody>
      </p:sp>
      <p:sp>
        <p:nvSpPr>
          <p:cNvPr id="29" name="journey.body.3">
            <a:extLst xmlns:a="http://schemas.openxmlformats.org/drawingml/2006/main">
              <a:ext uri="{FF2B5EF4-FFF2-40B4-BE49-F238E27FC236}">
                <a16:creationId xmlns:a16="http://schemas.microsoft.com/office/drawing/2014/main" id="{718CF64B-E19B-4E94-A3BD-353D3AC0E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5829300"/>
            <a:ext cx="2133600" cy="971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1A1AA"/>
                </a:solidFill>
              </a:defRPr>
            </a:pPr>
            <a:r>
              <a:t>Stream via OBS or browser screen share.</a:t>
            </a:r>
          </a:p>
        </p:txBody>
      </p:sp>
      <p:sp>
        <p:nvSpPr>
          <p:cNvPr id="30" name="journey.line.3">
            <a:extLst xmlns:a="http://schemas.openxmlformats.org/drawingml/2006/main">
              <a:ext uri="{FF2B5EF4-FFF2-40B4-BE49-F238E27FC236}">
                <a16:creationId xmlns:a16="http://schemas.microsoft.com/office/drawing/2014/main" id="{55F1EA37-EFDB-4325-89F7-8DCBBD50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314825"/>
            <a:ext cx="1104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31" name="journey.badge.4">
            <a:extLst xmlns:a="http://schemas.openxmlformats.org/drawingml/2006/main">
              <a:ext uri="{FF2B5EF4-FFF2-40B4-BE49-F238E27FC236}">
                <a16:creationId xmlns:a16="http://schemas.microsoft.com/office/drawing/2014/main" id="{36E91E02-462E-4F8E-832F-245E88EB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87450" y="3790950"/>
            <a:ext cx="1123950" cy="1123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107A"/>
            </a:solidFill>
            <a:prstDash val="solid"/>
          </a:ln>
        </p:spPr>
      </p:sp>
      <p:sp>
        <p:nvSpPr>
          <p:cNvPr id="32" name="journey.num.4">
            <a:extLst xmlns:a="http://schemas.openxmlformats.org/drawingml/2006/main">
              <a:ext uri="{FF2B5EF4-FFF2-40B4-BE49-F238E27FC236}">
                <a16:creationId xmlns:a16="http://schemas.microsoft.com/office/drawing/2014/main" id="{5C714483-8D85-489A-8FE2-3F21509F8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4038600"/>
            <a:ext cx="6096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F107A"/>
                </a:solidFill>
              </a:defRPr>
            </a:pPr>
            <a:r>
              <a:t>5</a:t>
            </a:r>
          </a:p>
        </p:txBody>
      </p:sp>
      <p:sp>
        <p:nvSpPr>
          <p:cNvPr id="33" name="journey.title.4">
            <a:extLst xmlns:a="http://schemas.openxmlformats.org/drawingml/2006/main">
              <a:ext uri="{FF2B5EF4-FFF2-40B4-BE49-F238E27FC236}">
                <a16:creationId xmlns:a16="http://schemas.microsoft.com/office/drawing/2014/main" id="{CF389337-E784-4C90-8D0A-E4B6968E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0" y="5219700"/>
            <a:ext cx="27813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Track</a:t>
            </a:r>
          </a:p>
        </p:txBody>
      </p:sp>
      <p:sp>
        <p:nvSpPr>
          <p:cNvPr id="34" name="journey.body.4">
            <a:extLst xmlns:a="http://schemas.openxmlformats.org/drawingml/2006/main">
              <a:ext uri="{FF2B5EF4-FFF2-40B4-BE49-F238E27FC236}">
                <a16:creationId xmlns:a16="http://schemas.microsoft.com/office/drawing/2014/main" id="{09686178-1EB4-4E9A-8F9D-CBC9FAC0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5829300"/>
            <a:ext cx="2133600" cy="9715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1A1AA"/>
                </a:solidFill>
              </a:defRPr>
            </a:pPr>
            <a:r>
              <a:t>Follow scores, rankings, and AI tips.</a:t>
            </a:r>
          </a:p>
        </p:txBody>
      </p:sp>
      <p:sp>
        <p:nvSpPr>
          <p:cNvPr id="35" name="journey.close">
            <a:extLst xmlns:a="http://schemas.openxmlformats.org/drawingml/2006/main">
              <a:ext uri="{FF2B5EF4-FFF2-40B4-BE49-F238E27FC236}">
                <a16:creationId xmlns:a16="http://schemas.microsoft.com/office/drawing/2014/main" id="{6713F9CC-D9EB-4EEA-817F-30EF3922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7696200"/>
            <a:ext cx="11239500" cy="5715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4F4F5"/>
                </a:solidFill>
              </a:defRPr>
            </a:pPr>
            <a:r>
              <a:t>The product keeps users inside the event loop instead of sending them to separate tools.</a:t>
            </a:r>
          </a:p>
        </p:txBody>
      </p:sp>
    </p:spTree>
    <p:extLst>
      <p:ext uri="{BB962C8B-B14F-4D97-AF65-F5344CB8AC3E}">
        <p14:creationId xmlns:p14="http://schemas.microsoft.com/office/powerpoint/2010/main" val="44873600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6">
            <a:extLst xmlns:a="http://schemas.openxmlformats.org/drawingml/2006/main">
              <a:ext uri="{FF2B5EF4-FFF2-40B4-BE49-F238E27FC236}">
                <a16:creationId xmlns:a16="http://schemas.microsoft.com/office/drawing/2014/main" id="{7DF9B708-D018-4453-B5A4-5938FA0D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6.1">
            <a:extLst xmlns:a="http://schemas.openxmlformats.org/drawingml/2006/main">
              <a:ext uri="{FF2B5EF4-FFF2-40B4-BE49-F238E27FC236}">
                <a16:creationId xmlns:a16="http://schemas.microsoft.com/office/drawing/2014/main" id="{3431A83B-0573-4B93-A42D-E06A90A0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6.2">
            <a:extLst xmlns:a="http://schemas.openxmlformats.org/drawingml/2006/main">
              <a:ext uri="{FF2B5EF4-FFF2-40B4-BE49-F238E27FC236}">
                <a16:creationId xmlns:a16="http://schemas.microsoft.com/office/drawing/2014/main" id="{A6A8010B-959E-4DA6-AEE2-BE57D7BAE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6">
            <a:extLst xmlns:a="http://schemas.openxmlformats.org/drawingml/2006/main">
              <a:ext uri="{FF2B5EF4-FFF2-40B4-BE49-F238E27FC236}">
                <a16:creationId xmlns:a16="http://schemas.microsoft.com/office/drawing/2014/main" id="{B5C34D92-5844-4049-A0EB-D53DBB6F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6">
            <a:extLst xmlns:a="http://schemas.openxmlformats.org/drawingml/2006/main">
              <a:ext uri="{FF2B5EF4-FFF2-40B4-BE49-F238E27FC236}">
                <a16:creationId xmlns:a16="http://schemas.microsoft.com/office/drawing/2014/main" id="{7D03357D-8FFF-455F-A10C-B02B859A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6">
            <a:extLst xmlns:a="http://schemas.openxmlformats.org/drawingml/2006/main">
              <a:ext uri="{FF2B5EF4-FFF2-40B4-BE49-F238E27FC236}">
                <a16:creationId xmlns:a16="http://schemas.microsoft.com/office/drawing/2014/main" id="{C5B0061E-6C4F-4F08-82A1-56F32701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FANTASY TEAM CREATION</a:t>
            </a:r>
          </a:p>
        </p:txBody>
      </p:sp>
      <p:sp>
        <p:nvSpPr>
          <p:cNvPr id="7" name="footer.page.6">
            <a:extLst xmlns:a="http://schemas.openxmlformats.org/drawingml/2006/main">
              <a:ext uri="{FF2B5EF4-FFF2-40B4-BE49-F238E27FC236}">
                <a16:creationId xmlns:a16="http://schemas.microsoft.com/office/drawing/2014/main" id="{C3235534-1D30-4AA0-A81D-8FC4DFF0F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06</a:t>
            </a:r>
          </a:p>
        </p:txBody>
      </p:sp>
      <p:sp>
        <p:nvSpPr>
          <p:cNvPr id="8" name="label.FANTASY TEAM CREATION">
            <a:extLst xmlns:a="http://schemas.openxmlformats.org/drawingml/2006/main">
              <a:ext uri="{FF2B5EF4-FFF2-40B4-BE49-F238E27FC236}">
                <a16:creationId xmlns:a16="http://schemas.microsoft.com/office/drawing/2014/main" id="{E5572F68-793C-47DD-BDE5-869E24D1A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8195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FANTASY TEAM CREATION</a:t>
            </a:r>
          </a:p>
        </p:txBody>
      </p:sp>
      <p:sp>
        <p:nvSpPr>
          <p:cNvPr id="9" name="slide-title.6">
            <a:extLst xmlns:a="http://schemas.openxmlformats.org/drawingml/2006/main">
              <a:ext uri="{FF2B5EF4-FFF2-40B4-BE49-F238E27FC236}">
                <a16:creationId xmlns:a16="http://schemas.microsoft.com/office/drawing/2014/main" id="{CB0EE44E-EE0E-4AD3-BE7F-87BEC9B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Drafting uses Dream11-style constraints</a:t>
            </a:r>
          </a:p>
        </p:txBody>
      </p:sp>
      <p:sp>
        <p:nvSpPr>
          <p:cNvPr id="10" name="slide-subtitle.6">
            <a:extLst xmlns:a="http://schemas.openxmlformats.org/drawingml/2006/main">
              <a:ext uri="{FF2B5EF4-FFF2-40B4-BE49-F238E27FC236}">
                <a16:creationId xmlns:a16="http://schemas.microsoft.com/office/drawing/2014/main" id="{186D83C9-C14E-4B63-902B-688AF202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app validates credits, roles, team balance, captain, and vice-captain choices.</a:t>
            </a:r>
          </a:p>
        </p:txBody>
      </p:sp>
      <p:sp>
        <p:nvSpPr>
          <p:cNvPr id="11" name="draft.phone">
            <a:extLst xmlns:a="http://schemas.openxmlformats.org/drawingml/2006/main">
              <a:ext uri="{FF2B5EF4-FFF2-40B4-BE49-F238E27FC236}">
                <a16:creationId xmlns:a16="http://schemas.microsoft.com/office/drawing/2014/main" id="{82065251-547F-495E-8FE8-9C9D0AF2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5619750" cy="53340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00E5FF"/>
            </a:solidFill>
            <a:prstDash val="solid"/>
          </a:ln>
        </p:spPr>
      </p:sp>
      <p:sp>
        <p:nvSpPr>
          <p:cNvPr id="12" name="draft.phone.title">
            <a:extLst xmlns:a="http://schemas.openxmlformats.org/drawingml/2006/main">
              <a:ext uri="{FF2B5EF4-FFF2-40B4-BE49-F238E27FC236}">
                <a16:creationId xmlns:a16="http://schemas.microsoft.com/office/drawing/2014/main" id="{5A2A87AA-CB17-4A8A-9871-5148CBCD1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4480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E5FF"/>
                </a:solidFill>
              </a:defRPr>
            </a:pPr>
            <a:r>
              <a:t>CREATE TEAM</a:t>
            </a:r>
          </a:p>
        </p:txBody>
      </p:sp>
      <p:sp>
        <p:nvSpPr>
          <p:cNvPr id="13" name="draft.credits.plate">
            <a:extLst xmlns:a="http://schemas.openxmlformats.org/drawingml/2006/main">
              <a:ext uri="{FF2B5EF4-FFF2-40B4-BE49-F238E27FC236}">
                <a16:creationId xmlns:a16="http://schemas.microsoft.com/office/drawing/2014/main" id="{D4D88B70-8C01-4795-9CCF-69826062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191000"/>
            <a:ext cx="18097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14" name="draft.credits.value">
            <a:extLst xmlns:a="http://schemas.openxmlformats.org/drawingml/2006/main">
              <a:ext uri="{FF2B5EF4-FFF2-40B4-BE49-F238E27FC236}">
                <a16:creationId xmlns:a16="http://schemas.microsoft.com/office/drawing/2014/main" id="{A9867539-0543-476A-BF57-DECE3424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13525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D700"/>
                </a:solidFill>
              </a:defRPr>
            </a:pPr>
            <a:r>
              <a:t>100</a:t>
            </a:r>
          </a:p>
        </p:txBody>
      </p:sp>
      <p:sp>
        <p:nvSpPr>
          <p:cNvPr id="15" name="draft.credits.label">
            <a:extLst xmlns:a="http://schemas.openxmlformats.org/drawingml/2006/main">
              <a:ext uri="{FF2B5EF4-FFF2-40B4-BE49-F238E27FC236}">
                <a16:creationId xmlns:a16="http://schemas.microsoft.com/office/drawing/2014/main" id="{378B07DA-71CC-4B2F-B341-04B871D8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6730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4F5"/>
                </a:solidFill>
              </a:defRPr>
            </a:pPr>
            <a:r>
              <a:t>Total credits</a:t>
            </a:r>
          </a:p>
        </p:txBody>
      </p:sp>
      <p:sp>
        <p:nvSpPr>
          <p:cNvPr id="16" name="draft.players.plate">
            <a:extLst xmlns:a="http://schemas.openxmlformats.org/drawingml/2006/main">
              <a:ext uri="{FF2B5EF4-FFF2-40B4-BE49-F238E27FC236}">
                <a16:creationId xmlns:a16="http://schemas.microsoft.com/office/drawing/2014/main" id="{2443E856-EF22-4CE8-8099-67157F70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191000"/>
            <a:ext cx="23050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7" name="draft.players.value">
            <a:extLst xmlns:a="http://schemas.openxmlformats.org/drawingml/2006/main">
              <a:ext uri="{FF2B5EF4-FFF2-40B4-BE49-F238E27FC236}">
                <a16:creationId xmlns:a16="http://schemas.microsoft.com/office/drawing/2014/main" id="{21F82174-F94F-4776-8E51-109AAEF8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438650"/>
            <a:ext cx="1847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107A"/>
                </a:solidFill>
              </a:defRPr>
            </a:pPr>
            <a:r>
              <a:t>11</a:t>
            </a:r>
          </a:p>
        </p:txBody>
      </p:sp>
      <p:sp>
        <p:nvSpPr>
          <p:cNvPr id="18" name="draft.players.label">
            <a:extLst xmlns:a="http://schemas.openxmlformats.org/drawingml/2006/main">
              <a:ext uri="{FF2B5EF4-FFF2-40B4-BE49-F238E27FC236}">
                <a16:creationId xmlns:a16="http://schemas.microsoft.com/office/drawing/2014/main" id="{072E1E7A-BA43-42E9-B5CB-477E52C4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67300"/>
            <a:ext cx="1847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4F5"/>
                </a:solidFill>
              </a:defRPr>
            </a:pPr>
            <a:r>
              <a:t>Players required</a:t>
            </a:r>
          </a:p>
        </p:txBody>
      </p:sp>
      <p:sp>
        <p:nvSpPr>
          <p:cNvPr id="19" name="draft.role.0">
            <a:extLst xmlns:a="http://schemas.openxmlformats.org/drawingml/2006/main">
              <a:ext uri="{FF2B5EF4-FFF2-40B4-BE49-F238E27FC236}">
                <a16:creationId xmlns:a16="http://schemas.microsoft.com/office/drawing/2014/main" id="{87ECF7E8-A345-4824-8572-58091D3D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6076950"/>
            <a:ext cx="895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20" name="draft.role.text.0">
            <a:extLst xmlns:a="http://schemas.openxmlformats.org/drawingml/2006/main">
              <a:ext uri="{FF2B5EF4-FFF2-40B4-BE49-F238E27FC236}">
                <a16:creationId xmlns:a16="http://schemas.microsoft.com/office/drawing/2014/main" id="{3E6E241C-B288-47C8-8406-9308F1CE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191250"/>
            <a:ext cx="742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E5FF"/>
                </a:solidFill>
              </a:defRPr>
            </a:pPr>
            <a:r>
              <a:t>WK</a:t>
            </a:r>
          </a:p>
          <a:p xmlns:a="http://schemas.openxmlformats.org/drawingml/2006/main">
            <a:pPr algn="ctr">
              <a:defRPr sz="1275" b="1">
                <a:solidFill>
                  <a:srgbClr val="00E5FF"/>
                </a:solidFill>
              </a:defRPr>
            </a:pPr>
            <a:r>
              <a:t>min 1</a:t>
            </a:r>
          </a:p>
        </p:txBody>
      </p:sp>
      <p:sp>
        <p:nvSpPr>
          <p:cNvPr id="21" name="draft.role.1">
            <a:extLst xmlns:a="http://schemas.openxmlformats.org/drawingml/2006/main">
              <a:ext uri="{FF2B5EF4-FFF2-40B4-BE49-F238E27FC236}">
                <a16:creationId xmlns:a16="http://schemas.microsoft.com/office/drawing/2014/main" id="{A44AE7FA-74C3-455F-85ED-D11D24EB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076950"/>
            <a:ext cx="895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22" name="draft.role.text.1">
            <a:extLst xmlns:a="http://schemas.openxmlformats.org/drawingml/2006/main">
              <a:ext uri="{FF2B5EF4-FFF2-40B4-BE49-F238E27FC236}">
                <a16:creationId xmlns:a16="http://schemas.microsoft.com/office/drawing/2014/main" id="{60E5224E-0781-4D15-B862-0E80597A4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6191250"/>
            <a:ext cx="742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D700"/>
                </a:solidFill>
              </a:defRPr>
            </a:pPr>
            <a:r>
              <a:t>BAT</a:t>
            </a:r>
          </a:p>
          <a:p xmlns:a="http://schemas.openxmlformats.org/drawingml/2006/main">
            <a:pPr algn="ctr">
              <a:defRPr sz="1275" b="1">
                <a:solidFill>
                  <a:srgbClr val="FFD700"/>
                </a:solidFill>
              </a:defRPr>
            </a:pPr>
            <a:r>
              <a:t>min 3</a:t>
            </a:r>
          </a:p>
        </p:txBody>
      </p:sp>
      <p:sp>
        <p:nvSpPr>
          <p:cNvPr id="23" name="draft.role.2">
            <a:extLst xmlns:a="http://schemas.openxmlformats.org/drawingml/2006/main">
              <a:ext uri="{FF2B5EF4-FFF2-40B4-BE49-F238E27FC236}">
                <a16:creationId xmlns:a16="http://schemas.microsoft.com/office/drawing/2014/main" id="{3ADE1611-1704-4A21-B2AF-179D2B0E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6076950"/>
            <a:ext cx="895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4" name="draft.role.text.2">
            <a:extLst xmlns:a="http://schemas.openxmlformats.org/drawingml/2006/main">
              <a:ext uri="{FF2B5EF4-FFF2-40B4-BE49-F238E27FC236}">
                <a16:creationId xmlns:a16="http://schemas.microsoft.com/office/drawing/2014/main" id="{9B4E6BD2-E4F9-40F9-886A-303B6DF0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6191250"/>
            <a:ext cx="742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FF87"/>
                </a:solidFill>
              </a:defRPr>
            </a:pPr>
            <a:r>
              <a:t>AR</a:t>
            </a:r>
          </a:p>
          <a:p xmlns:a="http://schemas.openxmlformats.org/drawingml/2006/main">
            <a:pPr algn="ctr">
              <a:defRPr sz="1275" b="1">
                <a:solidFill>
                  <a:srgbClr val="00FF87"/>
                </a:solidFill>
              </a:defRPr>
            </a:pPr>
            <a:r>
              <a:t>min 1</a:t>
            </a:r>
          </a:p>
        </p:txBody>
      </p:sp>
      <p:sp>
        <p:nvSpPr>
          <p:cNvPr id="25" name="draft.role.3">
            <a:extLst xmlns:a="http://schemas.openxmlformats.org/drawingml/2006/main">
              <a:ext uri="{FF2B5EF4-FFF2-40B4-BE49-F238E27FC236}">
                <a16:creationId xmlns:a16="http://schemas.microsoft.com/office/drawing/2014/main" id="{FE8E09A3-DB56-402F-8255-0D461993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076950"/>
            <a:ext cx="8953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26" name="draft.role.text.3">
            <a:extLst xmlns:a="http://schemas.openxmlformats.org/drawingml/2006/main">
              <a:ext uri="{FF2B5EF4-FFF2-40B4-BE49-F238E27FC236}">
                <a16:creationId xmlns:a16="http://schemas.microsoft.com/office/drawing/2014/main" id="{933CFA7D-5C6D-4B86-840A-F56EF200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6191250"/>
            <a:ext cx="742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BOWL</a:t>
            </a:r>
          </a:p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min 3</a:t>
            </a:r>
          </a:p>
        </p:txBody>
      </p:sp>
      <p:sp>
        <p:nvSpPr>
          <p:cNvPr id="27" name="draft.captain">
            <a:extLst xmlns:a="http://schemas.openxmlformats.org/drawingml/2006/main">
              <a:ext uri="{FF2B5EF4-FFF2-40B4-BE49-F238E27FC236}">
                <a16:creationId xmlns:a16="http://schemas.microsoft.com/office/drawing/2014/main" id="{48B8E1C1-06DD-417F-BD7F-B744770E7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7162800"/>
            <a:ext cx="4572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t>Captain = 2x points</a:t>
            </a:r>
          </a:p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t>Vice-Captain = 1.5x points</a:t>
            </a:r>
          </a:p>
        </p:txBody>
      </p:sp>
      <p:sp>
        <p:nvSpPr>
          <p:cNvPr id="28" name="draft.b1.dot">
            <a:extLst xmlns:a="http://schemas.openxmlformats.org/drawingml/2006/main">
              <a:ext uri="{FF2B5EF4-FFF2-40B4-BE49-F238E27FC236}">
                <a16:creationId xmlns:a16="http://schemas.microsoft.com/office/drawing/2014/main" id="{E37A6E91-F762-470A-919F-AD50BEDA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52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9" name="draft.b1.text">
            <a:extLst xmlns:a="http://schemas.openxmlformats.org/drawingml/2006/main">
              <a:ext uri="{FF2B5EF4-FFF2-40B4-BE49-F238E27FC236}">
                <a16:creationId xmlns:a16="http://schemas.microsoft.com/office/drawing/2014/main" id="{E55AFE4D-067D-42FA-BF35-1965BE98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676650"/>
            <a:ext cx="80010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Budget guard: a player cannot be selected if credits are insufficient.</a:t>
            </a:r>
          </a:p>
        </p:txBody>
      </p:sp>
      <p:sp>
        <p:nvSpPr>
          <p:cNvPr id="30" name="draft.b2.dot">
            <a:extLst xmlns:a="http://schemas.openxmlformats.org/drawingml/2006/main">
              <a:ext uri="{FF2B5EF4-FFF2-40B4-BE49-F238E27FC236}">
                <a16:creationId xmlns:a16="http://schemas.microsoft.com/office/drawing/2014/main" id="{7DFC0E8E-66D3-4DDA-A445-B4B2958E5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629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31" name="draft.b2.text">
            <a:extLst xmlns:a="http://schemas.openxmlformats.org/drawingml/2006/main">
              <a:ext uri="{FF2B5EF4-FFF2-40B4-BE49-F238E27FC236}">
                <a16:creationId xmlns:a16="http://schemas.microsoft.com/office/drawing/2014/main" id="{253C9FA3-2559-4BDF-9E95-8C47FF67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4552950"/>
            <a:ext cx="80010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Role guard: each sport has minimum and maximum composition rules.</a:t>
            </a:r>
          </a:p>
        </p:txBody>
      </p:sp>
      <p:sp>
        <p:nvSpPr>
          <p:cNvPr id="32" name="draft.b3.dot">
            <a:extLst xmlns:a="http://schemas.openxmlformats.org/drawingml/2006/main">
              <a:ext uri="{FF2B5EF4-FFF2-40B4-BE49-F238E27FC236}">
                <a16:creationId xmlns:a16="http://schemas.microsoft.com/office/drawing/2014/main" id="{051C1FB7-5C5E-47C3-9608-758700FF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05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33" name="draft.b3.text">
            <a:extLst xmlns:a="http://schemas.openxmlformats.org/drawingml/2006/main">
              <a:ext uri="{FF2B5EF4-FFF2-40B4-BE49-F238E27FC236}">
                <a16:creationId xmlns:a16="http://schemas.microsoft.com/office/drawing/2014/main" id="{E3CB0E70-03D3-47B6-8876-05DFB61B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5429250"/>
            <a:ext cx="80010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Team guard: max seven players from one real-world side.</a:t>
            </a:r>
          </a:p>
        </p:txBody>
      </p:sp>
      <p:sp>
        <p:nvSpPr>
          <p:cNvPr id="34" name="draft.b4.dot">
            <a:extLst xmlns:a="http://schemas.openxmlformats.org/drawingml/2006/main">
              <a:ext uri="{FF2B5EF4-FFF2-40B4-BE49-F238E27FC236}">
                <a16:creationId xmlns:a16="http://schemas.microsoft.com/office/drawing/2014/main" id="{84751B60-5F38-4F3A-92B2-0D866EA3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6381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5" name="draft.b4.text">
            <a:extLst xmlns:a="http://schemas.openxmlformats.org/drawingml/2006/main">
              <a:ext uri="{FF2B5EF4-FFF2-40B4-BE49-F238E27FC236}">
                <a16:creationId xmlns:a16="http://schemas.microsoft.com/office/drawing/2014/main" id="{BE23082F-8948-4418-B624-308151BB3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6305550"/>
            <a:ext cx="80010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Auth guard: only logged-in users can lock teams and join contests.</a:t>
            </a:r>
          </a:p>
        </p:txBody>
      </p:sp>
      <p:sp>
        <p:nvSpPr>
          <p:cNvPr id="36" name="draft.source">
            <a:extLst xmlns:a="http://schemas.openxmlformats.org/drawingml/2006/main">
              <a:ext uri="{FF2B5EF4-FFF2-40B4-BE49-F238E27FC236}">
                <a16:creationId xmlns:a16="http://schemas.microsoft.com/office/drawing/2014/main" id="{D76EF7C7-05B9-46B1-B8A7-1FB4B0728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7639050"/>
            <a:ext cx="7239000" cy="3238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A1A1AA"/>
                </a:solidFill>
              </a:defRPr>
            </a:pPr>
            <a:r>
              <a:t>Source: CreateTeam.jsx role config and backend /api/team endpoint.</a:t>
            </a:r>
          </a:p>
        </p:txBody>
      </p:sp>
    </p:spTree>
    <p:extLst>
      <p:ext uri="{BB962C8B-B14F-4D97-AF65-F5344CB8AC3E}">
        <p14:creationId xmlns:p14="http://schemas.microsoft.com/office/powerpoint/2010/main" val="15906580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7">
            <a:extLst xmlns:a="http://schemas.openxmlformats.org/drawingml/2006/main">
              <a:ext uri="{FF2B5EF4-FFF2-40B4-BE49-F238E27FC236}">
                <a16:creationId xmlns:a16="http://schemas.microsoft.com/office/drawing/2014/main" id="{907D1166-AD7E-41E2-B40C-DCD261F3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7.1">
            <a:extLst xmlns:a="http://schemas.openxmlformats.org/drawingml/2006/main">
              <a:ext uri="{FF2B5EF4-FFF2-40B4-BE49-F238E27FC236}">
                <a16:creationId xmlns:a16="http://schemas.microsoft.com/office/drawing/2014/main" id="{9BF96506-8F99-467C-89DE-399AB34B3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7.2">
            <a:extLst xmlns:a="http://schemas.openxmlformats.org/drawingml/2006/main">
              <a:ext uri="{FF2B5EF4-FFF2-40B4-BE49-F238E27FC236}">
                <a16:creationId xmlns:a16="http://schemas.microsoft.com/office/drawing/2014/main" id="{E7D5E22C-CCC6-4D23-B5F2-A802D705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7">
            <a:extLst xmlns:a="http://schemas.openxmlformats.org/drawingml/2006/main">
              <a:ext uri="{FF2B5EF4-FFF2-40B4-BE49-F238E27FC236}">
                <a16:creationId xmlns:a16="http://schemas.microsoft.com/office/drawing/2014/main" id="{A776DD5D-FEBD-4A97-9B34-33D5DE54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7">
            <a:extLst xmlns:a="http://schemas.openxmlformats.org/drawingml/2006/main">
              <a:ext uri="{FF2B5EF4-FFF2-40B4-BE49-F238E27FC236}">
                <a16:creationId xmlns:a16="http://schemas.microsoft.com/office/drawing/2014/main" id="{C4981F04-B10F-4F3A-BE75-36A66EB4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7">
            <a:extLst xmlns:a="http://schemas.openxmlformats.org/drawingml/2006/main">
              <a:ext uri="{FF2B5EF4-FFF2-40B4-BE49-F238E27FC236}">
                <a16:creationId xmlns:a16="http://schemas.microsoft.com/office/drawing/2014/main" id="{E7E56498-1DFF-49F7-88B3-93C41F176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CONTESTS &amp; LEADERBOARD</a:t>
            </a:r>
          </a:p>
        </p:txBody>
      </p:sp>
      <p:sp>
        <p:nvSpPr>
          <p:cNvPr id="7" name="footer.page.7">
            <a:extLst xmlns:a="http://schemas.openxmlformats.org/drawingml/2006/main">
              <a:ext uri="{FF2B5EF4-FFF2-40B4-BE49-F238E27FC236}">
                <a16:creationId xmlns:a16="http://schemas.microsoft.com/office/drawing/2014/main" id="{840758CD-5333-4FA9-9100-E349905C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07</a:t>
            </a:r>
          </a:p>
        </p:txBody>
      </p:sp>
      <p:sp>
        <p:nvSpPr>
          <p:cNvPr id="8" name="label.CONTESTS &amp; LEADERBOARD">
            <a:extLst xmlns:a="http://schemas.openxmlformats.org/drawingml/2006/main">
              <a:ext uri="{FF2B5EF4-FFF2-40B4-BE49-F238E27FC236}">
                <a16:creationId xmlns:a16="http://schemas.microsoft.com/office/drawing/2014/main" id="{03B482F8-ACCA-413E-B53F-76F4C15C0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981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CONTESTS &amp; LEADERBOARD</a:t>
            </a:r>
          </a:p>
        </p:txBody>
      </p:sp>
      <p:sp>
        <p:nvSpPr>
          <p:cNvPr id="9" name="slide-title.7">
            <a:extLst xmlns:a="http://schemas.openxmlformats.org/drawingml/2006/main">
              <a:ext uri="{FF2B5EF4-FFF2-40B4-BE49-F238E27FC236}">
                <a16:creationId xmlns:a16="http://schemas.microsoft.com/office/drawing/2014/main" id="{E9FDABCD-3B97-4661-A56C-ED8CEA40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Competition layers sit on top of every match</a:t>
            </a:r>
          </a:p>
        </p:txBody>
      </p:sp>
      <p:sp>
        <p:nvSpPr>
          <p:cNvPr id="10" name="slide-subtitle.7">
            <a:extLst xmlns:a="http://schemas.openxmlformats.org/drawingml/2006/main">
              <a:ext uri="{FF2B5EF4-FFF2-40B4-BE49-F238E27FC236}">
                <a16:creationId xmlns:a16="http://schemas.microsoft.com/office/drawing/2014/main" id="{1FEAD74C-C3D6-480F-965A-69E0550D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Users choose contests, spend wallet balance, and climb rankings based on points.</a:t>
            </a:r>
          </a:p>
        </p:txBody>
      </p:sp>
      <p:sp>
        <p:nvSpPr>
          <p:cNvPr id="11" name="contest.0.node">
            <a:extLst xmlns:a="http://schemas.openxmlformats.org/drawingml/2006/main">
              <a:ext uri="{FF2B5EF4-FFF2-40B4-BE49-F238E27FC236}">
                <a16:creationId xmlns:a16="http://schemas.microsoft.com/office/drawing/2014/main" id="{067F43C8-41F1-44BD-8274-85FA41E1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4953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2" name="contest.0.accent">
            <a:extLst xmlns:a="http://schemas.openxmlformats.org/drawingml/2006/main">
              <a:ext uri="{FF2B5EF4-FFF2-40B4-BE49-F238E27FC236}">
                <a16:creationId xmlns:a16="http://schemas.microsoft.com/office/drawing/2014/main" id="{BE50FD50-288E-4954-885D-BB4E4634C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2900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13" name="contest.0.label">
            <a:extLst xmlns:a="http://schemas.openxmlformats.org/drawingml/2006/main">
              <a:ext uri="{FF2B5EF4-FFF2-40B4-BE49-F238E27FC236}">
                <a16:creationId xmlns:a16="http://schemas.microsoft.com/office/drawing/2014/main" id="{56953F8E-9C67-4B2F-BCE4-8BBDF6D2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38550"/>
            <a:ext cx="4495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Mega Contest</a:t>
            </a:r>
          </a:p>
        </p:txBody>
      </p:sp>
      <p:sp>
        <p:nvSpPr>
          <p:cNvPr id="14" name="contest.0.sub">
            <a:extLst xmlns:a="http://schemas.openxmlformats.org/drawingml/2006/main">
              <a:ext uri="{FF2B5EF4-FFF2-40B4-BE49-F238E27FC236}">
                <a16:creationId xmlns:a16="http://schemas.microsoft.com/office/drawing/2014/main" id="{A29818A9-22C2-4FF9-98B8-33FC09A2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57650"/>
            <a:ext cx="4457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Entry: 49 | Large pool</a:t>
            </a:r>
          </a:p>
        </p:txBody>
      </p:sp>
      <p:sp>
        <p:nvSpPr>
          <p:cNvPr id="15" name="contest.1.node">
            <a:extLst xmlns:a="http://schemas.openxmlformats.org/drawingml/2006/main">
              <a:ext uri="{FF2B5EF4-FFF2-40B4-BE49-F238E27FC236}">
                <a16:creationId xmlns:a16="http://schemas.microsoft.com/office/drawing/2014/main" id="{9218AA09-4922-4C3F-94CB-B002CBD9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29150"/>
            <a:ext cx="4953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16" name="contest.1.accent">
            <a:extLst xmlns:a="http://schemas.openxmlformats.org/drawingml/2006/main">
              <a:ext uri="{FF2B5EF4-FFF2-40B4-BE49-F238E27FC236}">
                <a16:creationId xmlns:a16="http://schemas.microsoft.com/office/drawing/2014/main" id="{84BE8C7C-8349-4C7B-A23A-30208154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291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7" name="contest.1.label">
            <a:extLst xmlns:a="http://schemas.openxmlformats.org/drawingml/2006/main">
              <a:ext uri="{FF2B5EF4-FFF2-40B4-BE49-F238E27FC236}">
                <a16:creationId xmlns:a16="http://schemas.microsoft.com/office/drawing/2014/main" id="{C974F889-01A9-44F9-ADE8-8DF4F2BE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838700"/>
            <a:ext cx="4495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Head to Head</a:t>
            </a:r>
          </a:p>
        </p:txBody>
      </p:sp>
      <p:sp>
        <p:nvSpPr>
          <p:cNvPr id="18" name="contest.1.sub">
            <a:extLst xmlns:a="http://schemas.openxmlformats.org/drawingml/2006/main">
              <a:ext uri="{FF2B5EF4-FFF2-40B4-BE49-F238E27FC236}">
                <a16:creationId xmlns:a16="http://schemas.microsoft.com/office/drawing/2014/main" id="{FD226A84-A599-4235-955F-95429FB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257800"/>
            <a:ext cx="4457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Entry: 25 | Two players</a:t>
            </a:r>
          </a:p>
        </p:txBody>
      </p:sp>
      <p:sp>
        <p:nvSpPr>
          <p:cNvPr id="19" name="contest.2.node">
            <a:extLst xmlns:a="http://schemas.openxmlformats.org/drawingml/2006/main">
              <a:ext uri="{FF2B5EF4-FFF2-40B4-BE49-F238E27FC236}">
                <a16:creationId xmlns:a16="http://schemas.microsoft.com/office/drawing/2014/main" id="{F51502F3-7E6B-47C9-AB18-70A67F3A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29300"/>
            <a:ext cx="4953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20" name="contest.2.accent">
            <a:extLst xmlns:a="http://schemas.openxmlformats.org/drawingml/2006/main">
              <a:ext uri="{FF2B5EF4-FFF2-40B4-BE49-F238E27FC236}">
                <a16:creationId xmlns:a16="http://schemas.microsoft.com/office/drawing/2014/main" id="{622E07AE-241E-404D-8638-882BE59EC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82930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1" name="contest.2.label">
            <a:extLst xmlns:a="http://schemas.openxmlformats.org/drawingml/2006/main">
              <a:ext uri="{FF2B5EF4-FFF2-40B4-BE49-F238E27FC236}">
                <a16:creationId xmlns:a16="http://schemas.microsoft.com/office/drawing/2014/main" id="{20784226-A104-4320-9871-5FC14DA2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038850"/>
            <a:ext cx="4495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Practice Match</a:t>
            </a:r>
          </a:p>
        </p:txBody>
      </p:sp>
      <p:sp>
        <p:nvSpPr>
          <p:cNvPr id="22" name="contest.2.sub">
            <a:extLst xmlns:a="http://schemas.openxmlformats.org/drawingml/2006/main">
              <a:ext uri="{FF2B5EF4-FFF2-40B4-BE49-F238E27FC236}">
                <a16:creationId xmlns:a16="http://schemas.microsoft.com/office/drawing/2014/main" id="{2A09B5BD-6B14-4496-9D1B-A347D6D1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457950"/>
            <a:ext cx="4457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Entry: 0 | Free mode</a:t>
            </a:r>
          </a:p>
        </p:txBody>
      </p:sp>
      <p:sp>
        <p:nvSpPr>
          <p:cNvPr id="23" name="contest.3.node">
            <a:extLst xmlns:a="http://schemas.openxmlformats.org/drawingml/2006/main">
              <a:ext uri="{FF2B5EF4-FFF2-40B4-BE49-F238E27FC236}">
                <a16:creationId xmlns:a16="http://schemas.microsoft.com/office/drawing/2014/main" id="{EAF6BE59-F87E-4D4A-8EC8-F0B54FC6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029450"/>
            <a:ext cx="4953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4" name="contest.3.accent">
            <a:extLst xmlns:a="http://schemas.openxmlformats.org/drawingml/2006/main">
              <a:ext uri="{FF2B5EF4-FFF2-40B4-BE49-F238E27FC236}">
                <a16:creationId xmlns:a16="http://schemas.microsoft.com/office/drawing/2014/main" id="{A450033B-FCA9-4F53-936E-8A0140A93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029450"/>
            <a:ext cx="762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5" name="contest.3.label">
            <a:extLst xmlns:a="http://schemas.openxmlformats.org/drawingml/2006/main">
              <a:ext uri="{FF2B5EF4-FFF2-40B4-BE49-F238E27FC236}">
                <a16:creationId xmlns:a16="http://schemas.microsoft.com/office/drawing/2014/main" id="{A70905A6-2F34-4AE4-AB43-991CB57C4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239000"/>
            <a:ext cx="4495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Winner Takes All</a:t>
            </a:r>
          </a:p>
        </p:txBody>
      </p:sp>
      <p:sp>
        <p:nvSpPr>
          <p:cNvPr id="26" name="contest.3.sub">
            <a:extLst xmlns:a="http://schemas.openxmlformats.org/drawingml/2006/main">
              <a:ext uri="{FF2B5EF4-FFF2-40B4-BE49-F238E27FC236}">
                <a16:creationId xmlns:a16="http://schemas.microsoft.com/office/drawing/2014/main" id="{58DF0FD9-54A2-4356-8E68-7C9DC3EC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7658100"/>
            <a:ext cx="44577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Entry: 100 | Top prize</a:t>
            </a:r>
          </a:p>
        </p:txBody>
      </p:sp>
      <p:sp>
        <p:nvSpPr>
          <p:cNvPr id="27" name="leaderboard.podium.1">
            <a:extLst xmlns:a="http://schemas.openxmlformats.org/drawingml/2006/main">
              <a:ext uri="{FF2B5EF4-FFF2-40B4-BE49-F238E27FC236}">
                <a16:creationId xmlns:a16="http://schemas.microsoft.com/office/drawing/2014/main" id="{B28455B7-7C0E-4FAB-B6DF-F0FA6180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24500"/>
            <a:ext cx="15811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8" name="leaderboard.podium.2">
            <a:extLst xmlns:a="http://schemas.openxmlformats.org/drawingml/2006/main">
              <a:ext uri="{FF2B5EF4-FFF2-40B4-BE49-F238E27FC236}">
                <a16:creationId xmlns:a16="http://schemas.microsoft.com/office/drawing/2014/main" id="{98E68DD5-D528-466B-860D-5AC6EF30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229350"/>
            <a:ext cx="158115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9" name="leaderboard.podium.3">
            <a:extLst xmlns:a="http://schemas.openxmlformats.org/drawingml/2006/main">
              <a:ext uri="{FF2B5EF4-FFF2-40B4-BE49-F238E27FC236}">
                <a16:creationId xmlns:a16="http://schemas.microsoft.com/office/drawing/2014/main" id="{B44793E9-0727-4993-B267-FB0AE74FC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91900" y="6705600"/>
            <a:ext cx="15811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0" name="leaderboard.podium.1.text">
            <a:extLst xmlns:a="http://schemas.openxmlformats.org/drawingml/2006/main">
              <a:ext uri="{FF2B5EF4-FFF2-40B4-BE49-F238E27FC236}">
                <a16:creationId xmlns:a16="http://schemas.microsoft.com/office/drawing/2014/main" id="{057553BB-3665-4897-8A95-7102AEBD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962650"/>
            <a:ext cx="819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05050A"/>
                </a:solidFill>
              </a:defRPr>
            </a:pPr>
            <a:r>
              <a:t>1</a:t>
            </a:r>
          </a:p>
        </p:txBody>
      </p:sp>
      <p:sp>
        <p:nvSpPr>
          <p:cNvPr id="31" name="leaderboard.podium.2.text">
            <a:extLst xmlns:a="http://schemas.openxmlformats.org/drawingml/2006/main">
              <a:ext uri="{FF2B5EF4-FFF2-40B4-BE49-F238E27FC236}">
                <a16:creationId xmlns:a16="http://schemas.microsoft.com/office/drawing/2014/main" id="{9B7A0B30-18A4-4E50-BD4C-367DF9AE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6572250"/>
            <a:ext cx="819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5050A"/>
                </a:solidFill>
              </a:defRPr>
            </a:pPr>
            <a:r>
              <a:t>2</a:t>
            </a:r>
          </a:p>
        </p:txBody>
      </p:sp>
      <p:sp>
        <p:nvSpPr>
          <p:cNvPr id="32" name="leaderboard.podium.3.text">
            <a:extLst xmlns:a="http://schemas.openxmlformats.org/drawingml/2006/main">
              <a:ext uri="{FF2B5EF4-FFF2-40B4-BE49-F238E27FC236}">
                <a16:creationId xmlns:a16="http://schemas.microsoft.com/office/drawing/2014/main" id="{CD0DD258-2A3B-4CAA-B75E-CEBF89CE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72900" y="6953250"/>
            <a:ext cx="819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5050A"/>
                </a:solidFill>
              </a:defRPr>
            </a:pPr>
            <a:r>
              <a:t>3</a:t>
            </a:r>
          </a:p>
        </p:txBody>
      </p:sp>
      <p:sp>
        <p:nvSpPr>
          <p:cNvPr id="33" name="rank.table.frame">
            <a:extLst xmlns:a="http://schemas.openxmlformats.org/drawingml/2006/main">
              <a:ext uri="{FF2B5EF4-FFF2-40B4-BE49-F238E27FC236}">
                <a16:creationId xmlns:a16="http://schemas.microsoft.com/office/drawing/2014/main" id="{CCB502FB-CD8E-429D-836F-CB709425E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09950"/>
            <a:ext cx="5524500" cy="22098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34" name="rank.table.header.0">
            <a:extLst xmlns:a="http://schemas.openxmlformats.org/drawingml/2006/main">
              <a:ext uri="{FF2B5EF4-FFF2-40B4-BE49-F238E27FC236}">
                <a16:creationId xmlns:a16="http://schemas.microsoft.com/office/drawing/2014/main" id="{2D32D3B7-63A2-450B-B855-37FBBC3A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5052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Rank</a:t>
            </a:r>
          </a:p>
        </p:txBody>
      </p:sp>
      <p:sp>
        <p:nvSpPr>
          <p:cNvPr id="35" name="rank.table.header.1">
            <a:extLst xmlns:a="http://schemas.openxmlformats.org/drawingml/2006/main">
              <a:ext uri="{FF2B5EF4-FFF2-40B4-BE49-F238E27FC236}">
                <a16:creationId xmlns:a16="http://schemas.microsoft.com/office/drawing/2014/main" id="{C89C4F7B-1DE2-4D30-BD26-AC819D5E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052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Manager</a:t>
            </a:r>
          </a:p>
        </p:txBody>
      </p:sp>
      <p:sp>
        <p:nvSpPr>
          <p:cNvPr id="36" name="rank.table.header.2">
            <a:extLst xmlns:a="http://schemas.openxmlformats.org/drawingml/2006/main">
              <a:ext uri="{FF2B5EF4-FFF2-40B4-BE49-F238E27FC236}">
                <a16:creationId xmlns:a16="http://schemas.microsoft.com/office/drawing/2014/main" id="{605DA65F-0508-404B-9931-14BC79F3E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35052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Points</a:t>
            </a:r>
          </a:p>
        </p:txBody>
      </p:sp>
      <p:sp>
        <p:nvSpPr>
          <p:cNvPr id="37" name="rank.table.row.0">
            <a:extLst xmlns:a="http://schemas.openxmlformats.org/drawingml/2006/main">
              <a:ext uri="{FF2B5EF4-FFF2-40B4-BE49-F238E27FC236}">
                <a16:creationId xmlns:a16="http://schemas.microsoft.com/office/drawing/2014/main" id="{96606D89-E121-4ABF-A2E0-FD69CEFC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62400"/>
            <a:ext cx="5257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38" name="rank.table.cell.0.0">
            <a:extLst xmlns:a="http://schemas.openxmlformats.org/drawingml/2006/main">
              <a:ext uri="{FF2B5EF4-FFF2-40B4-BE49-F238E27FC236}">
                <a16:creationId xmlns:a16="http://schemas.microsoft.com/office/drawing/2014/main" id="{DAA0D146-40B2-4CA6-84A8-9D0BD942A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0767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9" name="rank.table.cell.0.1">
            <a:extLst xmlns:a="http://schemas.openxmlformats.org/drawingml/2006/main">
              <a:ext uri="{FF2B5EF4-FFF2-40B4-BE49-F238E27FC236}">
                <a16:creationId xmlns:a16="http://schemas.microsoft.com/office/drawing/2014/main" id="{1017B6A7-E958-443F-804F-E700D100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0767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Top scorer</a:t>
            </a:r>
          </a:p>
        </p:txBody>
      </p:sp>
      <p:sp>
        <p:nvSpPr>
          <p:cNvPr id="40" name="rank.table.cell.0.2">
            <a:extLst xmlns:a="http://schemas.openxmlformats.org/drawingml/2006/main">
              <a:ext uri="{FF2B5EF4-FFF2-40B4-BE49-F238E27FC236}">
                <a16:creationId xmlns:a16="http://schemas.microsoft.com/office/drawing/2014/main" id="{99277D57-EBF8-4BD2-8D9B-A16CA268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40767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980</a:t>
            </a:r>
          </a:p>
        </p:txBody>
      </p:sp>
      <p:sp>
        <p:nvSpPr>
          <p:cNvPr id="41" name="rank.table.row.1">
            <a:extLst xmlns:a="http://schemas.openxmlformats.org/drawingml/2006/main">
              <a:ext uri="{FF2B5EF4-FFF2-40B4-BE49-F238E27FC236}">
                <a16:creationId xmlns:a16="http://schemas.microsoft.com/office/drawing/2014/main" id="{07F3C03B-F18B-4175-B8F5-18EACE25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14850"/>
            <a:ext cx="5257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42" name="rank.table.cell.1.0">
            <a:extLst xmlns:a="http://schemas.openxmlformats.org/drawingml/2006/main">
              <a:ext uri="{FF2B5EF4-FFF2-40B4-BE49-F238E27FC236}">
                <a16:creationId xmlns:a16="http://schemas.microsoft.com/office/drawing/2014/main" id="{91700F8C-3807-4CEB-AC2B-A3BFEBC9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62915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3" name="rank.table.cell.1.1">
            <a:extLst xmlns:a="http://schemas.openxmlformats.org/drawingml/2006/main">
              <a:ext uri="{FF2B5EF4-FFF2-40B4-BE49-F238E27FC236}">
                <a16:creationId xmlns:a16="http://schemas.microsoft.com/office/drawing/2014/main" id="{5BCD0242-6C44-43F2-82B3-F722906D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6291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Chaser</a:t>
            </a:r>
          </a:p>
        </p:txBody>
      </p:sp>
      <p:sp>
        <p:nvSpPr>
          <p:cNvPr id="44" name="rank.table.cell.1.2">
            <a:extLst xmlns:a="http://schemas.openxmlformats.org/drawingml/2006/main">
              <a:ext uri="{FF2B5EF4-FFF2-40B4-BE49-F238E27FC236}">
                <a16:creationId xmlns:a16="http://schemas.microsoft.com/office/drawing/2014/main" id="{7C9EC20C-7F36-4B20-B4B1-7C27A5D6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462915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910</a:t>
            </a:r>
          </a:p>
        </p:txBody>
      </p:sp>
      <p:sp>
        <p:nvSpPr>
          <p:cNvPr id="45" name="rank.table.row.2">
            <a:extLst xmlns:a="http://schemas.openxmlformats.org/drawingml/2006/main">
              <a:ext uri="{FF2B5EF4-FFF2-40B4-BE49-F238E27FC236}">
                <a16:creationId xmlns:a16="http://schemas.microsoft.com/office/drawing/2014/main" id="{19D3C299-2C80-4284-9947-3885BA37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067300"/>
            <a:ext cx="5257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46" name="rank.table.cell.2.0">
            <a:extLst xmlns:a="http://schemas.openxmlformats.org/drawingml/2006/main">
              <a:ext uri="{FF2B5EF4-FFF2-40B4-BE49-F238E27FC236}">
                <a16:creationId xmlns:a16="http://schemas.microsoft.com/office/drawing/2014/main" id="{4F62C4BB-8E5D-4CD6-977E-4A2314CE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181600"/>
            <a:ext cx="914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7" name="rank.table.cell.2.1">
            <a:extLst xmlns:a="http://schemas.openxmlformats.org/drawingml/2006/main">
              <a:ext uri="{FF2B5EF4-FFF2-40B4-BE49-F238E27FC236}">
                <a16:creationId xmlns:a16="http://schemas.microsoft.com/office/drawing/2014/main" id="{BAEA2C62-50B0-4914-8948-BEA65243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18160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Rising team</a:t>
            </a:r>
          </a:p>
        </p:txBody>
      </p:sp>
      <p:sp>
        <p:nvSpPr>
          <p:cNvPr id="48" name="rank.table.cell.2.2">
            <a:extLst xmlns:a="http://schemas.openxmlformats.org/drawingml/2006/main">
              <a:ext uri="{FF2B5EF4-FFF2-40B4-BE49-F238E27FC236}">
                <a16:creationId xmlns:a16="http://schemas.microsoft.com/office/drawing/2014/main" id="{6C3B01E8-B418-4100-990E-CB134A9E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5181600"/>
            <a:ext cx="12954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870</a:t>
            </a:r>
          </a:p>
        </p:txBody>
      </p:sp>
      <p:sp>
        <p:nvSpPr>
          <p:cNvPr id="49" name="contest.logic">
            <a:extLst xmlns:a="http://schemas.openxmlformats.org/drawingml/2006/main">
              <a:ext uri="{FF2B5EF4-FFF2-40B4-BE49-F238E27FC236}">
                <a16:creationId xmlns:a16="http://schemas.microsoft.com/office/drawing/2014/main" id="{7E38926B-8CA9-41F7-ABDC-76A247E3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8020050"/>
            <a:ext cx="7334250" cy="533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4F4F5"/>
                </a:solidFill>
              </a:defRPr>
            </a:pPr>
            <a:r>
              <a:t>Contest entries connect User + FantasyTeam + Contest, so one scoring update can reorder the board.</a:t>
            </a:r>
          </a:p>
        </p:txBody>
      </p:sp>
    </p:spTree>
    <p:extLst>
      <p:ext uri="{BB962C8B-B14F-4D97-AF65-F5344CB8AC3E}">
        <p14:creationId xmlns:p14="http://schemas.microsoft.com/office/powerpoint/2010/main" val="143882294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8">
            <a:extLst xmlns:a="http://schemas.openxmlformats.org/drawingml/2006/main">
              <a:ext uri="{FF2B5EF4-FFF2-40B4-BE49-F238E27FC236}">
                <a16:creationId xmlns:a16="http://schemas.microsoft.com/office/drawing/2014/main" id="{30B3599C-0405-4A4F-851A-6DB96FD6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8.1">
            <a:extLst xmlns:a="http://schemas.openxmlformats.org/drawingml/2006/main">
              <a:ext uri="{FF2B5EF4-FFF2-40B4-BE49-F238E27FC236}">
                <a16:creationId xmlns:a16="http://schemas.microsoft.com/office/drawing/2014/main" id="{C52FCBCB-CF7E-46E3-8838-0D230F39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8.2">
            <a:extLst xmlns:a="http://schemas.openxmlformats.org/drawingml/2006/main">
              <a:ext uri="{FF2B5EF4-FFF2-40B4-BE49-F238E27FC236}">
                <a16:creationId xmlns:a16="http://schemas.microsoft.com/office/drawing/2014/main" id="{E0914421-FD5A-47FA-B2DA-68C600BC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8">
            <a:extLst xmlns:a="http://schemas.openxmlformats.org/drawingml/2006/main">
              <a:ext uri="{FF2B5EF4-FFF2-40B4-BE49-F238E27FC236}">
                <a16:creationId xmlns:a16="http://schemas.microsoft.com/office/drawing/2014/main" id="{2FF1CF02-83D1-4337-B095-C1F4B3F7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8">
            <a:extLst xmlns:a="http://schemas.openxmlformats.org/drawingml/2006/main">
              <a:ext uri="{FF2B5EF4-FFF2-40B4-BE49-F238E27FC236}">
                <a16:creationId xmlns:a16="http://schemas.microsoft.com/office/drawing/2014/main" id="{23DAC9C2-2BE0-4705-A339-43195D6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8">
            <a:extLst xmlns:a="http://schemas.openxmlformats.org/drawingml/2006/main">
              <a:ext uri="{FF2B5EF4-FFF2-40B4-BE49-F238E27FC236}">
                <a16:creationId xmlns:a16="http://schemas.microsoft.com/office/drawing/2014/main" id="{BC01812C-AE70-4F08-A11F-E9DD5140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LIVE MATCH CENTER</a:t>
            </a:r>
          </a:p>
        </p:txBody>
      </p:sp>
      <p:sp>
        <p:nvSpPr>
          <p:cNvPr id="7" name="footer.page.8">
            <a:extLst xmlns:a="http://schemas.openxmlformats.org/drawingml/2006/main">
              <a:ext uri="{FF2B5EF4-FFF2-40B4-BE49-F238E27FC236}">
                <a16:creationId xmlns:a16="http://schemas.microsoft.com/office/drawing/2014/main" id="{7DF4177E-1341-4C3F-A83E-25DD76C3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08</a:t>
            </a:r>
          </a:p>
        </p:txBody>
      </p:sp>
      <p:sp>
        <p:nvSpPr>
          <p:cNvPr id="8" name="label.LIVE MATCH CENTER">
            <a:extLst xmlns:a="http://schemas.openxmlformats.org/drawingml/2006/main">
              <a:ext uri="{FF2B5EF4-FFF2-40B4-BE49-F238E27FC236}">
                <a16:creationId xmlns:a16="http://schemas.microsoft.com/office/drawing/2014/main" id="{8655757D-2D62-4EF9-AADE-CB680584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1718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LIVE MATCH CENTER</a:t>
            </a:r>
          </a:p>
        </p:txBody>
      </p:sp>
      <p:sp>
        <p:nvSpPr>
          <p:cNvPr id="9" name="slide-title.8">
            <a:extLst xmlns:a="http://schemas.openxmlformats.org/drawingml/2006/main">
              <a:ext uri="{FF2B5EF4-FFF2-40B4-BE49-F238E27FC236}">
                <a16:creationId xmlns:a16="http://schemas.microsoft.com/office/drawing/2014/main" id="{D898C9B4-C620-4C14-A57D-F524DBDB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Scores and standings keep the event active</a:t>
            </a:r>
          </a:p>
        </p:txBody>
      </p:sp>
      <p:sp>
        <p:nvSpPr>
          <p:cNvPr id="10" name="slide-subtitle.8">
            <a:extLst xmlns:a="http://schemas.openxmlformats.org/drawingml/2006/main">
              <a:ext uri="{FF2B5EF4-FFF2-40B4-BE49-F238E27FC236}">
                <a16:creationId xmlns:a16="http://schemas.microsoft.com/office/drawing/2014/main" id="{A55D9F56-23A9-46C6-B5E0-0CAFA6848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app includes dedicated live views for cricket, football, and Formula 1 tracking.</a:t>
            </a:r>
          </a:p>
        </p:txBody>
      </p:sp>
      <p:sp>
        <p:nvSpPr>
          <p:cNvPr id="11" name="live.screen">
            <a:extLst xmlns:a="http://schemas.openxmlformats.org/drawingml/2006/main">
              <a:ext uri="{FF2B5EF4-FFF2-40B4-BE49-F238E27FC236}">
                <a16:creationId xmlns:a16="http://schemas.microsoft.com/office/drawing/2014/main" id="{7E2C3E6E-8CF7-4E2D-B6AB-9DE7CA023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33750"/>
            <a:ext cx="72390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E50914"/>
            </a:solidFill>
            <a:prstDash val="solid"/>
          </a:ln>
        </p:spPr>
      </p:sp>
      <p:sp>
        <p:nvSpPr>
          <p:cNvPr id="12" name="live.header">
            <a:extLst xmlns:a="http://schemas.openxmlformats.org/drawingml/2006/main">
              <a:ext uri="{FF2B5EF4-FFF2-40B4-BE49-F238E27FC236}">
                <a16:creationId xmlns:a16="http://schemas.microsoft.com/office/drawing/2014/main" id="{DC83F40F-E6D5-4C33-A83D-7DF867086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95700"/>
            <a:ext cx="209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50914"/>
                </a:solidFill>
              </a:defRPr>
            </a:pPr>
            <a:r>
              <a:t>LIVE DATA</a:t>
            </a:r>
          </a:p>
        </p:txBody>
      </p:sp>
      <p:sp>
        <p:nvSpPr>
          <p:cNvPr id="13" name="live.score">
            <a:extLst xmlns:a="http://schemas.openxmlformats.org/drawingml/2006/main">
              <a:ext uri="{FF2B5EF4-FFF2-40B4-BE49-F238E27FC236}">
                <a16:creationId xmlns:a16="http://schemas.microsoft.com/office/drawing/2014/main" id="{46ECDE53-6363-46DF-B8C6-B5067D39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43400"/>
            <a:ext cx="31432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t>CSK 184/5</a:t>
            </a:r>
          </a:p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t>RCB chasing</a:t>
            </a:r>
          </a:p>
        </p:txBody>
      </p:sp>
      <p:sp>
        <p:nvSpPr>
          <p:cNvPr id="14" name="live.refresh">
            <a:extLst xmlns:a="http://schemas.openxmlformats.org/drawingml/2006/main">
              <a:ext uri="{FF2B5EF4-FFF2-40B4-BE49-F238E27FC236}">
                <a16:creationId xmlns:a16="http://schemas.microsoft.com/office/drawing/2014/main" id="{10E29D87-0197-42F0-9B8C-94C8B6AE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981700"/>
            <a:ext cx="400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E5FF"/>
                </a:solidFill>
              </a:defRPr>
            </a:pPr>
            <a:r>
              <a:t>Auto refresh every 30 seconds</a:t>
            </a:r>
          </a:p>
        </p:txBody>
      </p:sp>
      <p:sp>
        <p:nvSpPr>
          <p:cNvPr id="15" name="live.bar.label.0">
            <a:extLst xmlns:a="http://schemas.openxmlformats.org/drawingml/2006/main">
              <a:ext uri="{FF2B5EF4-FFF2-40B4-BE49-F238E27FC236}">
                <a16:creationId xmlns:a16="http://schemas.microsoft.com/office/drawing/2014/main" id="{BC4ADB88-8517-4A86-94E6-AA3E3623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767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4F5"/>
                </a:solidFill>
              </a:defRPr>
            </a:pPr>
            <a:r>
              <a:t>P1 Verstappen</a:t>
            </a:r>
          </a:p>
        </p:txBody>
      </p:sp>
      <p:sp>
        <p:nvSpPr>
          <p:cNvPr id="16" name="live.bar.0">
            <a:extLst xmlns:a="http://schemas.openxmlformats.org/drawingml/2006/main">
              <a:ext uri="{FF2B5EF4-FFF2-40B4-BE49-F238E27FC236}">
                <a16:creationId xmlns:a16="http://schemas.microsoft.com/office/drawing/2014/main" id="{6DD31174-A67A-4304-A17F-8E7496CC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57750"/>
            <a:ext cx="3048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17" name="live.bar.label.1">
            <a:extLst xmlns:a="http://schemas.openxmlformats.org/drawingml/2006/main">
              <a:ext uri="{FF2B5EF4-FFF2-40B4-BE49-F238E27FC236}">
                <a16:creationId xmlns:a16="http://schemas.microsoft.com/office/drawing/2014/main" id="{314373E7-EF39-4F3D-A94A-5078804F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435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4F5"/>
                </a:solidFill>
              </a:defRPr>
            </a:pPr>
            <a:r>
              <a:t>P2 Leclerc</a:t>
            </a:r>
          </a:p>
        </p:txBody>
      </p:sp>
      <p:sp>
        <p:nvSpPr>
          <p:cNvPr id="18" name="live.bar.1">
            <a:extLst xmlns:a="http://schemas.openxmlformats.org/drawingml/2006/main">
              <a:ext uri="{FF2B5EF4-FFF2-40B4-BE49-F238E27FC236}">
                <a16:creationId xmlns:a16="http://schemas.microsoft.com/office/drawing/2014/main" id="{A8C5A35F-AA40-4D17-93CD-7D6AB0E2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24500"/>
            <a:ext cx="2476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9" name="live.bar.label.2">
            <a:extLst xmlns:a="http://schemas.openxmlformats.org/drawingml/2006/main">
              <a:ext uri="{FF2B5EF4-FFF2-40B4-BE49-F238E27FC236}">
                <a16:creationId xmlns:a16="http://schemas.microsoft.com/office/drawing/2014/main" id="{3631D65A-AD26-4E32-9579-AA648AE8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81025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4F4F5"/>
                </a:solidFill>
              </a:defRPr>
            </a:pPr>
            <a:r>
              <a:t>P3 Norris</a:t>
            </a:r>
          </a:p>
        </p:txBody>
      </p:sp>
      <p:sp>
        <p:nvSpPr>
          <p:cNvPr id="20" name="live.bar.2">
            <a:extLst xmlns:a="http://schemas.openxmlformats.org/drawingml/2006/main">
              <a:ext uri="{FF2B5EF4-FFF2-40B4-BE49-F238E27FC236}">
                <a16:creationId xmlns:a16="http://schemas.microsoft.com/office/drawing/2014/main" id="{10A91B7A-9032-420D-8E7F-C42FEBDD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191250"/>
            <a:ext cx="209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1" name="live.b1.dot">
            <a:extLst xmlns:a="http://schemas.openxmlformats.org/drawingml/2006/main">
              <a:ext uri="{FF2B5EF4-FFF2-40B4-BE49-F238E27FC236}">
                <a16:creationId xmlns:a16="http://schemas.microsoft.com/office/drawing/2014/main" id="{A1687B58-ECE5-4BC9-AD27-5E47674FB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90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2" name="live.b1.text">
            <a:extLst xmlns:a="http://schemas.openxmlformats.org/drawingml/2006/main">
              <a:ext uri="{FF2B5EF4-FFF2-40B4-BE49-F238E27FC236}">
                <a16:creationId xmlns:a16="http://schemas.microsoft.com/office/drawing/2014/main" id="{20C36253-0F60-4FFD-8687-8CD6376F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14750"/>
            <a:ext cx="6286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Dedicated sport cards route users to the relevant live page.</a:t>
            </a:r>
          </a:p>
        </p:txBody>
      </p:sp>
      <p:sp>
        <p:nvSpPr>
          <p:cNvPr id="23" name="live.b2.dot">
            <a:extLst xmlns:a="http://schemas.openxmlformats.org/drawingml/2006/main">
              <a:ext uri="{FF2B5EF4-FFF2-40B4-BE49-F238E27FC236}">
                <a16:creationId xmlns:a16="http://schemas.microsoft.com/office/drawing/2014/main" id="{2CDE8184-DEA2-411B-9E42-45DAEA864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705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24" name="live.b2.text">
            <a:extLst xmlns:a="http://schemas.openxmlformats.org/drawingml/2006/main">
              <a:ext uri="{FF2B5EF4-FFF2-40B4-BE49-F238E27FC236}">
                <a16:creationId xmlns:a16="http://schemas.microsoft.com/office/drawing/2014/main" id="{99F2CD4D-DBCC-4F34-861A-55400955D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4629150"/>
            <a:ext cx="6286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Cricket and F1 data are fetched through backend endpoints.</a:t>
            </a:r>
          </a:p>
        </p:txBody>
      </p:sp>
      <p:sp>
        <p:nvSpPr>
          <p:cNvPr id="25" name="live.b3.dot">
            <a:extLst xmlns:a="http://schemas.openxmlformats.org/drawingml/2006/main">
              <a:ext uri="{FF2B5EF4-FFF2-40B4-BE49-F238E27FC236}">
                <a16:creationId xmlns:a16="http://schemas.microsoft.com/office/drawing/2014/main" id="{C22AA07D-6957-4D4A-BE4B-248A306C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619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6" name="live.b3.text">
            <a:extLst xmlns:a="http://schemas.openxmlformats.org/drawingml/2006/main">
              <a:ext uri="{FF2B5EF4-FFF2-40B4-BE49-F238E27FC236}">
                <a16:creationId xmlns:a16="http://schemas.microsoft.com/office/drawing/2014/main" id="{0FEF6775-AFB7-43EC-BF39-ED3E678B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543550"/>
            <a:ext cx="6286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Live score context supports team decisions and contest engagement.</a:t>
            </a:r>
          </a:p>
        </p:txBody>
      </p:sp>
      <p:sp>
        <p:nvSpPr>
          <p:cNvPr id="27" name="live.b4.dot">
            <a:extLst xmlns:a="http://schemas.openxmlformats.org/drawingml/2006/main">
              <a:ext uri="{FF2B5EF4-FFF2-40B4-BE49-F238E27FC236}">
                <a16:creationId xmlns:a16="http://schemas.microsoft.com/office/drawing/2014/main" id="{77A3CE8D-0165-4673-BCA3-EF700C64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534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8" name="live.b4.text">
            <a:extLst xmlns:a="http://schemas.openxmlformats.org/drawingml/2006/main">
              <a:ext uri="{FF2B5EF4-FFF2-40B4-BE49-F238E27FC236}">
                <a16:creationId xmlns:a16="http://schemas.microsoft.com/office/drawing/2014/main" id="{1C6B0788-3FD0-4E2D-AC1C-CB5741C3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6457950"/>
            <a:ext cx="628650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The design keeps live data visually separate from fantasy selection.</a:t>
            </a:r>
          </a:p>
        </p:txBody>
      </p:sp>
    </p:spTree>
    <p:extLst>
      <p:ext uri="{BB962C8B-B14F-4D97-AF65-F5344CB8AC3E}">
        <p14:creationId xmlns:p14="http://schemas.microsoft.com/office/powerpoint/2010/main" val="159436074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9">
            <a:extLst xmlns:a="http://schemas.openxmlformats.org/drawingml/2006/main">
              <a:ext uri="{FF2B5EF4-FFF2-40B4-BE49-F238E27FC236}">
                <a16:creationId xmlns:a16="http://schemas.microsoft.com/office/drawing/2014/main" id="{8965A7B0-8A9C-4229-8F1A-3E49F967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9.1">
            <a:extLst xmlns:a="http://schemas.openxmlformats.org/drawingml/2006/main">
              <a:ext uri="{FF2B5EF4-FFF2-40B4-BE49-F238E27FC236}">
                <a16:creationId xmlns:a16="http://schemas.microsoft.com/office/drawing/2014/main" id="{8993D0F2-3B12-48E0-8CEE-E95D46BE1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9.2">
            <a:extLst xmlns:a="http://schemas.openxmlformats.org/drawingml/2006/main">
              <a:ext uri="{FF2B5EF4-FFF2-40B4-BE49-F238E27FC236}">
                <a16:creationId xmlns:a16="http://schemas.microsoft.com/office/drawing/2014/main" id="{9E22570A-664E-4391-B953-2988BDCC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9">
            <a:extLst xmlns:a="http://schemas.openxmlformats.org/drawingml/2006/main">
              <a:ext uri="{FF2B5EF4-FFF2-40B4-BE49-F238E27FC236}">
                <a16:creationId xmlns:a16="http://schemas.microsoft.com/office/drawing/2014/main" id="{52AAE86D-AF7B-433E-999A-4029CC1F3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9">
            <a:extLst xmlns:a="http://schemas.openxmlformats.org/drawingml/2006/main">
              <a:ext uri="{FF2B5EF4-FFF2-40B4-BE49-F238E27FC236}">
                <a16:creationId xmlns:a16="http://schemas.microsoft.com/office/drawing/2014/main" id="{2C84287B-5272-46FB-AFEE-819836F0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9">
            <a:extLst xmlns:a="http://schemas.openxmlformats.org/drawingml/2006/main">
              <a:ext uri="{FF2B5EF4-FFF2-40B4-BE49-F238E27FC236}">
                <a16:creationId xmlns:a16="http://schemas.microsoft.com/office/drawing/2014/main" id="{352496DC-94E0-41C8-9C5C-12FD1E41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WATCH PARTY &amp; STREAMING</a:t>
            </a:r>
          </a:p>
        </p:txBody>
      </p:sp>
      <p:sp>
        <p:nvSpPr>
          <p:cNvPr id="7" name="footer.page.9">
            <a:extLst xmlns:a="http://schemas.openxmlformats.org/drawingml/2006/main">
              <a:ext uri="{FF2B5EF4-FFF2-40B4-BE49-F238E27FC236}">
                <a16:creationId xmlns:a16="http://schemas.microsoft.com/office/drawing/2014/main" id="{A38C0381-F9CF-4195-B04E-1C9BBF88F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09</a:t>
            </a:r>
          </a:p>
        </p:txBody>
      </p:sp>
      <p:sp>
        <p:nvSpPr>
          <p:cNvPr id="8" name="label.WATCH PARTY &amp; STREAMING">
            <a:extLst xmlns:a="http://schemas.openxmlformats.org/drawingml/2006/main">
              <a:ext uri="{FF2B5EF4-FFF2-40B4-BE49-F238E27FC236}">
                <a16:creationId xmlns:a16="http://schemas.microsoft.com/office/drawing/2014/main" id="{FDDDCA51-6A50-4895-A843-5D9F1AC8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4143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WATCH PARTY &amp; STREAMING</a:t>
            </a:r>
          </a:p>
        </p:txBody>
      </p:sp>
      <p:sp>
        <p:nvSpPr>
          <p:cNvPr id="9" name="slide-title.9">
            <a:extLst xmlns:a="http://schemas.openxmlformats.org/drawingml/2006/main">
              <a:ext uri="{FF2B5EF4-FFF2-40B4-BE49-F238E27FC236}">
                <a16:creationId xmlns:a16="http://schemas.microsoft.com/office/drawing/2014/main" id="{3482676C-D6F7-4D96-A7B4-BB3988AF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The platform supports both OBS and browser screen sharing</a:t>
            </a:r>
          </a:p>
        </p:txBody>
      </p:sp>
      <p:sp>
        <p:nvSpPr>
          <p:cNvPr id="10" name="slide-subtitle.9">
            <a:extLst xmlns:a="http://schemas.openxmlformats.org/drawingml/2006/main">
              <a:ext uri="{FF2B5EF4-FFF2-40B4-BE49-F238E27FC236}">
                <a16:creationId xmlns:a16="http://schemas.microsoft.com/office/drawing/2014/main" id="{383BCFF9-8810-4801-BF5A-91B3BC2D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watch party module is built for live campus broadcasting and shared viewing.</a:t>
            </a:r>
          </a:p>
        </p:txBody>
      </p:sp>
      <p:sp>
        <p:nvSpPr>
          <p:cNvPr id="11" name="stream.block.0.node">
            <a:extLst xmlns:a="http://schemas.openxmlformats.org/drawingml/2006/main">
              <a:ext uri="{FF2B5EF4-FFF2-40B4-BE49-F238E27FC236}">
                <a16:creationId xmlns:a16="http://schemas.microsoft.com/office/drawing/2014/main" id="{F9F86451-2AC4-4A29-A2BB-5BF2D59C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24350"/>
            <a:ext cx="2857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</p:sp>
      <p:sp>
        <p:nvSpPr>
          <p:cNvPr id="12" name="stream.block.0.accent">
            <a:extLst xmlns:a="http://schemas.openxmlformats.org/drawingml/2006/main">
              <a:ext uri="{FF2B5EF4-FFF2-40B4-BE49-F238E27FC236}">
                <a16:creationId xmlns:a16="http://schemas.microsoft.com/office/drawing/2014/main" id="{4BF39107-67A8-4D50-8871-C90DEAFF4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324350"/>
            <a:ext cx="762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13" name="stream.block.0.label">
            <a:extLst xmlns:a="http://schemas.openxmlformats.org/drawingml/2006/main">
              <a:ext uri="{FF2B5EF4-FFF2-40B4-BE49-F238E27FC236}">
                <a16:creationId xmlns:a16="http://schemas.microsoft.com/office/drawing/2014/main" id="{AC1E2745-CCF0-448B-B24B-99444893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2400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OBS Studio</a:t>
            </a:r>
          </a:p>
        </p:txBody>
      </p:sp>
      <p:sp>
        <p:nvSpPr>
          <p:cNvPr id="14" name="stream.block.0.sub">
            <a:extLst xmlns:a="http://schemas.openxmlformats.org/drawingml/2006/main">
              <a:ext uri="{FF2B5EF4-FFF2-40B4-BE49-F238E27FC236}">
                <a16:creationId xmlns:a16="http://schemas.microsoft.com/office/drawing/2014/main" id="{BEE0F10E-5C39-49B3-867E-BF3AAA5CA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953000"/>
            <a:ext cx="2362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RTMP input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rtmp://host:1935/live</a:t>
            </a:r>
          </a:p>
        </p:txBody>
      </p:sp>
      <p:sp>
        <p:nvSpPr>
          <p:cNvPr id="15" name="stream.arrow.0">
            <a:extLst xmlns:a="http://schemas.openxmlformats.org/drawingml/2006/main">
              <a:ext uri="{FF2B5EF4-FFF2-40B4-BE49-F238E27FC236}">
                <a16:creationId xmlns:a16="http://schemas.microsoft.com/office/drawing/2014/main" id="{2DFC15AC-4850-49E6-8E6B-8A99DC06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768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16" name="stream.block.1.node">
            <a:extLst xmlns:a="http://schemas.openxmlformats.org/drawingml/2006/main">
              <a:ext uri="{FF2B5EF4-FFF2-40B4-BE49-F238E27FC236}">
                <a16:creationId xmlns:a16="http://schemas.microsoft.com/office/drawing/2014/main" id="{F823C4EB-7F5E-4C10-99FB-F0836397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24350"/>
            <a:ext cx="2857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7" name="stream.block.1.accent">
            <a:extLst xmlns:a="http://schemas.openxmlformats.org/drawingml/2006/main">
              <a:ext uri="{FF2B5EF4-FFF2-40B4-BE49-F238E27FC236}">
                <a16:creationId xmlns:a16="http://schemas.microsoft.com/office/drawing/2014/main" id="{0A0BDB4F-85C5-43D6-91F8-098BB550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24350"/>
            <a:ext cx="762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18" name="stream.block.1.label">
            <a:extLst xmlns:a="http://schemas.openxmlformats.org/drawingml/2006/main">
              <a:ext uri="{FF2B5EF4-FFF2-40B4-BE49-F238E27FC236}">
                <a16:creationId xmlns:a16="http://schemas.microsoft.com/office/drawing/2014/main" id="{7C6A7F1D-ACA6-46C7-A61A-724379B9E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33900"/>
            <a:ext cx="2400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Node Media Server</a:t>
            </a:r>
          </a:p>
        </p:txBody>
      </p:sp>
      <p:sp>
        <p:nvSpPr>
          <p:cNvPr id="19" name="stream.block.1.sub">
            <a:extLst xmlns:a="http://schemas.openxmlformats.org/drawingml/2006/main">
              <a:ext uri="{FF2B5EF4-FFF2-40B4-BE49-F238E27FC236}">
                <a16:creationId xmlns:a16="http://schemas.microsoft.com/office/drawing/2014/main" id="{AEFED722-1485-404E-A06F-DA3F8480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953000"/>
            <a:ext cx="2362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Tracks active stream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FLV playback on :8888</a:t>
            </a:r>
          </a:p>
        </p:txBody>
      </p:sp>
      <p:sp>
        <p:nvSpPr>
          <p:cNvPr id="20" name="stream.arrow.1">
            <a:extLst xmlns:a="http://schemas.openxmlformats.org/drawingml/2006/main">
              <a:ext uri="{FF2B5EF4-FFF2-40B4-BE49-F238E27FC236}">
                <a16:creationId xmlns:a16="http://schemas.microsoft.com/office/drawing/2014/main" id="{84AE0EE9-318C-411F-9B92-B7A30B0B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21" name="stream.block.2.node">
            <a:extLst xmlns:a="http://schemas.openxmlformats.org/drawingml/2006/main">
              <a:ext uri="{FF2B5EF4-FFF2-40B4-BE49-F238E27FC236}">
                <a16:creationId xmlns:a16="http://schemas.microsoft.com/office/drawing/2014/main" id="{F4767665-F033-4154-ADA5-5DDE5C2C2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324350"/>
            <a:ext cx="2857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22" name="stream.block.2.accent">
            <a:extLst xmlns:a="http://schemas.openxmlformats.org/drawingml/2006/main">
              <a:ext uri="{FF2B5EF4-FFF2-40B4-BE49-F238E27FC236}">
                <a16:creationId xmlns:a16="http://schemas.microsoft.com/office/drawing/2014/main" id="{351C8AD7-A1AC-4964-9F57-A1DB2999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324350"/>
            <a:ext cx="762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3" name="stream.block.2.label">
            <a:extLst xmlns:a="http://schemas.openxmlformats.org/drawingml/2006/main">
              <a:ext uri="{FF2B5EF4-FFF2-40B4-BE49-F238E27FC236}">
                <a16:creationId xmlns:a16="http://schemas.microsoft.com/office/drawing/2014/main" id="{0543C02B-0CD7-4409-B0FF-CC85360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33900"/>
            <a:ext cx="2400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Watch Party UI</a:t>
            </a:r>
          </a:p>
        </p:txBody>
      </p:sp>
      <p:sp>
        <p:nvSpPr>
          <p:cNvPr id="24" name="stream.block.2.sub">
            <a:extLst xmlns:a="http://schemas.openxmlformats.org/drawingml/2006/main">
              <a:ext uri="{FF2B5EF4-FFF2-40B4-BE49-F238E27FC236}">
                <a16:creationId xmlns:a16="http://schemas.microsoft.com/office/drawing/2014/main" id="{2AB30DA2-899E-47C0-9B7A-24737DAD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953000"/>
            <a:ext cx="2362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Video player, status,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copyable stream settings</a:t>
            </a:r>
          </a:p>
        </p:txBody>
      </p:sp>
      <p:sp>
        <p:nvSpPr>
          <p:cNvPr id="25" name="stream.arrow.2">
            <a:extLst xmlns:a="http://schemas.openxmlformats.org/drawingml/2006/main">
              <a:ext uri="{FF2B5EF4-FFF2-40B4-BE49-F238E27FC236}">
                <a16:creationId xmlns:a16="http://schemas.microsoft.com/office/drawing/2014/main" id="{AB39775A-50B1-4EB5-81E4-547C57C3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0" y="48768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6" name="stream.block.3.node">
            <a:extLst xmlns:a="http://schemas.openxmlformats.org/drawingml/2006/main">
              <a:ext uri="{FF2B5EF4-FFF2-40B4-BE49-F238E27FC236}">
                <a16:creationId xmlns:a16="http://schemas.microsoft.com/office/drawing/2014/main" id="{91DD9CEC-42BA-471D-B54C-2F06E66F7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4324350"/>
            <a:ext cx="2857500" cy="1581150"/>
          </a:xfrm>
          <a:prstGeom xmlns:a="http://schemas.openxmlformats.org/drawingml/2006/main" prst="roundRect">
            <a:avLst>
              <a:gd name="adj" fmla="val 481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7" name="stream.block.3.accent">
            <a:extLst xmlns:a="http://schemas.openxmlformats.org/drawingml/2006/main">
              <a:ext uri="{FF2B5EF4-FFF2-40B4-BE49-F238E27FC236}">
                <a16:creationId xmlns:a16="http://schemas.microsoft.com/office/drawing/2014/main" id="{30450ACB-3250-4EB2-9BAE-C8732EFF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15850" y="4324350"/>
            <a:ext cx="762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8" name="stream.block.3.label">
            <a:extLst xmlns:a="http://schemas.openxmlformats.org/drawingml/2006/main">
              <a:ext uri="{FF2B5EF4-FFF2-40B4-BE49-F238E27FC236}">
                <a16:creationId xmlns:a16="http://schemas.microsoft.com/office/drawing/2014/main" id="{C1EAF57E-BBB1-4490-A1EF-2F28C1A7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533900"/>
            <a:ext cx="2400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Viewers</a:t>
            </a:r>
          </a:p>
        </p:txBody>
      </p:sp>
      <p:sp>
        <p:nvSpPr>
          <p:cNvPr id="29" name="stream.block.3.sub">
            <a:extLst xmlns:a="http://schemas.openxmlformats.org/drawingml/2006/main">
              <a:ext uri="{FF2B5EF4-FFF2-40B4-BE49-F238E27FC236}">
                <a16:creationId xmlns:a16="http://schemas.microsoft.com/office/drawing/2014/main" id="{87395E10-45D9-4D0C-A7AE-3C17D659A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4953000"/>
            <a:ext cx="2362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Socket.IO presence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or WebRTC screen share</a:t>
            </a:r>
          </a:p>
        </p:txBody>
      </p:sp>
      <p:sp>
        <p:nvSpPr>
          <p:cNvPr id="30" name="stream.video">
            <a:extLst xmlns:a="http://schemas.openxmlformats.org/drawingml/2006/main">
              <a:ext uri="{FF2B5EF4-FFF2-40B4-BE49-F238E27FC236}">
                <a16:creationId xmlns:a16="http://schemas.microsoft.com/office/drawing/2014/main" id="{6C1B9470-C180-43BC-B92C-409F7F1F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6724650"/>
            <a:ext cx="7429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31" name="stream.live.dot">
            <a:extLst xmlns:a="http://schemas.openxmlformats.org/drawingml/2006/main">
              <a:ext uri="{FF2B5EF4-FFF2-40B4-BE49-F238E27FC236}">
                <a16:creationId xmlns:a16="http://schemas.microsoft.com/office/drawing/2014/main" id="{FF8ECED6-7EDF-4C47-B6CF-E18571D3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7200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32" name="stream.video.text">
            <a:extLst xmlns:a="http://schemas.openxmlformats.org/drawingml/2006/main">
              <a:ext uri="{FF2B5EF4-FFF2-40B4-BE49-F238E27FC236}">
                <a16:creationId xmlns:a16="http://schemas.microsoft.com/office/drawing/2014/main" id="{B01F8440-5A8D-4944-9C65-83CF3530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7124700"/>
            <a:ext cx="581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FFFF"/>
                </a:solidFill>
              </a:defRPr>
            </a:pPr>
            <a:r>
              <a:t>LIVE WATCH PARTY: OBS stream or direct browser broadcast</a:t>
            </a:r>
          </a:p>
        </p:txBody>
      </p:sp>
      <p:sp>
        <p:nvSpPr>
          <p:cNvPr id="33" name="stream.source">
            <a:extLst xmlns:a="http://schemas.openxmlformats.org/drawingml/2006/main">
              <a:ext uri="{FF2B5EF4-FFF2-40B4-BE49-F238E27FC236}">
                <a16:creationId xmlns:a16="http://schemas.microsoft.com/office/drawing/2014/main" id="{739F558B-AF9E-42E9-AF7B-5C147597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7239000"/>
            <a:ext cx="4953000" cy="5524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1A1AA"/>
                </a:solidFill>
              </a:defRPr>
            </a:pPr>
            <a:r>
              <a:t>Source: WatchParty.jsx, NodeMediaServer setup, and Socket.IO signaling in server.js.</a:t>
            </a:r>
          </a:p>
        </p:txBody>
      </p:sp>
    </p:spTree>
    <p:extLst>
      <p:ext uri="{BB962C8B-B14F-4D97-AF65-F5344CB8AC3E}">
        <p14:creationId xmlns:p14="http://schemas.microsoft.com/office/powerpoint/2010/main" val="206825213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0">
            <a:extLst xmlns:a="http://schemas.openxmlformats.org/drawingml/2006/main">
              <a:ext uri="{FF2B5EF4-FFF2-40B4-BE49-F238E27FC236}">
                <a16:creationId xmlns:a16="http://schemas.microsoft.com/office/drawing/2014/main" id="{957D6F78-4F85-485F-B4EF-BDE9D3F46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0.1">
            <a:extLst xmlns:a="http://schemas.openxmlformats.org/drawingml/2006/main">
              <a:ext uri="{FF2B5EF4-FFF2-40B4-BE49-F238E27FC236}">
                <a16:creationId xmlns:a16="http://schemas.microsoft.com/office/drawing/2014/main" id="{76FAF07F-8B87-45D0-A09D-FB2BF9D1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0.2">
            <a:extLst xmlns:a="http://schemas.openxmlformats.org/drawingml/2006/main">
              <a:ext uri="{FF2B5EF4-FFF2-40B4-BE49-F238E27FC236}">
                <a16:creationId xmlns:a16="http://schemas.microsoft.com/office/drawing/2014/main" id="{9D0E3D0E-BE18-4D61-A61E-231C69B06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0">
            <a:extLst xmlns:a="http://schemas.openxmlformats.org/drawingml/2006/main">
              <a:ext uri="{FF2B5EF4-FFF2-40B4-BE49-F238E27FC236}">
                <a16:creationId xmlns:a16="http://schemas.microsoft.com/office/drawing/2014/main" id="{36EA3CCA-51A2-4BAB-9CDE-31450FC7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0">
            <a:extLst xmlns:a="http://schemas.openxmlformats.org/drawingml/2006/main">
              <a:ext uri="{FF2B5EF4-FFF2-40B4-BE49-F238E27FC236}">
                <a16:creationId xmlns:a16="http://schemas.microsoft.com/office/drawing/2014/main" id="{EC9D4C51-E5EE-45A0-91BF-B977C9525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0">
            <a:extLst xmlns:a="http://schemas.openxmlformats.org/drawingml/2006/main">
              <a:ext uri="{FF2B5EF4-FFF2-40B4-BE49-F238E27FC236}">
                <a16:creationId xmlns:a16="http://schemas.microsoft.com/office/drawing/2014/main" id="{E656228F-0FD3-4320-AB2F-486A956A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AI COACH: CHAMPAK</a:t>
            </a:r>
          </a:p>
        </p:txBody>
      </p:sp>
      <p:sp>
        <p:nvSpPr>
          <p:cNvPr id="7" name="footer.page.10">
            <a:extLst xmlns:a="http://schemas.openxmlformats.org/drawingml/2006/main">
              <a:ext uri="{FF2B5EF4-FFF2-40B4-BE49-F238E27FC236}">
                <a16:creationId xmlns:a16="http://schemas.microsoft.com/office/drawing/2014/main" id="{16DB698B-E7E9-4CD6-B9B3-4580EC02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10</a:t>
            </a:r>
          </a:p>
        </p:txBody>
      </p:sp>
      <p:sp>
        <p:nvSpPr>
          <p:cNvPr id="8" name="label.AI COACH: CHAMPAK">
            <a:extLst xmlns:a="http://schemas.openxmlformats.org/drawingml/2006/main">
              <a:ext uri="{FF2B5EF4-FFF2-40B4-BE49-F238E27FC236}">
                <a16:creationId xmlns:a16="http://schemas.microsoft.com/office/drawing/2014/main" id="{9CD3C43C-9FB2-4680-9F11-AE434B90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1718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AI COACH: CHAMPAK</a:t>
            </a:r>
          </a:p>
        </p:txBody>
      </p:sp>
      <p:sp>
        <p:nvSpPr>
          <p:cNvPr id="9" name="slide-title.10">
            <a:extLst xmlns:a="http://schemas.openxmlformats.org/drawingml/2006/main">
              <a:ext uri="{FF2B5EF4-FFF2-40B4-BE49-F238E27FC236}">
                <a16:creationId xmlns:a16="http://schemas.microsoft.com/office/drawing/2014/main" id="{DA4B4561-0EE1-46CE-ADF1-AC87CCD37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An in-app guide reduces confusion during live play</a:t>
            </a:r>
          </a:p>
        </p:txBody>
      </p:sp>
      <p:sp>
        <p:nvSpPr>
          <p:cNvPr id="10" name="slide-subtitle.10">
            <a:extLst xmlns:a="http://schemas.openxmlformats.org/drawingml/2006/main">
              <a:ext uri="{FF2B5EF4-FFF2-40B4-BE49-F238E27FC236}">
                <a16:creationId xmlns:a16="http://schemas.microsoft.com/office/drawing/2014/main" id="{241F6259-2160-4C51-84D2-3D98AD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Champak answers questions about drafting, scoring, OBS setup, and fantasy strategy.</a:t>
            </a:r>
          </a:p>
        </p:txBody>
      </p:sp>
      <p:sp>
        <p:nvSpPr>
          <p:cNvPr id="11" name="chat.window">
            <a:extLst xmlns:a="http://schemas.openxmlformats.org/drawingml/2006/main">
              <a:ext uri="{FF2B5EF4-FFF2-40B4-BE49-F238E27FC236}">
                <a16:creationId xmlns:a16="http://schemas.microsoft.com/office/drawing/2014/main" id="{EEEC770A-BA81-4F4A-8222-EC4D5D44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43250"/>
            <a:ext cx="5905500" cy="53340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107A"/>
            </a:solidFill>
            <a:prstDash val="solid"/>
          </a:ln>
        </p:spPr>
      </p:sp>
      <p:sp>
        <p:nvSpPr>
          <p:cNvPr id="12" name="chat.header">
            <a:extLst xmlns:a="http://schemas.openxmlformats.org/drawingml/2006/main">
              <a:ext uri="{FF2B5EF4-FFF2-40B4-BE49-F238E27FC236}">
                <a16:creationId xmlns:a16="http://schemas.microsoft.com/office/drawing/2014/main" id="{C041A297-D144-4F07-B8B1-6DB264D49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48615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107A"/>
                </a:solidFill>
              </a:defRPr>
            </a:pPr>
            <a:r>
              <a:t>CHAMPAK  AI ONLINE</a:t>
            </a:r>
          </a:p>
        </p:txBody>
      </p:sp>
      <p:sp>
        <p:nvSpPr>
          <p:cNvPr id="13" name="chat.msg.0">
            <a:extLst xmlns:a="http://schemas.openxmlformats.org/drawingml/2006/main">
              <a:ext uri="{FF2B5EF4-FFF2-40B4-BE49-F238E27FC236}">
                <a16:creationId xmlns:a16="http://schemas.microsoft.com/office/drawing/2014/main" id="{78FCDF56-63ED-47AA-B42F-395B9B78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2291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4288">
            <a:solidFill>
              <a:srgbClr val="A855F7"/>
            </a:solidFill>
            <a:prstDash val="solid"/>
          </a:ln>
        </p:spPr>
      </p:sp>
      <p:sp>
        <p:nvSpPr>
          <p:cNvPr id="14" name="chat.msg.text.0">
            <a:extLst xmlns:a="http://schemas.openxmlformats.org/drawingml/2006/main">
              <a:ext uri="{FF2B5EF4-FFF2-40B4-BE49-F238E27FC236}">
                <a16:creationId xmlns:a16="http://schemas.microsoft.com/office/drawing/2014/main" id="{D6A40C88-E348-4C59-B1A1-167F887D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381500"/>
            <a:ext cx="438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t>Ask me about drafting teams, scoring rules, live streams, or OBS setup.</a:t>
            </a:r>
          </a:p>
        </p:txBody>
      </p:sp>
      <p:sp>
        <p:nvSpPr>
          <p:cNvPr id="15" name="chat.msg.1">
            <a:extLst xmlns:a="http://schemas.openxmlformats.org/drawingml/2006/main">
              <a:ext uri="{FF2B5EF4-FFF2-40B4-BE49-F238E27FC236}">
                <a16:creationId xmlns:a16="http://schemas.microsoft.com/office/drawing/2014/main" id="{287B5FD7-892C-45E3-A3F2-3A6E847C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353050"/>
            <a:ext cx="36766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107A"/>
          </a:solidFill>
          <a:ln xmlns:a="http://schemas.openxmlformats.org/drawingml/2006/main" w="14288">
            <a:solidFill>
              <a:srgbClr val="00E5FF"/>
            </a:solidFill>
            <a:prstDash val="solid"/>
          </a:ln>
        </p:spPr>
      </p:sp>
      <p:sp>
        <p:nvSpPr>
          <p:cNvPr id="16" name="chat.msg.text.1">
            <a:extLst xmlns:a="http://schemas.openxmlformats.org/drawingml/2006/main">
              <a:ext uri="{FF2B5EF4-FFF2-40B4-BE49-F238E27FC236}">
                <a16:creationId xmlns:a16="http://schemas.microsoft.com/office/drawing/2014/main" id="{A0808E36-ACB0-4CFA-A896-CBE9DE8C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505450"/>
            <a:ext cx="32956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t>Tips for picking a Captain?</a:t>
            </a:r>
          </a:p>
        </p:txBody>
      </p:sp>
      <p:sp>
        <p:nvSpPr>
          <p:cNvPr id="17" name="chat.msg.2">
            <a:extLst xmlns:a="http://schemas.openxmlformats.org/drawingml/2006/main">
              <a:ext uri="{FF2B5EF4-FFF2-40B4-BE49-F238E27FC236}">
                <a16:creationId xmlns:a16="http://schemas.microsoft.com/office/drawing/2014/main" id="{75B72CEF-6E68-40C4-A3D1-5FF8DA11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4770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4288">
            <a:solidFill>
              <a:srgbClr val="FF107A"/>
            </a:solidFill>
            <a:prstDash val="solid"/>
          </a:ln>
        </p:spPr>
      </p:sp>
      <p:sp>
        <p:nvSpPr>
          <p:cNvPr id="18" name="chat.msg.text.2">
            <a:extLst xmlns:a="http://schemas.openxmlformats.org/drawingml/2006/main">
              <a:ext uri="{FF2B5EF4-FFF2-40B4-BE49-F238E27FC236}">
                <a16:creationId xmlns:a16="http://schemas.microsoft.com/office/drawing/2014/main" id="{96265434-59FC-400D-9AE9-CD215C31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6629400"/>
            <a:ext cx="438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FFFFF"/>
                </a:solidFill>
              </a:defRPr>
            </a:pPr>
            <a:r>
              <a:t>Pick high-form players with reliable scoring. Captain earns 2x points.</a:t>
            </a:r>
          </a:p>
        </p:txBody>
      </p:sp>
      <p:sp>
        <p:nvSpPr>
          <p:cNvPr id="19" name="ai.backend.title">
            <a:extLst xmlns:a="http://schemas.openxmlformats.org/drawingml/2006/main">
              <a:ext uri="{FF2B5EF4-FFF2-40B4-BE49-F238E27FC236}">
                <a16:creationId xmlns:a16="http://schemas.microsoft.com/office/drawing/2014/main" id="{80827DD2-EE63-4D99-A380-5D19B5B5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5905500" cy="5143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FFFFF"/>
                </a:solidFill>
              </a:defRPr>
            </a:pPr>
            <a:r>
              <a:t>Backend intelligence</a:t>
            </a:r>
          </a:p>
        </p:txBody>
      </p:sp>
      <p:sp>
        <p:nvSpPr>
          <p:cNvPr id="20" name="ai.b1.dot">
            <a:extLst xmlns:a="http://schemas.openxmlformats.org/drawingml/2006/main">
              <a:ext uri="{FF2B5EF4-FFF2-40B4-BE49-F238E27FC236}">
                <a16:creationId xmlns:a16="http://schemas.microsoft.com/office/drawing/2014/main" id="{48ABA953-E356-4A1F-878F-102DBC1C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8387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21" name="ai.b1.text">
            <a:extLst xmlns:a="http://schemas.openxmlformats.org/drawingml/2006/main">
              <a:ext uri="{FF2B5EF4-FFF2-40B4-BE49-F238E27FC236}">
                <a16:creationId xmlns:a16="http://schemas.microsoft.com/office/drawing/2014/main" id="{F5D351A0-7280-4544-86EE-19068BFB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762500"/>
            <a:ext cx="69532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Frontend chat state keeps the experience conversational.</a:t>
            </a:r>
          </a:p>
        </p:txBody>
      </p:sp>
      <p:sp>
        <p:nvSpPr>
          <p:cNvPr id="22" name="ai.b2.dot">
            <a:extLst xmlns:a="http://schemas.openxmlformats.org/drawingml/2006/main">
              <a:ext uri="{FF2B5EF4-FFF2-40B4-BE49-F238E27FC236}">
                <a16:creationId xmlns:a16="http://schemas.microsoft.com/office/drawing/2014/main" id="{8D16C504-9360-47B8-BDDA-F5C53D78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5695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3" name="ai.b2.text">
            <a:extLst xmlns:a="http://schemas.openxmlformats.org/drawingml/2006/main">
              <a:ext uri="{FF2B5EF4-FFF2-40B4-BE49-F238E27FC236}">
                <a16:creationId xmlns:a16="http://schemas.microsoft.com/office/drawing/2014/main" id="{8EED3B9A-43E4-4259-8052-560622C8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619750"/>
            <a:ext cx="69532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Backend /api/chat calls Gemini when API key is available.</a:t>
            </a:r>
          </a:p>
        </p:txBody>
      </p:sp>
      <p:sp>
        <p:nvSpPr>
          <p:cNvPr id="24" name="ai.b3.dot">
            <a:extLst xmlns:a="http://schemas.openxmlformats.org/drawingml/2006/main">
              <a:ext uri="{FF2B5EF4-FFF2-40B4-BE49-F238E27FC236}">
                <a16:creationId xmlns:a16="http://schemas.microsoft.com/office/drawing/2014/main" id="{8C296C6F-7568-46FB-8A82-7F477215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6553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5" name="ai.b3.text">
            <a:extLst xmlns:a="http://schemas.openxmlformats.org/drawingml/2006/main">
              <a:ext uri="{FF2B5EF4-FFF2-40B4-BE49-F238E27FC236}">
                <a16:creationId xmlns:a16="http://schemas.microsoft.com/office/drawing/2014/main" id="{A112D428-AE46-49BD-BB4A-C861D1D5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6477000"/>
            <a:ext cx="69532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Fallback responses keep the demo usable even without AI config.</a:t>
            </a:r>
          </a:p>
        </p:txBody>
      </p:sp>
      <p:sp>
        <p:nvSpPr>
          <p:cNvPr id="26" name="ai.b4.dot">
            <a:extLst xmlns:a="http://schemas.openxmlformats.org/drawingml/2006/main">
              <a:ext uri="{FF2B5EF4-FFF2-40B4-BE49-F238E27FC236}">
                <a16:creationId xmlns:a16="http://schemas.microsoft.com/office/drawing/2014/main" id="{44CF8FFF-5611-458C-8D4B-218D7947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7410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7" name="ai.b4.text">
            <a:extLst xmlns:a="http://schemas.openxmlformats.org/drawingml/2006/main">
              <a:ext uri="{FF2B5EF4-FFF2-40B4-BE49-F238E27FC236}">
                <a16:creationId xmlns:a16="http://schemas.microsoft.com/office/drawing/2014/main" id="{D426117E-C414-4C7C-8CEA-0164A125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7334250"/>
            <a:ext cx="6953250" cy="4572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4F4F5"/>
                </a:solidFill>
              </a:defRPr>
            </a:pPr>
            <a:r>
              <a:t>Suggested questions guide users toward high-value help.</a:t>
            </a:r>
          </a:p>
        </p:txBody>
      </p:sp>
    </p:spTree>
    <p:extLst>
      <p:ext uri="{BB962C8B-B14F-4D97-AF65-F5344CB8AC3E}">
        <p14:creationId xmlns:p14="http://schemas.microsoft.com/office/powerpoint/2010/main" val="48684478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1">
            <a:extLst xmlns:a="http://schemas.openxmlformats.org/drawingml/2006/main">
              <a:ext uri="{FF2B5EF4-FFF2-40B4-BE49-F238E27FC236}">
                <a16:creationId xmlns:a16="http://schemas.microsoft.com/office/drawing/2014/main" id="{0D6E1AEB-33C7-461A-988D-A0B3349A5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1.1">
            <a:extLst xmlns:a="http://schemas.openxmlformats.org/drawingml/2006/main">
              <a:ext uri="{FF2B5EF4-FFF2-40B4-BE49-F238E27FC236}">
                <a16:creationId xmlns:a16="http://schemas.microsoft.com/office/drawing/2014/main" id="{B7D8AE8E-9ACB-4BEC-9B6C-43C042E9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1.2">
            <a:extLst xmlns:a="http://schemas.openxmlformats.org/drawingml/2006/main">
              <a:ext uri="{FF2B5EF4-FFF2-40B4-BE49-F238E27FC236}">
                <a16:creationId xmlns:a16="http://schemas.microsoft.com/office/drawing/2014/main" id="{34C111BC-481D-49F6-8447-DEC34F01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1">
            <a:extLst xmlns:a="http://schemas.openxmlformats.org/drawingml/2006/main">
              <a:ext uri="{FF2B5EF4-FFF2-40B4-BE49-F238E27FC236}">
                <a16:creationId xmlns:a16="http://schemas.microsoft.com/office/drawing/2014/main" id="{63E09B80-0233-4096-9CBD-F01ED76D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1">
            <a:extLst xmlns:a="http://schemas.openxmlformats.org/drawingml/2006/main">
              <a:ext uri="{FF2B5EF4-FFF2-40B4-BE49-F238E27FC236}">
                <a16:creationId xmlns:a16="http://schemas.microsoft.com/office/drawing/2014/main" id="{A54A2C6F-CF85-48B4-950B-3E12FD4C6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1">
            <a:extLst xmlns:a="http://schemas.openxmlformats.org/drawingml/2006/main">
              <a:ext uri="{FF2B5EF4-FFF2-40B4-BE49-F238E27FC236}">
                <a16:creationId xmlns:a16="http://schemas.microsoft.com/office/drawing/2014/main" id="{BCBDAFE9-1E1B-4D90-90E0-46A6F1C6D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ADMIN SCORING WORKFLOW</a:t>
            </a:r>
          </a:p>
        </p:txBody>
      </p:sp>
      <p:sp>
        <p:nvSpPr>
          <p:cNvPr id="7" name="footer.page.11">
            <a:extLst xmlns:a="http://schemas.openxmlformats.org/drawingml/2006/main">
              <a:ext uri="{FF2B5EF4-FFF2-40B4-BE49-F238E27FC236}">
                <a16:creationId xmlns:a16="http://schemas.microsoft.com/office/drawing/2014/main" id="{99A4E33C-4213-421F-944C-AAB3620D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11</a:t>
            </a:r>
          </a:p>
        </p:txBody>
      </p:sp>
      <p:sp>
        <p:nvSpPr>
          <p:cNvPr id="8" name="label.ADMIN SCORING WORKFLOW">
            <a:extLst xmlns:a="http://schemas.openxmlformats.org/drawingml/2006/main">
              <a:ext uri="{FF2B5EF4-FFF2-40B4-BE49-F238E27FC236}">
                <a16:creationId xmlns:a16="http://schemas.microsoft.com/office/drawing/2014/main" id="{C0C56AD2-5DFF-4579-8A95-7DCFD80E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981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ADMIN SCORING WORKFLOW</a:t>
            </a:r>
          </a:p>
        </p:txBody>
      </p:sp>
      <p:sp>
        <p:nvSpPr>
          <p:cNvPr id="9" name="slide-title.11">
            <a:extLst xmlns:a="http://schemas.openxmlformats.org/drawingml/2006/main">
              <a:ext uri="{FF2B5EF4-FFF2-40B4-BE49-F238E27FC236}">
                <a16:creationId xmlns:a16="http://schemas.microsoft.com/office/drawing/2014/main" id="{C1DAF724-EDA6-4EE5-AD81-362C6F2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A scoring log turns real event actions into fantasy points</a:t>
            </a:r>
          </a:p>
        </p:txBody>
      </p:sp>
      <p:sp>
        <p:nvSpPr>
          <p:cNvPr id="10" name="slide-subtitle.11">
            <a:extLst xmlns:a="http://schemas.openxmlformats.org/drawingml/2006/main">
              <a:ext uri="{FF2B5EF4-FFF2-40B4-BE49-F238E27FC236}">
                <a16:creationId xmlns:a16="http://schemas.microsoft.com/office/drawing/2014/main" id="{6AE21117-AC63-4EB9-B2E4-DC8DFAEF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Admins update player performance, which changes leaderboards through stored fantasy entries.</a:t>
            </a:r>
          </a:p>
        </p:txBody>
      </p:sp>
      <p:sp>
        <p:nvSpPr>
          <p:cNvPr id="11" name="admin.step.0">
            <a:extLst xmlns:a="http://schemas.openxmlformats.org/drawingml/2006/main">
              <a:ext uri="{FF2B5EF4-FFF2-40B4-BE49-F238E27FC236}">
                <a16:creationId xmlns:a16="http://schemas.microsoft.com/office/drawing/2014/main" id="{214FA444-6162-41A0-ADE9-73170DEE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3624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12" name="admin.step.text.0">
            <a:extLst xmlns:a="http://schemas.openxmlformats.org/drawingml/2006/main">
              <a:ext uri="{FF2B5EF4-FFF2-40B4-BE49-F238E27FC236}">
                <a16:creationId xmlns:a16="http://schemas.microsoft.com/office/drawing/2014/main" id="{E7884620-1A81-4E4E-B7D4-23EAC56BE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1962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t>Admin selects player</a:t>
            </a:r>
          </a:p>
        </p:txBody>
      </p:sp>
      <p:sp>
        <p:nvSpPr>
          <p:cNvPr id="13" name="admin.arrow.0">
            <a:extLst xmlns:a="http://schemas.openxmlformats.org/drawingml/2006/main">
              <a:ext uri="{FF2B5EF4-FFF2-40B4-BE49-F238E27FC236}">
                <a16:creationId xmlns:a16="http://schemas.microsoft.com/office/drawing/2014/main" id="{23B0D34A-E542-4367-89D5-C8A9226AD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62500"/>
            <a:ext cx="6286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4" name="admin.step.1">
            <a:extLst xmlns:a="http://schemas.openxmlformats.org/drawingml/2006/main">
              <a:ext uri="{FF2B5EF4-FFF2-40B4-BE49-F238E27FC236}">
                <a16:creationId xmlns:a16="http://schemas.microsoft.com/office/drawing/2014/main" id="{F495D3D9-1047-4FE9-A3DA-032E536E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3624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15" name="admin.step.text.1">
            <a:extLst xmlns:a="http://schemas.openxmlformats.org/drawingml/2006/main">
              <a:ext uri="{FF2B5EF4-FFF2-40B4-BE49-F238E27FC236}">
                <a16:creationId xmlns:a16="http://schemas.microsoft.com/office/drawing/2014/main" id="{85CEF5B8-E020-4ADC-9247-9732AFEE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24400"/>
            <a:ext cx="1962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t>Logs action + points</a:t>
            </a:r>
          </a:p>
        </p:txBody>
      </p:sp>
      <p:sp>
        <p:nvSpPr>
          <p:cNvPr id="16" name="admin.arrow.1">
            <a:extLst xmlns:a="http://schemas.openxmlformats.org/drawingml/2006/main">
              <a:ext uri="{FF2B5EF4-FFF2-40B4-BE49-F238E27FC236}">
                <a16:creationId xmlns:a16="http://schemas.microsoft.com/office/drawing/2014/main" id="{F5651BBB-8D86-4F7C-A450-B2DF583B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62500"/>
            <a:ext cx="6286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7" name="admin.step.2">
            <a:extLst xmlns:a="http://schemas.openxmlformats.org/drawingml/2006/main">
              <a:ext uri="{FF2B5EF4-FFF2-40B4-BE49-F238E27FC236}">
                <a16:creationId xmlns:a16="http://schemas.microsoft.com/office/drawing/2014/main" id="{EDA46111-13FA-40B0-95C1-198165833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624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8" name="admin.step.text.2">
            <a:extLst xmlns:a="http://schemas.openxmlformats.org/drawingml/2006/main">
              <a:ext uri="{FF2B5EF4-FFF2-40B4-BE49-F238E27FC236}">
                <a16:creationId xmlns:a16="http://schemas.microsoft.com/office/drawing/2014/main" id="{794D7758-5B28-4F43-8F0D-3D6777E6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724400"/>
            <a:ext cx="1962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t>Player total updates</a:t>
            </a:r>
          </a:p>
        </p:txBody>
      </p:sp>
      <p:sp>
        <p:nvSpPr>
          <p:cNvPr id="19" name="admin.arrow.2">
            <a:extLst xmlns:a="http://schemas.openxmlformats.org/drawingml/2006/main">
              <a:ext uri="{FF2B5EF4-FFF2-40B4-BE49-F238E27FC236}">
                <a16:creationId xmlns:a16="http://schemas.microsoft.com/office/drawing/2014/main" id="{CCCBA268-B62F-4CE1-9DD9-AE28F52B1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4762500"/>
            <a:ext cx="6286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20" name="admin.step.3">
            <a:extLst xmlns:a="http://schemas.openxmlformats.org/drawingml/2006/main">
              <a:ext uri="{FF2B5EF4-FFF2-40B4-BE49-F238E27FC236}">
                <a16:creationId xmlns:a16="http://schemas.microsoft.com/office/drawing/2014/main" id="{EE518EF9-E269-48E9-BC79-0FCD76C71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43624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A855F7"/>
            </a:solidFill>
            <a:prstDash val="solid"/>
          </a:ln>
        </p:spPr>
      </p:sp>
      <p:sp>
        <p:nvSpPr>
          <p:cNvPr id="21" name="admin.step.text.3">
            <a:extLst xmlns:a="http://schemas.openxmlformats.org/drawingml/2006/main">
              <a:ext uri="{FF2B5EF4-FFF2-40B4-BE49-F238E27FC236}">
                <a16:creationId xmlns:a16="http://schemas.microsoft.com/office/drawing/2014/main" id="{2D88643B-BE96-441E-AF77-B6DFAAC6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4724400"/>
            <a:ext cx="1962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t>Teams recalculate</a:t>
            </a:r>
          </a:p>
        </p:txBody>
      </p:sp>
      <p:sp>
        <p:nvSpPr>
          <p:cNvPr id="22" name="admin.arrow.3">
            <a:extLst xmlns:a="http://schemas.openxmlformats.org/drawingml/2006/main">
              <a:ext uri="{FF2B5EF4-FFF2-40B4-BE49-F238E27FC236}">
                <a16:creationId xmlns:a16="http://schemas.microsoft.com/office/drawing/2014/main" id="{2157101A-845F-4BDF-B6A1-412D390B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0" y="4762500"/>
            <a:ext cx="62865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23" name="admin.step.4">
            <a:extLst xmlns:a="http://schemas.openxmlformats.org/drawingml/2006/main">
              <a:ext uri="{FF2B5EF4-FFF2-40B4-BE49-F238E27FC236}">
                <a16:creationId xmlns:a16="http://schemas.microsoft.com/office/drawing/2014/main" id="{4F6C1419-9ECE-4B91-9CB7-C8DA055A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2700" y="4362450"/>
            <a:ext cx="238125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4" name="admin.step.text.4">
            <a:extLst xmlns:a="http://schemas.openxmlformats.org/drawingml/2006/main">
              <a:ext uri="{FF2B5EF4-FFF2-40B4-BE49-F238E27FC236}">
                <a16:creationId xmlns:a16="http://schemas.microsoft.com/office/drawing/2014/main" id="{E398287C-FE40-4B3E-8EE9-CF23C5B9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4724400"/>
            <a:ext cx="19621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t>Leaderboard shifts</a:t>
            </a:r>
          </a:p>
        </p:txBody>
      </p:sp>
      <p:sp>
        <p:nvSpPr>
          <p:cNvPr id="25" name="admin.log.panel">
            <a:extLst xmlns:a="http://schemas.openxmlformats.org/drawingml/2006/main">
              <a:ext uri="{FF2B5EF4-FFF2-40B4-BE49-F238E27FC236}">
                <a16:creationId xmlns:a16="http://schemas.microsoft.com/office/drawing/2014/main" id="{EF986837-4214-4C41-BDE6-6503FD5F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705600"/>
            <a:ext cx="92583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26" name="admin.log.text">
            <a:extLst xmlns:a="http://schemas.openxmlformats.org/drawingml/2006/main">
              <a:ext uri="{FF2B5EF4-FFF2-40B4-BE49-F238E27FC236}">
                <a16:creationId xmlns:a16="http://schemas.microsoft.com/office/drawing/2014/main" id="{C7B23A2A-AEA8-4B22-A29E-FEB064DD9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7124700"/>
            <a:ext cx="838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4F4F5"/>
                </a:solidFill>
              </a:defRPr>
            </a:pPr>
            <a:r>
              <a:t>PerformanceLog stores playerId, action, pointsAdded, notes, and timestamp.</a:t>
            </a:r>
          </a:p>
        </p:txBody>
      </p:sp>
    </p:spTree>
    <p:extLst>
      <p:ext uri="{BB962C8B-B14F-4D97-AF65-F5344CB8AC3E}">
        <p14:creationId xmlns:p14="http://schemas.microsoft.com/office/powerpoint/2010/main" val="12026458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2">
            <a:extLst xmlns:a="http://schemas.openxmlformats.org/drawingml/2006/main">
              <a:ext uri="{FF2B5EF4-FFF2-40B4-BE49-F238E27FC236}">
                <a16:creationId xmlns:a16="http://schemas.microsoft.com/office/drawing/2014/main" id="{1521CE19-2AF4-41E2-A262-BECCC3987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2.1">
            <a:extLst xmlns:a="http://schemas.openxmlformats.org/drawingml/2006/main">
              <a:ext uri="{FF2B5EF4-FFF2-40B4-BE49-F238E27FC236}">
                <a16:creationId xmlns:a16="http://schemas.microsoft.com/office/drawing/2014/main" id="{4A745D98-0C45-4739-A690-79FF3AC3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2.2">
            <a:extLst xmlns:a="http://schemas.openxmlformats.org/drawingml/2006/main">
              <a:ext uri="{FF2B5EF4-FFF2-40B4-BE49-F238E27FC236}">
                <a16:creationId xmlns:a16="http://schemas.microsoft.com/office/drawing/2014/main" id="{844F716A-2D8C-4C92-8FE3-3335A7EFF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2">
            <a:extLst xmlns:a="http://schemas.openxmlformats.org/drawingml/2006/main">
              <a:ext uri="{FF2B5EF4-FFF2-40B4-BE49-F238E27FC236}">
                <a16:creationId xmlns:a16="http://schemas.microsoft.com/office/drawing/2014/main" id="{D9960AD7-F526-439E-B3FB-55927EEA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2">
            <a:extLst xmlns:a="http://schemas.openxmlformats.org/drawingml/2006/main">
              <a:ext uri="{FF2B5EF4-FFF2-40B4-BE49-F238E27FC236}">
                <a16:creationId xmlns:a16="http://schemas.microsoft.com/office/drawing/2014/main" id="{89F015D2-3F43-49AA-9DFE-71DD541BD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2">
            <a:extLst xmlns:a="http://schemas.openxmlformats.org/drawingml/2006/main">
              <a:ext uri="{FF2B5EF4-FFF2-40B4-BE49-F238E27FC236}">
                <a16:creationId xmlns:a16="http://schemas.microsoft.com/office/drawing/2014/main" id="{3E20B83B-4C6B-4663-9EFB-4DB0ADE5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SYSTEM ARCHITECTURE</a:t>
            </a:r>
          </a:p>
        </p:txBody>
      </p:sp>
      <p:sp>
        <p:nvSpPr>
          <p:cNvPr id="7" name="footer.page.12">
            <a:extLst xmlns:a="http://schemas.openxmlformats.org/drawingml/2006/main">
              <a:ext uri="{FF2B5EF4-FFF2-40B4-BE49-F238E27FC236}">
                <a16:creationId xmlns:a16="http://schemas.microsoft.com/office/drawing/2014/main" id="{8B0D6D6F-4F0A-44B0-9CB4-4C208C68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12</a:t>
            </a:r>
          </a:p>
        </p:txBody>
      </p:sp>
      <p:sp>
        <p:nvSpPr>
          <p:cNvPr id="8" name="label.SYSTEM ARCHITECTURE">
            <a:extLst xmlns:a="http://schemas.openxmlformats.org/drawingml/2006/main">
              <a:ext uri="{FF2B5EF4-FFF2-40B4-BE49-F238E27FC236}">
                <a16:creationId xmlns:a16="http://schemas.microsoft.com/office/drawing/2014/main" id="{26ACB0D5-92CF-4612-920A-0C40E9E44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34956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SYSTEM ARCHITECTURE</a:t>
            </a:r>
          </a:p>
        </p:txBody>
      </p:sp>
      <p:sp>
        <p:nvSpPr>
          <p:cNvPr id="9" name="slide-title.12">
            <a:extLst xmlns:a="http://schemas.openxmlformats.org/drawingml/2006/main">
              <a:ext uri="{FF2B5EF4-FFF2-40B4-BE49-F238E27FC236}">
                <a16:creationId xmlns:a16="http://schemas.microsoft.com/office/drawing/2014/main" id="{53BEF473-F8E7-4071-8CA7-58AFF3D0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React UI, Express APIs, real-time services, and data storage</a:t>
            </a:r>
          </a:p>
        </p:txBody>
      </p:sp>
      <p:sp>
        <p:nvSpPr>
          <p:cNvPr id="10" name="slide-subtitle.12">
            <a:extLst xmlns:a="http://schemas.openxmlformats.org/drawingml/2006/main">
              <a:ext uri="{FF2B5EF4-FFF2-40B4-BE49-F238E27FC236}">
                <a16:creationId xmlns:a16="http://schemas.microsoft.com/office/drawing/2014/main" id="{95C37E48-43CC-4D91-8DD7-84BB1402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stack separates user experience, application logic, live signaling, streaming, AI, and persistence.</a:t>
            </a:r>
          </a:p>
        </p:txBody>
      </p:sp>
      <p:sp>
        <p:nvSpPr>
          <p:cNvPr id="11" name="arch.frontend.node">
            <a:extLst xmlns:a="http://schemas.openxmlformats.org/drawingml/2006/main">
              <a:ext uri="{FF2B5EF4-FFF2-40B4-BE49-F238E27FC236}">
                <a16:creationId xmlns:a16="http://schemas.microsoft.com/office/drawing/2014/main" id="{CEEDEFE3-6179-47E3-8D54-A5A1E2E2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14750"/>
            <a:ext cx="4095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12" name="arch.frontend.accent">
            <a:extLst xmlns:a="http://schemas.openxmlformats.org/drawingml/2006/main">
              <a:ext uri="{FF2B5EF4-FFF2-40B4-BE49-F238E27FC236}">
                <a16:creationId xmlns:a16="http://schemas.microsoft.com/office/drawing/2014/main" id="{48014DE3-6C56-47A4-A125-0768DDFA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14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3" name="arch.frontend.label">
            <a:extLst xmlns:a="http://schemas.openxmlformats.org/drawingml/2006/main">
              <a:ext uri="{FF2B5EF4-FFF2-40B4-BE49-F238E27FC236}">
                <a16:creationId xmlns:a16="http://schemas.microsoft.com/office/drawing/2014/main" id="{5D854FC6-DACC-48C4-B3E0-7C16A3C29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243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React + Vite frontend</a:t>
            </a:r>
          </a:p>
        </p:txBody>
      </p:sp>
      <p:sp>
        <p:nvSpPr>
          <p:cNvPr id="14" name="arch.frontend.sub">
            <a:extLst xmlns:a="http://schemas.openxmlformats.org/drawingml/2006/main">
              <a:ext uri="{FF2B5EF4-FFF2-40B4-BE49-F238E27FC236}">
                <a16:creationId xmlns:a16="http://schemas.microsoft.com/office/drawing/2014/main" id="{AB9856B0-0808-4CFA-A516-78ABB8A1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43400"/>
            <a:ext cx="36004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Routes: Dashboard, Match Detail, Create Team, Live, Watch Party, Leaderboard, Admin, Auth</a:t>
            </a:r>
          </a:p>
        </p:txBody>
      </p:sp>
      <p:sp>
        <p:nvSpPr>
          <p:cNvPr id="15" name="arch.api.node">
            <a:extLst xmlns:a="http://schemas.openxmlformats.org/drawingml/2006/main">
              <a:ext uri="{FF2B5EF4-FFF2-40B4-BE49-F238E27FC236}">
                <a16:creationId xmlns:a16="http://schemas.microsoft.com/office/drawing/2014/main" id="{F9CB5877-F6D2-41FB-BF2D-66071089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14750"/>
            <a:ext cx="4095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6" name="arch.api.accent">
            <a:extLst xmlns:a="http://schemas.openxmlformats.org/drawingml/2006/main">
              <a:ext uri="{FF2B5EF4-FFF2-40B4-BE49-F238E27FC236}">
                <a16:creationId xmlns:a16="http://schemas.microsoft.com/office/drawing/2014/main" id="{D76EA912-D203-44D7-BC50-B38BAC1F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714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17" name="arch.api.label">
            <a:extLst xmlns:a="http://schemas.openxmlformats.org/drawingml/2006/main">
              <a:ext uri="{FF2B5EF4-FFF2-40B4-BE49-F238E27FC236}">
                <a16:creationId xmlns:a16="http://schemas.microsoft.com/office/drawing/2014/main" id="{E6581CD8-B049-4EE2-8F4B-4D3BEB520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924300"/>
            <a:ext cx="3638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Express backend</a:t>
            </a:r>
          </a:p>
        </p:txBody>
      </p:sp>
      <p:sp>
        <p:nvSpPr>
          <p:cNvPr id="18" name="arch.api.sub">
            <a:extLst xmlns:a="http://schemas.openxmlformats.org/drawingml/2006/main">
              <a:ext uri="{FF2B5EF4-FFF2-40B4-BE49-F238E27FC236}">
                <a16:creationId xmlns:a16="http://schemas.microsoft.com/office/drawing/2014/main" id="{DEF4C2F3-0AD9-48EE-BE45-57B0B3D3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343400"/>
            <a:ext cx="36004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REST APIs, JWT auth, contest joins, team creation, scoring logs</a:t>
            </a:r>
          </a:p>
        </p:txBody>
      </p:sp>
      <p:sp>
        <p:nvSpPr>
          <p:cNvPr id="19" name="arch.db.node">
            <a:extLst xmlns:a="http://schemas.openxmlformats.org/drawingml/2006/main">
              <a:ext uri="{FF2B5EF4-FFF2-40B4-BE49-F238E27FC236}">
                <a16:creationId xmlns:a16="http://schemas.microsoft.com/office/drawing/2014/main" id="{F5258668-A68D-4AB0-8E7E-7236F327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3714750"/>
            <a:ext cx="3714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20" name="arch.db.accent">
            <a:extLst xmlns:a="http://schemas.openxmlformats.org/drawingml/2006/main">
              <a:ext uri="{FF2B5EF4-FFF2-40B4-BE49-F238E27FC236}">
                <a16:creationId xmlns:a16="http://schemas.microsoft.com/office/drawing/2014/main" id="{3288ACC8-DFCA-4C2D-84B1-F2DDCB5C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3714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1" name="arch.db.label">
            <a:extLst xmlns:a="http://schemas.openxmlformats.org/drawingml/2006/main">
              <a:ext uri="{FF2B5EF4-FFF2-40B4-BE49-F238E27FC236}">
                <a16:creationId xmlns:a16="http://schemas.microsoft.com/office/drawing/2014/main" id="{F069027A-8226-4A14-B74F-B40C81A9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0" y="3924300"/>
            <a:ext cx="3257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Prisma + SQLite</a:t>
            </a:r>
          </a:p>
        </p:txBody>
      </p:sp>
      <p:sp>
        <p:nvSpPr>
          <p:cNvPr id="22" name="arch.db.sub">
            <a:extLst xmlns:a="http://schemas.openxmlformats.org/drawingml/2006/main">
              <a:ext uri="{FF2B5EF4-FFF2-40B4-BE49-F238E27FC236}">
                <a16:creationId xmlns:a16="http://schemas.microsoft.com/office/drawing/2014/main" id="{9616A265-E777-4CBC-8196-2EBC8D5F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82600" y="4343400"/>
            <a:ext cx="32194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Users, players, matches, contests, teams, entries, logs</a:t>
            </a:r>
          </a:p>
        </p:txBody>
      </p:sp>
      <p:sp>
        <p:nvSpPr>
          <p:cNvPr id="23" name="arch.arrow.1">
            <a:extLst xmlns:a="http://schemas.openxmlformats.org/drawingml/2006/main">
              <a:ext uri="{FF2B5EF4-FFF2-40B4-BE49-F238E27FC236}">
                <a16:creationId xmlns:a16="http://schemas.microsoft.com/office/drawing/2014/main" id="{E13F8C34-5314-40FD-81F9-EB20F7BBD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05300"/>
            <a:ext cx="1219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24" name="arch.arrow.2">
            <a:extLst xmlns:a="http://schemas.openxmlformats.org/drawingml/2006/main">
              <a:ext uri="{FF2B5EF4-FFF2-40B4-BE49-F238E27FC236}">
                <a16:creationId xmlns:a16="http://schemas.microsoft.com/office/drawing/2014/main" id="{19C31FA7-A2E0-4EBA-81F6-C1493820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9050" y="4305300"/>
            <a:ext cx="1219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25" name="arch.socket.node">
            <a:extLst xmlns:a="http://schemas.openxmlformats.org/drawingml/2006/main">
              <a:ext uri="{FF2B5EF4-FFF2-40B4-BE49-F238E27FC236}">
                <a16:creationId xmlns:a16="http://schemas.microsoft.com/office/drawing/2014/main" id="{A212EFBF-DC35-46DC-AFB2-19BD6AACC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6496050"/>
            <a:ext cx="3429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6" name="arch.socket.accent">
            <a:extLst xmlns:a="http://schemas.openxmlformats.org/drawingml/2006/main">
              <a:ext uri="{FF2B5EF4-FFF2-40B4-BE49-F238E27FC236}">
                <a16:creationId xmlns:a16="http://schemas.microsoft.com/office/drawing/2014/main" id="{C4060F08-6A4E-4FF3-9117-F14AC408E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6496050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7" name="arch.socket.label">
            <a:extLst xmlns:a="http://schemas.openxmlformats.org/drawingml/2006/main">
              <a:ext uri="{FF2B5EF4-FFF2-40B4-BE49-F238E27FC236}">
                <a16:creationId xmlns:a16="http://schemas.microsoft.com/office/drawing/2014/main" id="{2BE31085-8321-4DBA-AF7F-610DB5DAA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6705600"/>
            <a:ext cx="2971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Socket.IO</a:t>
            </a:r>
          </a:p>
        </p:txBody>
      </p:sp>
      <p:sp>
        <p:nvSpPr>
          <p:cNvPr id="28" name="arch.socket.sub">
            <a:extLst xmlns:a="http://schemas.openxmlformats.org/drawingml/2006/main">
              <a:ext uri="{FF2B5EF4-FFF2-40B4-BE49-F238E27FC236}">
                <a16:creationId xmlns:a16="http://schemas.microsoft.com/office/drawing/2014/main" id="{7217893D-6FB9-4510-8712-3D2D1CE4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7124700"/>
            <a:ext cx="293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WebRTC signaling and watch party presence</a:t>
            </a:r>
          </a:p>
        </p:txBody>
      </p:sp>
      <p:sp>
        <p:nvSpPr>
          <p:cNvPr id="29" name="arch.media.node">
            <a:extLst xmlns:a="http://schemas.openxmlformats.org/drawingml/2006/main">
              <a:ext uri="{FF2B5EF4-FFF2-40B4-BE49-F238E27FC236}">
                <a16:creationId xmlns:a16="http://schemas.microsoft.com/office/drawing/2014/main" id="{1F95F8A8-DC9B-42A6-A930-E3C6A411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496050"/>
            <a:ext cx="3429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</p:sp>
      <p:sp>
        <p:nvSpPr>
          <p:cNvPr id="30" name="arch.media.accent">
            <a:extLst xmlns:a="http://schemas.openxmlformats.org/drawingml/2006/main">
              <a:ext uri="{FF2B5EF4-FFF2-40B4-BE49-F238E27FC236}">
                <a16:creationId xmlns:a16="http://schemas.microsoft.com/office/drawing/2014/main" id="{F7AE946E-7C81-4256-99F2-D536DD56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6496050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31" name="arch.media.label">
            <a:extLst xmlns:a="http://schemas.openxmlformats.org/drawingml/2006/main">
              <a:ext uri="{FF2B5EF4-FFF2-40B4-BE49-F238E27FC236}">
                <a16:creationId xmlns:a16="http://schemas.microsoft.com/office/drawing/2014/main" id="{8C5B0D73-5CBD-4E10-B085-99BC7C34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6705600"/>
            <a:ext cx="2971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Node Media Server</a:t>
            </a:r>
          </a:p>
        </p:txBody>
      </p:sp>
      <p:sp>
        <p:nvSpPr>
          <p:cNvPr id="32" name="arch.media.sub">
            <a:extLst xmlns:a="http://schemas.openxmlformats.org/drawingml/2006/main">
              <a:ext uri="{FF2B5EF4-FFF2-40B4-BE49-F238E27FC236}">
                <a16:creationId xmlns:a16="http://schemas.microsoft.com/office/drawing/2014/main" id="{6AB762E4-1D7C-4E4A-9DBB-4FD3DC2B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7124700"/>
            <a:ext cx="293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RTMP ingest and HTTP-FLV playback</a:t>
            </a:r>
          </a:p>
        </p:txBody>
      </p:sp>
      <p:sp>
        <p:nvSpPr>
          <p:cNvPr id="33" name="arch.ai.node">
            <a:extLst xmlns:a="http://schemas.openxmlformats.org/drawingml/2006/main">
              <a:ext uri="{FF2B5EF4-FFF2-40B4-BE49-F238E27FC236}">
                <a16:creationId xmlns:a16="http://schemas.microsoft.com/office/drawing/2014/main" id="{002DB243-B5A8-42A1-A988-692FF5D4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6496050"/>
            <a:ext cx="34290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A855F7"/>
            </a:solidFill>
            <a:prstDash val="solid"/>
          </a:ln>
        </p:spPr>
      </p:sp>
      <p:sp>
        <p:nvSpPr>
          <p:cNvPr id="34" name="arch.ai.accent">
            <a:extLst xmlns:a="http://schemas.openxmlformats.org/drawingml/2006/main">
              <a:ext uri="{FF2B5EF4-FFF2-40B4-BE49-F238E27FC236}">
                <a16:creationId xmlns:a16="http://schemas.microsoft.com/office/drawing/2014/main" id="{C9BAF273-9757-499F-A14F-7AEF1EC0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34800" y="6496050"/>
            <a:ext cx="76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35" name="arch.ai.label">
            <a:extLst xmlns:a="http://schemas.openxmlformats.org/drawingml/2006/main">
              <a:ext uri="{FF2B5EF4-FFF2-40B4-BE49-F238E27FC236}">
                <a16:creationId xmlns:a16="http://schemas.microsoft.com/office/drawing/2014/main" id="{2148E872-9FC6-4749-BD72-63DDF6247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6705600"/>
            <a:ext cx="2971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Gemini integration</a:t>
            </a:r>
          </a:p>
        </p:txBody>
      </p:sp>
      <p:sp>
        <p:nvSpPr>
          <p:cNvPr id="36" name="arch.ai.sub">
            <a:extLst xmlns:a="http://schemas.openxmlformats.org/drawingml/2006/main">
              <a:ext uri="{FF2B5EF4-FFF2-40B4-BE49-F238E27FC236}">
                <a16:creationId xmlns:a16="http://schemas.microsoft.com/office/drawing/2014/main" id="{56850A5C-ECEF-43C1-9195-8410EA5A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7124700"/>
            <a:ext cx="293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AI coach responses through /api/chat</a:t>
            </a:r>
          </a:p>
        </p:txBody>
      </p:sp>
      <p:sp>
        <p:nvSpPr>
          <p:cNvPr id="37" name="arch.caption">
            <a:extLst xmlns:a="http://schemas.openxmlformats.org/drawingml/2006/main">
              <a:ext uri="{FF2B5EF4-FFF2-40B4-BE49-F238E27FC236}">
                <a16:creationId xmlns:a16="http://schemas.microsoft.com/office/drawing/2014/main" id="{476BBD99-F3D4-4D11-B2C7-3C57528C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8115300"/>
            <a:ext cx="123825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1A1AA"/>
                </a:solidFill>
              </a:defRPr>
            </a:pPr>
            <a:r>
              <a:t>Production build serves the React app from the backend, with API and live services sharing the same Node server.</a:t>
            </a:r>
          </a:p>
        </p:txBody>
      </p:sp>
    </p:spTree>
    <p:extLst>
      <p:ext uri="{BB962C8B-B14F-4D97-AF65-F5344CB8AC3E}">
        <p14:creationId xmlns:p14="http://schemas.microsoft.com/office/powerpoint/2010/main" val="47707918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3">
            <a:extLst xmlns:a="http://schemas.openxmlformats.org/drawingml/2006/main">
              <a:ext uri="{FF2B5EF4-FFF2-40B4-BE49-F238E27FC236}">
                <a16:creationId xmlns:a16="http://schemas.microsoft.com/office/drawing/2014/main" id="{93B7E5EB-CB32-4BFA-BB39-E789CF9A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3.1">
            <a:extLst xmlns:a="http://schemas.openxmlformats.org/drawingml/2006/main">
              <a:ext uri="{FF2B5EF4-FFF2-40B4-BE49-F238E27FC236}">
                <a16:creationId xmlns:a16="http://schemas.microsoft.com/office/drawing/2014/main" id="{67842C99-172F-45F2-AD8E-1937C931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3.2">
            <a:extLst xmlns:a="http://schemas.openxmlformats.org/drawingml/2006/main">
              <a:ext uri="{FF2B5EF4-FFF2-40B4-BE49-F238E27FC236}">
                <a16:creationId xmlns:a16="http://schemas.microsoft.com/office/drawing/2014/main" id="{7CE57BF5-DBB0-4688-BBA5-1B6F8EAA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3">
            <a:extLst xmlns:a="http://schemas.openxmlformats.org/drawingml/2006/main">
              <a:ext uri="{FF2B5EF4-FFF2-40B4-BE49-F238E27FC236}">
                <a16:creationId xmlns:a16="http://schemas.microsoft.com/office/drawing/2014/main" id="{4E04E364-269B-419A-A133-A4E8CD748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3">
            <a:extLst xmlns:a="http://schemas.openxmlformats.org/drawingml/2006/main">
              <a:ext uri="{FF2B5EF4-FFF2-40B4-BE49-F238E27FC236}">
                <a16:creationId xmlns:a16="http://schemas.microsoft.com/office/drawing/2014/main" id="{6C0D0479-8DBE-4098-A8C0-205EE07E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3">
            <a:extLst xmlns:a="http://schemas.openxmlformats.org/drawingml/2006/main">
              <a:ext uri="{FF2B5EF4-FFF2-40B4-BE49-F238E27FC236}">
                <a16:creationId xmlns:a16="http://schemas.microsoft.com/office/drawing/2014/main" id="{822D4D89-3D78-4853-8769-F56486362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DATABASE MODEL</a:t>
            </a:r>
          </a:p>
        </p:txBody>
      </p:sp>
      <p:sp>
        <p:nvSpPr>
          <p:cNvPr id="7" name="footer.page.13">
            <a:extLst xmlns:a="http://schemas.openxmlformats.org/drawingml/2006/main">
              <a:ext uri="{FF2B5EF4-FFF2-40B4-BE49-F238E27FC236}">
                <a16:creationId xmlns:a16="http://schemas.microsoft.com/office/drawing/2014/main" id="{CBFD343D-2864-446D-A159-52E3AFD52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13</a:t>
            </a:r>
          </a:p>
        </p:txBody>
      </p:sp>
      <p:sp>
        <p:nvSpPr>
          <p:cNvPr id="8" name="label.DATABASE MODEL">
            <a:extLst xmlns:a="http://schemas.openxmlformats.org/drawingml/2006/main">
              <a:ext uri="{FF2B5EF4-FFF2-40B4-BE49-F238E27FC236}">
                <a16:creationId xmlns:a16="http://schemas.microsoft.com/office/drawing/2014/main" id="{B98326DD-ABCB-4628-91CC-060195A94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686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DATABASE MODEL</a:t>
            </a:r>
          </a:p>
        </p:txBody>
      </p:sp>
      <p:sp>
        <p:nvSpPr>
          <p:cNvPr id="9" name="slide-title.13">
            <a:extLst xmlns:a="http://schemas.openxmlformats.org/drawingml/2006/main">
              <a:ext uri="{FF2B5EF4-FFF2-40B4-BE49-F238E27FC236}">
                <a16:creationId xmlns:a16="http://schemas.microsoft.com/office/drawing/2014/main" id="{C833EC47-28AE-49E9-8F0C-15ECEF23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The schema supports fantasy play around matches and contests</a:t>
            </a:r>
          </a:p>
        </p:txBody>
      </p:sp>
      <p:sp>
        <p:nvSpPr>
          <p:cNvPr id="10" name="slide-subtitle.13">
            <a:extLst xmlns:a="http://schemas.openxmlformats.org/drawingml/2006/main">
              <a:ext uri="{FF2B5EF4-FFF2-40B4-BE49-F238E27FC236}">
                <a16:creationId xmlns:a16="http://schemas.microsoft.com/office/drawing/2014/main" id="{53C76796-5482-483F-8459-5325CC41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Prisma models connect users, players, teams, contests, entries, and performance logs.</a:t>
            </a:r>
          </a:p>
        </p:txBody>
      </p:sp>
      <p:sp>
        <p:nvSpPr>
          <p:cNvPr id="11" name="db.entity.0.node">
            <a:extLst xmlns:a="http://schemas.openxmlformats.org/drawingml/2006/main">
              <a:ext uri="{FF2B5EF4-FFF2-40B4-BE49-F238E27FC236}">
                <a16:creationId xmlns:a16="http://schemas.microsoft.com/office/drawing/2014/main" id="{0CA0E8CB-3174-4CFD-8986-94824622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12" name="db.entity.0.accent">
            <a:extLst xmlns:a="http://schemas.openxmlformats.org/drawingml/2006/main">
              <a:ext uri="{FF2B5EF4-FFF2-40B4-BE49-F238E27FC236}">
                <a16:creationId xmlns:a16="http://schemas.microsoft.com/office/drawing/2014/main" id="{305400C0-1A50-4D7C-B40C-7F1E49C2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14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3" name="db.entity.0.label">
            <a:extLst xmlns:a="http://schemas.openxmlformats.org/drawingml/2006/main">
              <a:ext uri="{FF2B5EF4-FFF2-40B4-BE49-F238E27FC236}">
                <a16:creationId xmlns:a16="http://schemas.microsoft.com/office/drawing/2014/main" id="{D715CBE0-2331-4CC0-AE3C-A546051E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924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User</a:t>
            </a:r>
          </a:p>
        </p:txBody>
      </p:sp>
      <p:sp>
        <p:nvSpPr>
          <p:cNvPr id="14" name="db.entity.0.sub">
            <a:extLst xmlns:a="http://schemas.openxmlformats.org/drawingml/2006/main">
              <a:ext uri="{FF2B5EF4-FFF2-40B4-BE49-F238E27FC236}">
                <a16:creationId xmlns:a16="http://schemas.microsoft.com/office/drawing/2014/main" id="{372C3AE6-7114-44F9-9319-74360725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wallet, rank,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totalPoints</a:t>
            </a:r>
          </a:p>
        </p:txBody>
      </p:sp>
      <p:sp>
        <p:nvSpPr>
          <p:cNvPr id="15" name="db.entity.1.node">
            <a:extLst xmlns:a="http://schemas.openxmlformats.org/drawingml/2006/main">
              <a:ext uri="{FF2B5EF4-FFF2-40B4-BE49-F238E27FC236}">
                <a16:creationId xmlns:a16="http://schemas.microsoft.com/office/drawing/2014/main" id="{C6308880-D84F-4132-8117-8413F41C1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14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</p:sp>
      <p:sp>
        <p:nvSpPr>
          <p:cNvPr id="16" name="db.entity.1.accent">
            <a:extLst xmlns:a="http://schemas.openxmlformats.org/drawingml/2006/main">
              <a:ext uri="{FF2B5EF4-FFF2-40B4-BE49-F238E27FC236}">
                <a16:creationId xmlns:a16="http://schemas.microsoft.com/office/drawing/2014/main" id="{F5622E9E-CE64-47B3-8489-4CE426C5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14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17" name="db.entity.1.label">
            <a:extLst xmlns:a="http://schemas.openxmlformats.org/drawingml/2006/main">
              <a:ext uri="{FF2B5EF4-FFF2-40B4-BE49-F238E27FC236}">
                <a16:creationId xmlns:a16="http://schemas.microsoft.com/office/drawing/2014/main" id="{4B0A6730-E045-4BD6-AFEB-4587267B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924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FantasyTeam</a:t>
            </a:r>
          </a:p>
        </p:txBody>
      </p:sp>
      <p:sp>
        <p:nvSpPr>
          <p:cNvPr id="18" name="db.entity.1.sub">
            <a:extLst xmlns:a="http://schemas.openxmlformats.org/drawingml/2006/main">
              <a:ext uri="{FF2B5EF4-FFF2-40B4-BE49-F238E27FC236}">
                <a16:creationId xmlns:a16="http://schemas.microsoft.com/office/drawing/2014/main" id="{9B776683-03AF-4C11-9260-9AB60F0B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4343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theme, budget,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captain, VC</a:t>
            </a:r>
          </a:p>
        </p:txBody>
      </p:sp>
      <p:sp>
        <p:nvSpPr>
          <p:cNvPr id="19" name="db.entity.2.node">
            <a:extLst xmlns:a="http://schemas.openxmlformats.org/drawingml/2006/main">
              <a:ext uri="{FF2B5EF4-FFF2-40B4-BE49-F238E27FC236}">
                <a16:creationId xmlns:a16="http://schemas.microsoft.com/office/drawing/2014/main" id="{1F706333-7F3B-4A84-8B34-2ACDC3D3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381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FFD700"/>
            </a:solidFill>
            <a:prstDash val="solid"/>
          </a:ln>
        </p:spPr>
      </p:sp>
      <p:sp>
        <p:nvSpPr>
          <p:cNvPr id="20" name="db.entity.2.accent">
            <a:extLst xmlns:a="http://schemas.openxmlformats.org/drawingml/2006/main">
              <a:ext uri="{FF2B5EF4-FFF2-40B4-BE49-F238E27FC236}">
                <a16:creationId xmlns:a16="http://schemas.microsoft.com/office/drawing/2014/main" id="{F7066AA0-62AD-48FF-8672-8E0D7E4F2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381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21" name="db.entity.2.label">
            <a:extLst xmlns:a="http://schemas.openxmlformats.org/drawingml/2006/main">
              <a:ext uri="{FF2B5EF4-FFF2-40B4-BE49-F238E27FC236}">
                <a16:creationId xmlns:a16="http://schemas.microsoft.com/office/drawing/2014/main" id="{F128DAD8-9D30-4835-97A6-4C228E5C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6591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Player</a:t>
            </a:r>
          </a:p>
        </p:txBody>
      </p:sp>
      <p:sp>
        <p:nvSpPr>
          <p:cNvPr id="22" name="db.entity.2.sub">
            <a:extLst xmlns:a="http://schemas.openxmlformats.org/drawingml/2006/main">
              <a:ext uri="{FF2B5EF4-FFF2-40B4-BE49-F238E27FC236}">
                <a16:creationId xmlns:a16="http://schemas.microsoft.com/office/drawing/2014/main" id="{9255F5DA-6EED-4F04-812B-315EE572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7010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role, credits,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points, team</a:t>
            </a:r>
          </a:p>
        </p:txBody>
      </p:sp>
      <p:sp>
        <p:nvSpPr>
          <p:cNvPr id="23" name="db.entity.3.node">
            <a:extLst xmlns:a="http://schemas.openxmlformats.org/drawingml/2006/main">
              <a:ext uri="{FF2B5EF4-FFF2-40B4-BE49-F238E27FC236}">
                <a16:creationId xmlns:a16="http://schemas.microsoft.com/office/drawing/2014/main" id="{A58E9A52-930F-4FA5-A1F4-FA5EB853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FF87"/>
            </a:solidFill>
            <a:prstDash val="solid"/>
          </a:ln>
        </p:spPr>
      </p:sp>
      <p:sp>
        <p:nvSpPr>
          <p:cNvPr id="24" name="db.entity.3.accent">
            <a:extLst xmlns:a="http://schemas.openxmlformats.org/drawingml/2006/main">
              <a:ext uri="{FF2B5EF4-FFF2-40B4-BE49-F238E27FC236}">
                <a16:creationId xmlns:a16="http://schemas.microsoft.com/office/drawing/2014/main" id="{EF42C097-1975-4C7C-AC91-7D08A522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5" name="db.entity.3.label">
            <a:extLst xmlns:a="http://schemas.openxmlformats.org/drawingml/2006/main">
              <a:ext uri="{FF2B5EF4-FFF2-40B4-BE49-F238E27FC236}">
                <a16:creationId xmlns:a16="http://schemas.microsoft.com/office/drawing/2014/main" id="{E7394B45-21E6-4782-9830-67A760B5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24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Match</a:t>
            </a:r>
          </a:p>
        </p:txBody>
      </p:sp>
      <p:sp>
        <p:nvSpPr>
          <p:cNvPr id="26" name="db.entity.3.sub">
            <a:extLst xmlns:a="http://schemas.openxmlformats.org/drawingml/2006/main">
              <a:ext uri="{FF2B5EF4-FFF2-40B4-BE49-F238E27FC236}">
                <a16:creationId xmlns:a16="http://schemas.microsoft.com/office/drawing/2014/main" id="{02CE8F6E-3D4F-49B5-A7B0-F1B3947B7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343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sport, teams,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status, deadline</a:t>
            </a:r>
          </a:p>
        </p:txBody>
      </p:sp>
      <p:sp>
        <p:nvSpPr>
          <p:cNvPr id="27" name="db.entity.4.node">
            <a:extLst xmlns:a="http://schemas.openxmlformats.org/drawingml/2006/main">
              <a:ext uri="{FF2B5EF4-FFF2-40B4-BE49-F238E27FC236}">
                <a16:creationId xmlns:a16="http://schemas.microsoft.com/office/drawing/2014/main" id="{9A49B832-448C-4C35-888A-95DF6D5A8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714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E50914"/>
            </a:solidFill>
            <a:prstDash val="solid"/>
          </a:ln>
        </p:spPr>
      </p:sp>
      <p:sp>
        <p:nvSpPr>
          <p:cNvPr id="28" name="db.entity.4.accent">
            <a:extLst xmlns:a="http://schemas.openxmlformats.org/drawingml/2006/main">
              <a:ext uri="{FF2B5EF4-FFF2-40B4-BE49-F238E27FC236}">
                <a16:creationId xmlns:a16="http://schemas.microsoft.com/office/drawing/2014/main" id="{C535D2D4-DB78-40BC-996C-3CD2A697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714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29" name="db.entity.4.label">
            <a:extLst xmlns:a="http://schemas.openxmlformats.org/drawingml/2006/main">
              <a:ext uri="{FF2B5EF4-FFF2-40B4-BE49-F238E27FC236}">
                <a16:creationId xmlns:a16="http://schemas.microsoft.com/office/drawing/2014/main" id="{35E7A8A3-CCD8-496E-8EE9-2F5538BF3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3924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Contest</a:t>
            </a:r>
          </a:p>
        </p:txBody>
      </p:sp>
      <p:sp>
        <p:nvSpPr>
          <p:cNvPr id="30" name="db.entity.4.sub">
            <a:extLst xmlns:a="http://schemas.openxmlformats.org/drawingml/2006/main">
              <a:ext uri="{FF2B5EF4-FFF2-40B4-BE49-F238E27FC236}">
                <a16:creationId xmlns:a16="http://schemas.microsoft.com/office/drawing/2014/main" id="{1F147807-EE03-4902-8C52-565778CB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4343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entryFee,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spotsLeft, type</a:t>
            </a:r>
          </a:p>
        </p:txBody>
      </p:sp>
      <p:sp>
        <p:nvSpPr>
          <p:cNvPr id="31" name="db.entity.5.node">
            <a:extLst xmlns:a="http://schemas.openxmlformats.org/drawingml/2006/main">
              <a:ext uri="{FF2B5EF4-FFF2-40B4-BE49-F238E27FC236}">
                <a16:creationId xmlns:a16="http://schemas.microsoft.com/office/drawing/2014/main" id="{7871E293-BABC-40A1-90D6-F35BB8D2D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381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A855F7"/>
            </a:solidFill>
            <a:prstDash val="solid"/>
          </a:ln>
        </p:spPr>
      </p:sp>
      <p:sp>
        <p:nvSpPr>
          <p:cNvPr id="32" name="db.entity.5.accent">
            <a:extLst xmlns:a="http://schemas.openxmlformats.org/drawingml/2006/main">
              <a:ext uri="{FF2B5EF4-FFF2-40B4-BE49-F238E27FC236}">
                <a16:creationId xmlns:a16="http://schemas.microsoft.com/office/drawing/2014/main" id="{03340997-63BF-4C04-8C48-8B10139EA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381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55F7"/>
          </a:solidFill>
          <a:ln xmlns:a="http://schemas.openxmlformats.org/drawingml/2006/main" w="0">
            <a:solidFill>
              <a:srgbClr val="A855F7"/>
            </a:solidFill>
            <a:prstDash val="solid"/>
          </a:ln>
        </p:spPr>
      </p:sp>
      <p:sp>
        <p:nvSpPr>
          <p:cNvPr id="33" name="db.entity.5.label">
            <a:extLst xmlns:a="http://schemas.openxmlformats.org/drawingml/2006/main">
              <a:ext uri="{FF2B5EF4-FFF2-40B4-BE49-F238E27FC236}">
                <a16:creationId xmlns:a16="http://schemas.microsoft.com/office/drawing/2014/main" id="{7502F4D4-CEEA-46FB-947F-8DDD6559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6591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ContestEntry</a:t>
            </a:r>
          </a:p>
        </p:txBody>
      </p:sp>
      <p:sp>
        <p:nvSpPr>
          <p:cNvPr id="34" name="db.entity.5.sub">
            <a:extLst xmlns:a="http://schemas.openxmlformats.org/drawingml/2006/main">
              <a:ext uri="{FF2B5EF4-FFF2-40B4-BE49-F238E27FC236}">
                <a16:creationId xmlns:a16="http://schemas.microsoft.com/office/drawing/2014/main" id="{CB5061F2-E018-400B-B79A-70B3F746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7010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rank, points,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teamId, userId</a:t>
            </a:r>
          </a:p>
        </p:txBody>
      </p:sp>
      <p:sp>
        <p:nvSpPr>
          <p:cNvPr id="35" name="db.entity.6.node">
            <a:extLst xmlns:a="http://schemas.openxmlformats.org/drawingml/2006/main">
              <a:ext uri="{FF2B5EF4-FFF2-40B4-BE49-F238E27FC236}">
                <a16:creationId xmlns:a16="http://schemas.microsoft.com/office/drawing/2014/main" id="{D160DC21-21A9-45BB-BF14-5C9FBF94A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381750"/>
            <a:ext cx="26670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36" name="db.entity.6.accent">
            <a:extLst xmlns:a="http://schemas.openxmlformats.org/drawingml/2006/main">
              <a:ext uri="{FF2B5EF4-FFF2-40B4-BE49-F238E27FC236}">
                <a16:creationId xmlns:a16="http://schemas.microsoft.com/office/drawing/2014/main" id="{A9BBABBF-B7BD-4CA2-813D-B6FAF2C4A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381750"/>
            <a:ext cx="762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37" name="db.entity.6.label">
            <a:extLst xmlns:a="http://schemas.openxmlformats.org/drawingml/2006/main">
              <a:ext uri="{FF2B5EF4-FFF2-40B4-BE49-F238E27FC236}">
                <a16:creationId xmlns:a16="http://schemas.microsoft.com/office/drawing/2014/main" id="{E827E580-56AD-4D66-A24D-C77962ED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6591300"/>
            <a:ext cx="2209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t>PerformanceLog</a:t>
            </a:r>
          </a:p>
        </p:txBody>
      </p:sp>
      <p:sp>
        <p:nvSpPr>
          <p:cNvPr id="38" name="db.entity.6.sub">
            <a:extLst xmlns:a="http://schemas.openxmlformats.org/drawingml/2006/main">
              <a:ext uri="{FF2B5EF4-FFF2-40B4-BE49-F238E27FC236}">
                <a16:creationId xmlns:a16="http://schemas.microsoft.com/office/drawing/2014/main" id="{DED50CDC-AEDC-437A-82B9-85B5596D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7010400"/>
            <a:ext cx="21717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action,</a:t>
            </a:r>
          </a:p>
          <a:p xmlns:a="http://schemas.openxmlformats.org/drawingml/2006/main">
            <a:pPr algn="l">
              <a:defRPr sz="1425" b="0">
                <a:solidFill>
                  <a:srgbClr val="A1A1AA"/>
                </a:solidFill>
              </a:defRPr>
            </a:pPr>
            <a:r>
              <a:t>pointsAdded</a:t>
            </a:r>
          </a:p>
        </p:txBody>
      </p:sp>
      <p:sp>
        <p:nvSpPr>
          <p:cNvPr id="39" name="db.link.0">
            <a:extLst xmlns:a="http://schemas.openxmlformats.org/drawingml/2006/main">
              <a:ext uri="{FF2B5EF4-FFF2-40B4-BE49-F238E27FC236}">
                <a16:creationId xmlns:a16="http://schemas.microsoft.com/office/drawing/2014/main" id="{8C6F44C2-57A7-4D40-A5E3-6070C6B2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67200"/>
            <a:ext cx="9239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0" name="db.link.1">
            <a:extLst xmlns:a="http://schemas.openxmlformats.org/drawingml/2006/main">
              <a:ext uri="{FF2B5EF4-FFF2-40B4-BE49-F238E27FC236}">
                <a16:creationId xmlns:a16="http://schemas.microsoft.com/office/drawing/2014/main" id="{3C05C25E-0BEA-484A-B067-57D2F03A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67200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41" name="db.link.2">
            <a:extLst xmlns:a="http://schemas.openxmlformats.org/drawingml/2006/main">
              <a:ext uri="{FF2B5EF4-FFF2-40B4-BE49-F238E27FC236}">
                <a16:creationId xmlns:a16="http://schemas.microsoft.com/office/drawing/2014/main" id="{2E7A71CC-D823-4EA9-B31F-448F1651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4267200"/>
            <a:ext cx="952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42" name="db.link.3">
            <a:extLst xmlns:a="http://schemas.openxmlformats.org/drawingml/2006/main">
              <a:ext uri="{FF2B5EF4-FFF2-40B4-BE49-F238E27FC236}">
                <a16:creationId xmlns:a16="http://schemas.microsoft.com/office/drawing/2014/main" id="{495B8DD8-E580-48D0-9BB9-E4EDC39D2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972050"/>
            <a:ext cx="38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43" name="db.link.4">
            <a:extLst xmlns:a="http://schemas.openxmlformats.org/drawingml/2006/main">
              <a:ext uri="{FF2B5EF4-FFF2-40B4-BE49-F238E27FC236}">
                <a16:creationId xmlns:a16="http://schemas.microsoft.com/office/drawing/2014/main" id="{F09C23BC-0E43-4674-B7C4-4FC41657F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6915150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44" name="db.link.5">
            <a:extLst xmlns:a="http://schemas.openxmlformats.org/drawingml/2006/main">
              <a:ext uri="{FF2B5EF4-FFF2-40B4-BE49-F238E27FC236}">
                <a16:creationId xmlns:a16="http://schemas.microsoft.com/office/drawing/2014/main" id="{D405224E-010B-4C80-9CFA-44837271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972050"/>
            <a:ext cx="381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45" name="db.note">
            <a:extLst xmlns:a="http://schemas.openxmlformats.org/drawingml/2006/main">
              <a:ext uri="{FF2B5EF4-FFF2-40B4-BE49-F238E27FC236}">
                <a16:creationId xmlns:a16="http://schemas.microsoft.com/office/drawing/2014/main" id="{7A33C0B4-D92B-4390-9CE7-03BAA333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8058150"/>
            <a:ext cx="13144500" cy="5334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4F4F5"/>
                </a:solidFill>
              </a:defRPr>
            </a:pPr>
            <a:r>
              <a:t>Key relationship: ContestEntry links the selected FantasyTeam to a Contest and User, enabling rank and points tracking.</a:t>
            </a:r>
          </a:p>
        </p:txBody>
      </p:sp>
    </p:spTree>
    <p:extLst>
      <p:ext uri="{BB962C8B-B14F-4D97-AF65-F5344CB8AC3E}">
        <p14:creationId xmlns:p14="http://schemas.microsoft.com/office/powerpoint/2010/main" val="51730112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4">
            <a:extLst xmlns:a="http://schemas.openxmlformats.org/drawingml/2006/main">
              <a:ext uri="{FF2B5EF4-FFF2-40B4-BE49-F238E27FC236}">
                <a16:creationId xmlns:a16="http://schemas.microsoft.com/office/drawing/2014/main" id="{644BE331-E5F7-483C-871E-155B9151E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4.1">
            <a:extLst xmlns:a="http://schemas.openxmlformats.org/drawingml/2006/main">
              <a:ext uri="{FF2B5EF4-FFF2-40B4-BE49-F238E27FC236}">
                <a16:creationId xmlns:a16="http://schemas.microsoft.com/office/drawing/2014/main" id="{A13957E2-6370-44CB-9552-E5CE7EF0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4.2">
            <a:extLst xmlns:a="http://schemas.openxmlformats.org/drawingml/2006/main">
              <a:ext uri="{FF2B5EF4-FFF2-40B4-BE49-F238E27FC236}">
                <a16:creationId xmlns:a16="http://schemas.microsoft.com/office/drawing/2014/main" id="{0E51C216-952D-48BA-9C99-B2F109D5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4">
            <a:extLst xmlns:a="http://schemas.openxmlformats.org/drawingml/2006/main">
              <a:ext uri="{FF2B5EF4-FFF2-40B4-BE49-F238E27FC236}">
                <a16:creationId xmlns:a16="http://schemas.microsoft.com/office/drawing/2014/main" id="{0F633B86-F9DB-42C4-8FDC-5979559E3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4">
            <a:extLst xmlns:a="http://schemas.openxmlformats.org/drawingml/2006/main">
              <a:ext uri="{FF2B5EF4-FFF2-40B4-BE49-F238E27FC236}">
                <a16:creationId xmlns:a16="http://schemas.microsoft.com/office/drawing/2014/main" id="{AF1209BD-AA41-4CAF-99E6-3A6533756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4">
            <a:extLst xmlns:a="http://schemas.openxmlformats.org/drawingml/2006/main">
              <a:ext uri="{FF2B5EF4-FFF2-40B4-BE49-F238E27FC236}">
                <a16:creationId xmlns:a16="http://schemas.microsoft.com/office/drawing/2014/main" id="{2B149210-9451-4AA9-8512-3F74A989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TECH STACK</a:t>
            </a:r>
          </a:p>
        </p:txBody>
      </p:sp>
      <p:sp>
        <p:nvSpPr>
          <p:cNvPr id="7" name="footer.page.14">
            <a:extLst xmlns:a="http://schemas.openxmlformats.org/drawingml/2006/main">
              <a:ext uri="{FF2B5EF4-FFF2-40B4-BE49-F238E27FC236}">
                <a16:creationId xmlns:a16="http://schemas.microsoft.com/office/drawing/2014/main" id="{341833DC-D22B-405C-ABF2-F926C4BC1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14</a:t>
            </a:r>
          </a:p>
        </p:txBody>
      </p:sp>
      <p:sp>
        <p:nvSpPr>
          <p:cNvPr id="8" name="label.TECH STACK">
            <a:extLst xmlns:a="http://schemas.openxmlformats.org/drawingml/2006/main">
              <a:ext uri="{FF2B5EF4-FFF2-40B4-BE49-F238E27FC236}">
                <a16:creationId xmlns:a16="http://schemas.microsoft.com/office/drawing/2014/main" id="{75DC2AC5-5975-4F95-B8DC-9B056BF5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038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TECH STACK</a:t>
            </a:r>
          </a:p>
        </p:txBody>
      </p:sp>
      <p:sp>
        <p:nvSpPr>
          <p:cNvPr id="9" name="slide-title.14">
            <a:extLst xmlns:a="http://schemas.openxmlformats.org/drawingml/2006/main">
              <a:ext uri="{FF2B5EF4-FFF2-40B4-BE49-F238E27FC236}">
                <a16:creationId xmlns:a16="http://schemas.microsoft.com/office/drawing/2014/main" id="{AC4A04A8-5CAB-4C08-8995-8D1DD1F2C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Modern web stack with real-time and media capabilities</a:t>
            </a:r>
          </a:p>
        </p:txBody>
      </p:sp>
      <p:sp>
        <p:nvSpPr>
          <p:cNvPr id="10" name="slide-subtitle.14">
            <a:extLst xmlns:a="http://schemas.openxmlformats.org/drawingml/2006/main">
              <a:ext uri="{FF2B5EF4-FFF2-40B4-BE49-F238E27FC236}">
                <a16:creationId xmlns:a16="http://schemas.microsoft.com/office/drawing/2014/main" id="{27AFE0F9-34E4-45B1-9F1C-6930B1FA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implementation combines frontend polish with backend services that make live interaction possible.</a:t>
            </a:r>
          </a:p>
        </p:txBody>
      </p:sp>
      <p:sp>
        <p:nvSpPr>
          <p:cNvPr id="11" name="stack.table.frame">
            <a:extLst xmlns:a="http://schemas.openxmlformats.org/drawingml/2006/main">
              <a:ext uri="{FF2B5EF4-FFF2-40B4-BE49-F238E27FC236}">
                <a16:creationId xmlns:a16="http://schemas.microsoft.com/office/drawing/2014/main" id="{94C740D3-E0DB-453D-B7AE-DD7F77A4B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371850"/>
            <a:ext cx="13811250" cy="53340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19050">
            <a:solidFill>
              <a:srgbClr val="00E5FF"/>
            </a:solidFill>
            <a:prstDash val="solid"/>
          </a:ln>
        </p:spPr>
      </p:sp>
      <p:sp>
        <p:nvSpPr>
          <p:cNvPr id="12" name="stack.table.header.0">
            <a:extLst xmlns:a="http://schemas.openxmlformats.org/drawingml/2006/main">
              <a:ext uri="{FF2B5EF4-FFF2-40B4-BE49-F238E27FC236}">
                <a16:creationId xmlns:a16="http://schemas.microsoft.com/office/drawing/2014/main" id="{38678B3C-65E9-44DE-A190-88213F27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4671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Layer</a:t>
            </a:r>
          </a:p>
        </p:txBody>
      </p:sp>
      <p:sp>
        <p:nvSpPr>
          <p:cNvPr id="13" name="stack.table.header.1">
            <a:extLst xmlns:a="http://schemas.openxmlformats.org/drawingml/2006/main">
              <a:ext uri="{FF2B5EF4-FFF2-40B4-BE49-F238E27FC236}">
                <a16:creationId xmlns:a16="http://schemas.microsoft.com/office/drawing/2014/main" id="{2AD5B20A-689A-4A3F-86F9-D0E88E08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46710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Technology</a:t>
            </a:r>
          </a:p>
        </p:txBody>
      </p:sp>
      <p:sp>
        <p:nvSpPr>
          <p:cNvPr id="14" name="stack.table.header.2">
            <a:extLst xmlns:a="http://schemas.openxmlformats.org/drawingml/2006/main">
              <a:ext uri="{FF2B5EF4-FFF2-40B4-BE49-F238E27FC236}">
                <a16:creationId xmlns:a16="http://schemas.microsoft.com/office/drawing/2014/main" id="{4B07766A-48C5-42B5-BE47-151F7C14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6710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E5FF"/>
                </a:solidFill>
              </a:defRPr>
            </a:pPr>
            <a:r>
              <a:t>Purpose</a:t>
            </a:r>
          </a:p>
        </p:txBody>
      </p:sp>
      <p:sp>
        <p:nvSpPr>
          <p:cNvPr id="15" name="stack.table.row.0">
            <a:extLst xmlns:a="http://schemas.openxmlformats.org/drawingml/2006/main">
              <a:ext uri="{FF2B5EF4-FFF2-40B4-BE49-F238E27FC236}">
                <a16:creationId xmlns:a16="http://schemas.microsoft.com/office/drawing/2014/main" id="{B2C37A1E-BEE2-4693-A673-91B765D6C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3860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6" name="stack.table.cell.0.0">
            <a:extLst xmlns:a="http://schemas.openxmlformats.org/drawingml/2006/main">
              <a:ext uri="{FF2B5EF4-FFF2-40B4-BE49-F238E27FC236}">
                <a16:creationId xmlns:a16="http://schemas.microsoft.com/office/drawing/2014/main" id="{146738B5-091A-4504-80F0-E313B711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1529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Frontend</a:t>
            </a:r>
          </a:p>
        </p:txBody>
      </p:sp>
      <p:sp>
        <p:nvSpPr>
          <p:cNvPr id="17" name="stack.table.cell.0.1">
            <a:extLst xmlns:a="http://schemas.openxmlformats.org/drawingml/2006/main">
              <a:ext uri="{FF2B5EF4-FFF2-40B4-BE49-F238E27FC236}">
                <a16:creationId xmlns:a16="http://schemas.microsoft.com/office/drawing/2014/main" id="{CEFAA759-B6B7-4315-9191-360EBB12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5290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React 19, Vite, React Router, lucide-react</a:t>
            </a:r>
          </a:p>
        </p:txBody>
      </p:sp>
      <p:sp>
        <p:nvSpPr>
          <p:cNvPr id="18" name="stack.table.cell.0.2">
            <a:extLst xmlns:a="http://schemas.openxmlformats.org/drawingml/2006/main">
              <a:ext uri="{FF2B5EF4-FFF2-40B4-BE49-F238E27FC236}">
                <a16:creationId xmlns:a16="http://schemas.microsoft.com/office/drawing/2014/main" id="{E2462EBC-5DD6-41C5-BCAB-3BFAFA37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5290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Interactive pages, navigation, icons</a:t>
            </a:r>
          </a:p>
        </p:txBody>
      </p:sp>
      <p:sp>
        <p:nvSpPr>
          <p:cNvPr id="19" name="stack.table.row.1">
            <a:extLst xmlns:a="http://schemas.openxmlformats.org/drawingml/2006/main">
              <a:ext uri="{FF2B5EF4-FFF2-40B4-BE49-F238E27FC236}">
                <a16:creationId xmlns:a16="http://schemas.microsoft.com/office/drawing/2014/main" id="{7085F60E-6A16-427C-8B6B-30533DB8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70535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20" name="stack.table.cell.1.0">
            <a:extLst xmlns:a="http://schemas.openxmlformats.org/drawingml/2006/main">
              <a:ext uri="{FF2B5EF4-FFF2-40B4-BE49-F238E27FC236}">
                <a16:creationId xmlns:a16="http://schemas.microsoft.com/office/drawing/2014/main" id="{1CAB435B-2EF5-4035-AE7D-79BCF093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1965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Visuals</a:t>
            </a:r>
          </a:p>
        </p:txBody>
      </p:sp>
      <p:sp>
        <p:nvSpPr>
          <p:cNvPr id="21" name="stack.table.cell.1.1">
            <a:extLst xmlns:a="http://schemas.openxmlformats.org/drawingml/2006/main">
              <a:ext uri="{FF2B5EF4-FFF2-40B4-BE49-F238E27FC236}">
                <a16:creationId xmlns:a16="http://schemas.microsoft.com/office/drawing/2014/main" id="{C7F9A6CE-1B1D-4990-8BC7-FC404D15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81965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Three.js, @react-three/fiber, CSS effects</a:t>
            </a:r>
          </a:p>
        </p:txBody>
      </p:sp>
      <p:sp>
        <p:nvSpPr>
          <p:cNvPr id="22" name="stack.table.cell.1.2">
            <a:extLst xmlns:a="http://schemas.openxmlformats.org/drawingml/2006/main">
              <a:ext uri="{FF2B5EF4-FFF2-40B4-BE49-F238E27FC236}">
                <a16:creationId xmlns:a16="http://schemas.microsoft.com/office/drawing/2014/main" id="{8EB0ED1D-2BB4-4500-BF18-2310C08EB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8196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Futuristic animated interface</a:t>
            </a:r>
          </a:p>
        </p:txBody>
      </p:sp>
      <p:sp>
        <p:nvSpPr>
          <p:cNvPr id="23" name="stack.table.row.2">
            <a:extLst xmlns:a="http://schemas.openxmlformats.org/drawingml/2006/main">
              <a:ext uri="{FF2B5EF4-FFF2-40B4-BE49-F238E27FC236}">
                <a16:creationId xmlns:a16="http://schemas.microsoft.com/office/drawing/2014/main" id="{F5AF6537-84DF-4271-8D6E-A93AE633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7210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24" name="stack.table.cell.2.0">
            <a:extLst xmlns:a="http://schemas.openxmlformats.org/drawingml/2006/main">
              <a:ext uri="{FF2B5EF4-FFF2-40B4-BE49-F238E27FC236}">
                <a16:creationId xmlns:a16="http://schemas.microsoft.com/office/drawing/2014/main" id="{4FDF28C2-98DC-4B38-9781-A613F77D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4864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Backend</a:t>
            </a:r>
          </a:p>
        </p:txBody>
      </p:sp>
      <p:sp>
        <p:nvSpPr>
          <p:cNvPr id="25" name="stack.table.cell.2.1">
            <a:extLst xmlns:a="http://schemas.openxmlformats.org/drawingml/2006/main">
              <a:ext uri="{FF2B5EF4-FFF2-40B4-BE49-F238E27FC236}">
                <a16:creationId xmlns:a16="http://schemas.microsoft.com/office/drawing/2014/main" id="{E0E17732-B658-4F26-AA24-CBBC92A5F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548640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Express, Node.js, CORS</a:t>
            </a:r>
          </a:p>
        </p:txBody>
      </p:sp>
      <p:sp>
        <p:nvSpPr>
          <p:cNvPr id="26" name="stack.table.cell.2.2">
            <a:extLst xmlns:a="http://schemas.openxmlformats.org/drawingml/2006/main">
              <a:ext uri="{FF2B5EF4-FFF2-40B4-BE49-F238E27FC236}">
                <a16:creationId xmlns:a16="http://schemas.microsoft.com/office/drawing/2014/main" id="{17E4F970-931C-4955-A7C3-59052025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48640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API routes and production serving</a:t>
            </a:r>
          </a:p>
        </p:txBody>
      </p:sp>
      <p:sp>
        <p:nvSpPr>
          <p:cNvPr id="27" name="stack.table.row.3">
            <a:extLst xmlns:a="http://schemas.openxmlformats.org/drawingml/2006/main">
              <a:ext uri="{FF2B5EF4-FFF2-40B4-BE49-F238E27FC236}">
                <a16:creationId xmlns:a16="http://schemas.microsoft.com/office/drawing/2014/main" id="{D2699CD9-3304-44DD-8DBA-C564DEE0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03885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28" name="stack.table.cell.3.0">
            <a:extLst xmlns:a="http://schemas.openxmlformats.org/drawingml/2006/main">
              <a:ext uri="{FF2B5EF4-FFF2-40B4-BE49-F238E27FC236}">
                <a16:creationId xmlns:a16="http://schemas.microsoft.com/office/drawing/2014/main" id="{2C7397C1-F4B5-4EF4-BF72-88A0B1D2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615315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Data</a:t>
            </a:r>
          </a:p>
        </p:txBody>
      </p:sp>
      <p:sp>
        <p:nvSpPr>
          <p:cNvPr id="29" name="stack.table.cell.3.1">
            <a:extLst xmlns:a="http://schemas.openxmlformats.org/drawingml/2006/main">
              <a:ext uri="{FF2B5EF4-FFF2-40B4-BE49-F238E27FC236}">
                <a16:creationId xmlns:a16="http://schemas.microsoft.com/office/drawing/2014/main" id="{3BF93877-7CFF-4D76-9D37-745FD23FD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15315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Prisma, SQLite</a:t>
            </a:r>
          </a:p>
        </p:txBody>
      </p:sp>
      <p:sp>
        <p:nvSpPr>
          <p:cNvPr id="30" name="stack.table.cell.3.2">
            <a:extLst xmlns:a="http://schemas.openxmlformats.org/drawingml/2006/main">
              <a:ext uri="{FF2B5EF4-FFF2-40B4-BE49-F238E27FC236}">
                <a16:creationId xmlns:a16="http://schemas.microsoft.com/office/drawing/2014/main" id="{A73BD8B3-8DDE-4C8B-80EA-18BB884A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1531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Models, persistence, seed data</a:t>
            </a:r>
          </a:p>
        </p:txBody>
      </p:sp>
      <p:sp>
        <p:nvSpPr>
          <p:cNvPr id="31" name="stack.table.row.4">
            <a:extLst xmlns:a="http://schemas.openxmlformats.org/drawingml/2006/main">
              <a:ext uri="{FF2B5EF4-FFF2-40B4-BE49-F238E27FC236}">
                <a16:creationId xmlns:a16="http://schemas.microsoft.com/office/drawing/2014/main" id="{048400C0-10FE-486C-B29F-A9673D44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670560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32" name="stack.table.cell.4.0">
            <a:extLst xmlns:a="http://schemas.openxmlformats.org/drawingml/2006/main">
              <a:ext uri="{FF2B5EF4-FFF2-40B4-BE49-F238E27FC236}">
                <a16:creationId xmlns:a16="http://schemas.microsoft.com/office/drawing/2014/main" id="{B8516929-C8B0-4D3E-AD92-AD1FCD6D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68199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Realtime</a:t>
            </a:r>
          </a:p>
        </p:txBody>
      </p:sp>
      <p:sp>
        <p:nvSpPr>
          <p:cNvPr id="33" name="stack.table.cell.4.1">
            <a:extLst xmlns:a="http://schemas.openxmlformats.org/drawingml/2006/main">
              <a:ext uri="{FF2B5EF4-FFF2-40B4-BE49-F238E27FC236}">
                <a16:creationId xmlns:a16="http://schemas.microsoft.com/office/drawing/2014/main" id="{47E5B43A-D0D2-489A-A080-DFA0F5DD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681990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Socket.IO, WebRTC</a:t>
            </a:r>
          </a:p>
        </p:txBody>
      </p:sp>
      <p:sp>
        <p:nvSpPr>
          <p:cNvPr id="34" name="stack.table.cell.4.2">
            <a:extLst xmlns:a="http://schemas.openxmlformats.org/drawingml/2006/main">
              <a:ext uri="{FF2B5EF4-FFF2-40B4-BE49-F238E27FC236}">
                <a16:creationId xmlns:a16="http://schemas.microsoft.com/office/drawing/2014/main" id="{40CCED76-4574-4BF9-A182-FAD307696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681990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Presence and browser screen sharing</a:t>
            </a:r>
          </a:p>
        </p:txBody>
      </p:sp>
      <p:sp>
        <p:nvSpPr>
          <p:cNvPr id="35" name="stack.table.row.5">
            <a:extLst xmlns:a="http://schemas.openxmlformats.org/drawingml/2006/main">
              <a:ext uri="{FF2B5EF4-FFF2-40B4-BE49-F238E27FC236}">
                <a16:creationId xmlns:a16="http://schemas.microsoft.com/office/drawing/2014/main" id="{31231BA0-227D-4238-9CD5-D26400D0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7235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36" name="stack.table.cell.5.0">
            <a:extLst xmlns:a="http://schemas.openxmlformats.org/drawingml/2006/main">
              <a:ext uri="{FF2B5EF4-FFF2-40B4-BE49-F238E27FC236}">
                <a16:creationId xmlns:a16="http://schemas.microsoft.com/office/drawing/2014/main" id="{D405C5F6-54AF-4D47-BC00-E27BFBFA5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748665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Streaming</a:t>
            </a:r>
          </a:p>
        </p:txBody>
      </p:sp>
      <p:sp>
        <p:nvSpPr>
          <p:cNvPr id="37" name="stack.table.cell.5.1">
            <a:extLst xmlns:a="http://schemas.openxmlformats.org/drawingml/2006/main">
              <a:ext uri="{FF2B5EF4-FFF2-40B4-BE49-F238E27FC236}">
                <a16:creationId xmlns:a16="http://schemas.microsoft.com/office/drawing/2014/main" id="{D470FC56-1B7B-4A9D-BAA8-AA38BCB70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748665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Node Media Server, flv.js</a:t>
            </a:r>
          </a:p>
        </p:txBody>
      </p:sp>
      <p:sp>
        <p:nvSpPr>
          <p:cNvPr id="38" name="stack.table.cell.5.2">
            <a:extLst xmlns:a="http://schemas.openxmlformats.org/drawingml/2006/main">
              <a:ext uri="{FF2B5EF4-FFF2-40B4-BE49-F238E27FC236}">
                <a16:creationId xmlns:a16="http://schemas.microsoft.com/office/drawing/2014/main" id="{9F9042FD-B878-4B47-95CE-F20BEA9B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748665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OBS ingest and FLV playback</a:t>
            </a:r>
          </a:p>
        </p:txBody>
      </p:sp>
      <p:sp>
        <p:nvSpPr>
          <p:cNvPr id="39" name="stack.table.row.6">
            <a:extLst xmlns:a="http://schemas.openxmlformats.org/drawingml/2006/main">
              <a:ext uri="{FF2B5EF4-FFF2-40B4-BE49-F238E27FC236}">
                <a16:creationId xmlns:a16="http://schemas.microsoft.com/office/drawing/2014/main" id="{322EDAD1-2F87-4829-8AAC-589A49946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8039100"/>
            <a:ext cx="13544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3047"/>
          </a:solidFill>
          <a:ln xmlns:a="http://schemas.openxmlformats.org/drawingml/2006/main" w="0">
            <a:solidFill>
              <a:srgbClr val="343047"/>
            </a:solidFill>
            <a:prstDash val="solid"/>
          </a:ln>
        </p:spPr>
      </p:sp>
      <p:sp>
        <p:nvSpPr>
          <p:cNvPr id="40" name="stack.table.cell.6.0">
            <a:extLst xmlns:a="http://schemas.openxmlformats.org/drawingml/2006/main">
              <a:ext uri="{FF2B5EF4-FFF2-40B4-BE49-F238E27FC236}">
                <a16:creationId xmlns:a16="http://schemas.microsoft.com/office/drawing/2014/main" id="{D542D349-06C0-4B75-BC61-0E8B9D15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8153400"/>
            <a:ext cx="19621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41" name="stack.table.cell.6.1">
            <a:extLst xmlns:a="http://schemas.openxmlformats.org/drawingml/2006/main">
              <a:ext uri="{FF2B5EF4-FFF2-40B4-BE49-F238E27FC236}">
                <a16:creationId xmlns:a16="http://schemas.microsoft.com/office/drawing/2014/main" id="{52948A0D-1425-40D4-9587-CD77FB5D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8153400"/>
            <a:ext cx="5105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Google Generative AI</a:t>
            </a:r>
          </a:p>
        </p:txBody>
      </p:sp>
      <p:sp>
        <p:nvSpPr>
          <p:cNvPr id="42" name="stack.table.cell.6.2">
            <a:extLst xmlns:a="http://schemas.openxmlformats.org/drawingml/2006/main">
              <a:ext uri="{FF2B5EF4-FFF2-40B4-BE49-F238E27FC236}">
                <a16:creationId xmlns:a16="http://schemas.microsoft.com/office/drawing/2014/main" id="{DE48E4A5-8882-490F-B7A6-D48F977F9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8153400"/>
            <a:ext cx="6057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1A1AA"/>
                </a:solidFill>
              </a:defRPr>
            </a:pPr>
            <a:r>
              <a:t>Champak coach responses</a:t>
            </a:r>
          </a:p>
        </p:txBody>
      </p:sp>
      <p:sp>
        <p:nvSpPr>
          <p:cNvPr id="43" name="stack.close">
            <a:extLst xmlns:a="http://schemas.openxmlformats.org/drawingml/2006/main">
              <a:ext uri="{FF2B5EF4-FFF2-40B4-BE49-F238E27FC236}">
                <a16:creationId xmlns:a16="http://schemas.microsoft.com/office/drawing/2014/main" id="{713E7AB5-2D5F-41D8-8969-104321F7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8401050"/>
            <a:ext cx="11239500" cy="4191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A1A1AA"/>
                </a:solidFill>
              </a:defRPr>
            </a:pPr>
            <a:r>
              <a:t>The stack is intentionally demo-friendly: local database, local media server, and browser-first flows.</a:t>
            </a:r>
          </a:p>
        </p:txBody>
      </p:sp>
    </p:spTree>
    <p:extLst>
      <p:ext uri="{BB962C8B-B14F-4D97-AF65-F5344CB8AC3E}">
        <p14:creationId xmlns:p14="http://schemas.microsoft.com/office/powerpoint/2010/main" val="4001764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.15">
            <a:extLst xmlns:a="http://schemas.openxmlformats.org/drawingml/2006/main">
              <a:ext uri="{FF2B5EF4-FFF2-40B4-BE49-F238E27FC236}">
                <a16:creationId xmlns:a16="http://schemas.microsoft.com/office/drawing/2014/main" id="{121F9E2D-B5B2-4480-A829-C57327D5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50A"/>
              </a:gs>
              <a:gs pos="54000">
                <a:srgbClr val="101027"/>
              </a:gs>
              <a:gs pos="100000">
                <a:srgbClr val="1A1026"/>
              </a:gs>
            </a:gsLst>
            <a:lin ang="1500000"/>
          </a:gradFill>
          <a:ln xmlns:a="http://schemas.openxmlformats.org/drawingml/2006/main" w="0">
            <a:solidFill>
              <a:srgbClr val="05050A"/>
            </a:solidFill>
            <a:prstDash val="solid"/>
          </a:ln>
        </p:spPr>
      </p:sp>
      <p:sp>
        <p:nvSpPr>
          <p:cNvPr id="2" name="accent.slash.15.1">
            <a:extLst xmlns:a="http://schemas.openxmlformats.org/drawingml/2006/main">
              <a:ext uri="{FF2B5EF4-FFF2-40B4-BE49-F238E27FC236}">
                <a16:creationId xmlns:a16="http://schemas.microsoft.com/office/drawing/2014/main" id="{839E8434-8B14-470D-BA9C-7166719E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6954500" y="-1714500"/>
            <a:ext cx="8572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3" name="accent.slash.15.2">
            <a:extLst xmlns:a="http://schemas.openxmlformats.org/drawingml/2006/main">
              <a:ext uri="{FF2B5EF4-FFF2-40B4-BE49-F238E27FC236}">
                <a16:creationId xmlns:a16="http://schemas.microsoft.com/office/drawing/2014/main" id="{989AE8C7-E4BA-433C-8049-0BF1CD97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260000">
            <a:off x="18021300" y="-1714500"/>
            <a:ext cx="285750" cy="1352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4" name="accent.floor.15">
            <a:extLst xmlns:a="http://schemas.openxmlformats.org/drawingml/2006/main">
              <a:ext uri="{FF2B5EF4-FFF2-40B4-BE49-F238E27FC236}">
                <a16:creationId xmlns:a16="http://schemas.microsoft.com/office/drawing/2014/main" id="{C84B779E-6935-412F-A974-A3DEE9F48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9525000"/>
            <a:ext cx="1828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</p:sp>
      <p:sp>
        <p:nvSpPr>
          <p:cNvPr id="5" name="accent.floor.line.15">
            <a:extLst xmlns:a="http://schemas.openxmlformats.org/drawingml/2006/main">
              <a:ext uri="{FF2B5EF4-FFF2-40B4-BE49-F238E27FC236}">
                <a16:creationId xmlns:a16="http://schemas.microsoft.com/office/drawing/2014/main" id="{39CE9088-CBDB-48A8-A4D2-D2614F29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86900"/>
            <a:ext cx="495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6" name="footer.section.15">
            <a:extLst xmlns:a="http://schemas.openxmlformats.org/drawingml/2006/main">
              <a:ext uri="{FF2B5EF4-FFF2-40B4-BE49-F238E27FC236}">
                <a16:creationId xmlns:a16="http://schemas.microsoft.com/office/drawing/2014/main" id="{0A9821B9-B429-47B0-96F0-411EB2B1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677400"/>
            <a:ext cx="781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1A1AA"/>
                </a:solidFill>
              </a:defRPr>
            </a:pPr>
            <a:r>
              <a:t>FUTURE SCOPE</a:t>
            </a:r>
          </a:p>
        </p:txBody>
      </p:sp>
      <p:sp>
        <p:nvSpPr>
          <p:cNvPr id="7" name="footer.page.15">
            <a:extLst xmlns:a="http://schemas.openxmlformats.org/drawingml/2006/main">
              <a:ext uri="{FF2B5EF4-FFF2-40B4-BE49-F238E27FC236}">
                <a16:creationId xmlns:a16="http://schemas.microsoft.com/office/drawing/2014/main" id="{4FD8ED0D-A8C9-4FAE-AAEF-0CC706FF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4950" y="9620250"/>
            <a:ext cx="781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0C19"/>
          </a:solidFill>
          <a:ln xmlns:a="http://schemas.openxmlformats.org/drawingml/2006/main" w="0">
            <a:solidFill>
              <a:srgbClr val="0F0C19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00E5FF"/>
                </a:solidFill>
              </a:defRPr>
            </a:pPr>
            <a:r>
              <a:t>15</a:t>
            </a:r>
          </a:p>
        </p:txBody>
      </p:sp>
      <p:sp>
        <p:nvSpPr>
          <p:cNvPr id="8" name="label.FUTURE SCOPE">
            <a:extLst xmlns:a="http://schemas.openxmlformats.org/drawingml/2006/main">
              <a:ext uri="{FF2B5EF4-FFF2-40B4-BE49-F238E27FC236}">
                <a16:creationId xmlns:a16="http://schemas.microsoft.com/office/drawing/2014/main" id="{B518096E-EEFA-461C-B370-B23F0774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23622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0F0C19"/>
          </a:solidFill>
          <a:ln xmlns:a="http://schemas.openxmlformats.org/drawingml/2006/main" w="1905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107A"/>
                </a:solidFill>
              </a:defRPr>
            </a:pPr>
            <a:r>
              <a:t>FUTURE SCOPE</a:t>
            </a:r>
          </a:p>
        </p:txBody>
      </p:sp>
      <p:sp>
        <p:nvSpPr>
          <p:cNvPr id="9" name="slide-title.15">
            <a:extLst xmlns:a="http://schemas.openxmlformats.org/drawingml/2006/main">
              <a:ext uri="{FF2B5EF4-FFF2-40B4-BE49-F238E27FC236}">
                <a16:creationId xmlns:a16="http://schemas.microsoft.com/office/drawing/2014/main" id="{3D0BB0C9-A80C-4BBB-A7B1-4C6238AE5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314450"/>
            <a:ext cx="1190625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</a:defRPr>
            </a:pPr>
            <a:r>
              <a:t>The foundation is ready for richer campus-scale play</a:t>
            </a:r>
          </a:p>
        </p:txBody>
      </p:sp>
      <p:sp>
        <p:nvSpPr>
          <p:cNvPr id="10" name="slide-subtitle.15">
            <a:extLst xmlns:a="http://schemas.openxmlformats.org/drawingml/2006/main">
              <a:ext uri="{FF2B5EF4-FFF2-40B4-BE49-F238E27FC236}">
                <a16:creationId xmlns:a16="http://schemas.microsoft.com/office/drawing/2014/main" id="{52FBD66E-39AD-4125-9B59-0A607EB7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11049000" cy="6477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A1A1AA"/>
                </a:solidFill>
              </a:defRPr>
            </a:pPr>
            <a:r>
              <a:t>The next version can focus on reliability, richer scoring, and broader event support.</a:t>
            </a:r>
          </a:p>
        </p:txBody>
      </p:sp>
      <p:sp>
        <p:nvSpPr>
          <p:cNvPr id="11" name="future.num.0">
            <a:extLst xmlns:a="http://schemas.openxmlformats.org/drawingml/2006/main">
              <a:ext uri="{FF2B5EF4-FFF2-40B4-BE49-F238E27FC236}">
                <a16:creationId xmlns:a16="http://schemas.microsoft.com/office/drawing/2014/main" id="{208CFCF0-BDE0-4A0B-96F6-88B6DDC66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290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</p:sp>
      <p:sp>
        <p:nvSpPr>
          <p:cNvPr id="12" name="future.num.text.0">
            <a:extLst xmlns:a="http://schemas.openxmlformats.org/drawingml/2006/main">
              <a:ext uri="{FF2B5EF4-FFF2-40B4-BE49-F238E27FC236}">
                <a16:creationId xmlns:a16="http://schemas.microsoft.com/office/drawing/2014/main" id="{B0FE4617-BA30-4D15-BBF1-BD487B42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543300"/>
            <a:ext cx="323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E5FF"/>
          </a:solidFill>
          <a:ln xmlns:a="http://schemas.openxmlformats.org/drawingml/2006/main" w="0">
            <a:solidFill>
              <a:srgbClr val="00E5FF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050A"/>
                </a:solidFill>
              </a:defRPr>
            </a:pPr>
            <a:r>
              <a:t>1</a:t>
            </a:r>
          </a:p>
        </p:txBody>
      </p:sp>
      <p:sp>
        <p:nvSpPr>
          <p:cNvPr id="13" name="future.title.0">
            <a:extLst xmlns:a="http://schemas.openxmlformats.org/drawingml/2006/main">
              <a:ext uri="{FF2B5EF4-FFF2-40B4-BE49-F238E27FC236}">
                <a16:creationId xmlns:a16="http://schemas.microsoft.com/office/drawing/2014/main" id="{6D5C57D1-A5D8-4208-BD9B-D1E86285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09950"/>
            <a:ext cx="495300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t>Mobile-first refinement</a:t>
            </a:r>
          </a:p>
        </p:txBody>
      </p:sp>
      <p:sp>
        <p:nvSpPr>
          <p:cNvPr id="14" name="future.body.0">
            <a:extLst xmlns:a="http://schemas.openxmlformats.org/drawingml/2006/main">
              <a:ext uri="{FF2B5EF4-FFF2-40B4-BE49-F238E27FC236}">
                <a16:creationId xmlns:a16="http://schemas.microsoft.com/office/drawing/2014/main" id="{AA7C1C22-832B-476E-A2FC-B7D83A83C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29050"/>
            <a:ext cx="98107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A"/>
                </a:solidFill>
              </a:defRPr>
            </a:pPr>
            <a:r>
              <a:t>Responsive drafting and live watch party controls.</a:t>
            </a:r>
          </a:p>
        </p:txBody>
      </p:sp>
      <p:sp>
        <p:nvSpPr>
          <p:cNvPr id="15" name="future.num.1">
            <a:extLst xmlns:a="http://schemas.openxmlformats.org/drawingml/2006/main">
              <a:ext uri="{FF2B5EF4-FFF2-40B4-BE49-F238E27FC236}">
                <a16:creationId xmlns:a16="http://schemas.microsoft.com/office/drawing/2014/main" id="{2D73D3E8-EB09-4586-86A5-FFA484060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29125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</p:sp>
      <p:sp>
        <p:nvSpPr>
          <p:cNvPr id="16" name="future.num.text.1">
            <a:extLst xmlns:a="http://schemas.openxmlformats.org/drawingml/2006/main">
              <a:ext uri="{FF2B5EF4-FFF2-40B4-BE49-F238E27FC236}">
                <a16:creationId xmlns:a16="http://schemas.microsoft.com/office/drawing/2014/main" id="{0D43511F-CBD4-4E40-9CFA-80ED6DE9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543425"/>
            <a:ext cx="323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700"/>
          </a:solidFill>
          <a:ln xmlns:a="http://schemas.openxmlformats.org/drawingml/2006/main" w="0">
            <a:solidFill>
              <a:srgbClr val="FFD700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050A"/>
                </a:solidFill>
              </a:defRPr>
            </a:pPr>
            <a:r>
              <a:t>2</a:t>
            </a:r>
          </a:p>
        </p:txBody>
      </p:sp>
      <p:sp>
        <p:nvSpPr>
          <p:cNvPr id="17" name="future.title.1">
            <a:extLst xmlns:a="http://schemas.openxmlformats.org/drawingml/2006/main">
              <a:ext uri="{FF2B5EF4-FFF2-40B4-BE49-F238E27FC236}">
                <a16:creationId xmlns:a16="http://schemas.microsoft.com/office/drawing/2014/main" id="{09040E8A-081E-4B20-BC11-4584D765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10075"/>
            <a:ext cx="495300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t>Advanced scoring rules</a:t>
            </a:r>
          </a:p>
        </p:txBody>
      </p:sp>
      <p:sp>
        <p:nvSpPr>
          <p:cNvPr id="18" name="future.body.1">
            <a:extLst xmlns:a="http://schemas.openxmlformats.org/drawingml/2006/main">
              <a:ext uri="{FF2B5EF4-FFF2-40B4-BE49-F238E27FC236}">
                <a16:creationId xmlns:a16="http://schemas.microsoft.com/office/drawing/2014/main" id="{6A7F4A5B-54BA-4F78-8CDE-4CC30B7A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29175"/>
            <a:ext cx="98107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A"/>
                </a:solidFill>
              </a:defRPr>
            </a:pPr>
            <a:r>
              <a:t>Sport-specific points, substitutions, penalties, and bonuses.</a:t>
            </a:r>
          </a:p>
        </p:txBody>
      </p:sp>
      <p:sp>
        <p:nvSpPr>
          <p:cNvPr id="19" name="future.num.2">
            <a:extLst xmlns:a="http://schemas.openxmlformats.org/drawingml/2006/main">
              <a:ext uri="{FF2B5EF4-FFF2-40B4-BE49-F238E27FC236}">
                <a16:creationId xmlns:a16="http://schemas.microsoft.com/office/drawing/2014/main" id="{ABDCA69C-5882-4DD9-B953-B7257B93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4292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</p:sp>
      <p:sp>
        <p:nvSpPr>
          <p:cNvPr id="20" name="future.num.text.2">
            <a:extLst xmlns:a="http://schemas.openxmlformats.org/drawingml/2006/main">
              <a:ext uri="{FF2B5EF4-FFF2-40B4-BE49-F238E27FC236}">
                <a16:creationId xmlns:a16="http://schemas.microsoft.com/office/drawing/2014/main" id="{69949483-6DE7-496A-82F4-FC32EB8B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5543550"/>
            <a:ext cx="323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FF87"/>
          </a:solidFill>
          <a:ln xmlns:a="http://schemas.openxmlformats.org/drawingml/2006/main" w="0">
            <a:solidFill>
              <a:srgbClr val="00FF87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050A"/>
                </a:solidFill>
              </a:defRPr>
            </a:pPr>
            <a:r>
              <a:t>3</a:t>
            </a:r>
          </a:p>
        </p:txBody>
      </p:sp>
      <p:sp>
        <p:nvSpPr>
          <p:cNvPr id="21" name="future.title.2">
            <a:extLst xmlns:a="http://schemas.openxmlformats.org/drawingml/2006/main">
              <a:ext uri="{FF2B5EF4-FFF2-40B4-BE49-F238E27FC236}">
                <a16:creationId xmlns:a16="http://schemas.microsoft.com/office/drawing/2014/main" id="{6F33D8B0-72F5-4180-A450-EA960D28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10200"/>
            <a:ext cx="495300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t>Payments or rewards</a:t>
            </a:r>
          </a:p>
        </p:txBody>
      </p:sp>
      <p:sp>
        <p:nvSpPr>
          <p:cNvPr id="22" name="future.body.2">
            <a:extLst xmlns:a="http://schemas.openxmlformats.org/drawingml/2006/main">
              <a:ext uri="{FF2B5EF4-FFF2-40B4-BE49-F238E27FC236}">
                <a16:creationId xmlns:a16="http://schemas.microsoft.com/office/drawing/2014/main" id="{E5B2821F-BF64-4843-86A9-A1F18046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29300"/>
            <a:ext cx="98107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A"/>
                </a:solidFill>
              </a:defRPr>
            </a:pPr>
            <a:r>
              <a:t>Wallet top-ups, badges, certificates, and sponsor prizes.</a:t>
            </a:r>
          </a:p>
        </p:txBody>
      </p:sp>
      <p:sp>
        <p:nvSpPr>
          <p:cNvPr id="23" name="future.num.3">
            <a:extLst xmlns:a="http://schemas.openxmlformats.org/drawingml/2006/main">
              <a:ext uri="{FF2B5EF4-FFF2-40B4-BE49-F238E27FC236}">
                <a16:creationId xmlns:a16="http://schemas.microsoft.com/office/drawing/2014/main" id="{920D4A1E-53ED-4C3B-9665-34C7884BE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6429375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</p:sp>
      <p:sp>
        <p:nvSpPr>
          <p:cNvPr id="24" name="future.num.text.3">
            <a:extLst xmlns:a="http://schemas.openxmlformats.org/drawingml/2006/main">
              <a:ext uri="{FF2B5EF4-FFF2-40B4-BE49-F238E27FC236}">
                <a16:creationId xmlns:a16="http://schemas.microsoft.com/office/drawing/2014/main" id="{59A25845-A423-4AAE-AD33-9DAAA252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543675"/>
            <a:ext cx="323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107A"/>
          </a:solidFill>
          <a:ln xmlns:a="http://schemas.openxmlformats.org/drawingml/2006/main" w="0">
            <a:solidFill>
              <a:srgbClr val="FF107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050A"/>
                </a:solidFill>
              </a:defRPr>
            </a:pPr>
            <a:r>
              <a:t>4</a:t>
            </a:r>
          </a:p>
        </p:txBody>
      </p:sp>
      <p:sp>
        <p:nvSpPr>
          <p:cNvPr id="25" name="future.title.3">
            <a:extLst xmlns:a="http://schemas.openxmlformats.org/drawingml/2006/main">
              <a:ext uri="{FF2B5EF4-FFF2-40B4-BE49-F238E27FC236}">
                <a16:creationId xmlns:a16="http://schemas.microsoft.com/office/drawing/2014/main" id="{9E823598-7083-47C6-BD02-8942D014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410325"/>
            <a:ext cx="495300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t>Moderation and roles</a:t>
            </a:r>
          </a:p>
        </p:txBody>
      </p:sp>
      <p:sp>
        <p:nvSpPr>
          <p:cNvPr id="26" name="future.body.3">
            <a:extLst xmlns:a="http://schemas.openxmlformats.org/drawingml/2006/main">
              <a:ext uri="{FF2B5EF4-FFF2-40B4-BE49-F238E27FC236}">
                <a16:creationId xmlns:a16="http://schemas.microsoft.com/office/drawing/2014/main" id="{31EEBBC8-554E-4136-8BA5-E1C5AF25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29425"/>
            <a:ext cx="98107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A"/>
                </a:solidFill>
              </a:defRPr>
            </a:pPr>
            <a:r>
              <a:t>Separate admin, streamer, organizer, and user permissions.</a:t>
            </a:r>
          </a:p>
        </p:txBody>
      </p:sp>
      <p:sp>
        <p:nvSpPr>
          <p:cNvPr id="27" name="future.num.4">
            <a:extLst xmlns:a="http://schemas.openxmlformats.org/drawingml/2006/main">
              <a:ext uri="{FF2B5EF4-FFF2-40B4-BE49-F238E27FC236}">
                <a16:creationId xmlns:a16="http://schemas.microsoft.com/office/drawing/2014/main" id="{87A3FBDD-14D8-4D72-82BC-2BA6CDF5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742950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</p:sp>
      <p:sp>
        <p:nvSpPr>
          <p:cNvPr id="28" name="future.num.text.4">
            <a:extLst xmlns:a="http://schemas.openxmlformats.org/drawingml/2006/main">
              <a:ext uri="{FF2B5EF4-FFF2-40B4-BE49-F238E27FC236}">
                <a16:creationId xmlns:a16="http://schemas.microsoft.com/office/drawing/2014/main" id="{47DD7D77-9B00-45DA-B7B0-A7BC48B8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543800"/>
            <a:ext cx="323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0914"/>
          </a:solidFill>
          <a:ln xmlns:a="http://schemas.openxmlformats.org/drawingml/2006/main" w="0">
            <a:solidFill>
              <a:srgbClr val="E50914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5050A"/>
                </a:solidFill>
              </a:defRPr>
            </a:pPr>
            <a:r>
              <a:t>5</a:t>
            </a:r>
          </a:p>
        </p:txBody>
      </p:sp>
      <p:sp>
        <p:nvSpPr>
          <p:cNvPr id="29" name="future.title.4">
            <a:extLst xmlns:a="http://schemas.openxmlformats.org/drawingml/2006/main">
              <a:ext uri="{FF2B5EF4-FFF2-40B4-BE49-F238E27FC236}">
                <a16:creationId xmlns:a16="http://schemas.microsoft.com/office/drawing/2014/main" id="{C9D864CC-E816-4EC9-B631-FEA74FFE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7410450"/>
            <a:ext cx="495300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t>Deployment hardening</a:t>
            </a:r>
          </a:p>
        </p:txBody>
      </p:sp>
      <p:sp>
        <p:nvSpPr>
          <p:cNvPr id="30" name="future.body.4">
            <a:extLst xmlns:a="http://schemas.openxmlformats.org/drawingml/2006/main">
              <a:ext uri="{FF2B5EF4-FFF2-40B4-BE49-F238E27FC236}">
                <a16:creationId xmlns:a16="http://schemas.microsoft.com/office/drawing/2014/main" id="{E5F5CF20-10A9-49DF-9657-3C8450AD1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7829550"/>
            <a:ext cx="9810750" cy="36195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1A1AA"/>
                </a:solidFill>
              </a:defRPr>
            </a:pPr>
            <a:r>
              <a:t>Environment secrets, persistent database, logs, and monitoring.</a:t>
            </a:r>
          </a:p>
        </p:txBody>
      </p:sp>
      <p:sp>
        <p:nvSpPr>
          <p:cNvPr id="31" name="future.final">
            <a:extLst xmlns:a="http://schemas.openxmlformats.org/drawingml/2006/main">
              <a:ext uri="{FF2B5EF4-FFF2-40B4-BE49-F238E27FC236}">
                <a16:creationId xmlns:a16="http://schemas.microsoft.com/office/drawing/2014/main" id="{F7E0861B-2C87-426A-AE3F-55B00A48F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0" y="3790950"/>
            <a:ext cx="34290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51225"/>
          </a:solidFill>
          <a:ln xmlns:a="http://schemas.openxmlformats.org/drawingml/2006/main" w="28575">
            <a:solidFill>
              <a:srgbClr val="FF107A"/>
            </a:solidFill>
            <a:prstDash val="solid"/>
          </a:ln>
        </p:spPr>
      </p:sp>
      <p:sp>
        <p:nvSpPr>
          <p:cNvPr id="32" name="future.final.text">
            <a:extLst xmlns:a="http://schemas.openxmlformats.org/drawingml/2006/main">
              <a:ext uri="{FF2B5EF4-FFF2-40B4-BE49-F238E27FC236}">
                <a16:creationId xmlns:a16="http://schemas.microsoft.com/office/drawing/2014/main" id="{20453776-8F62-4DA7-8DD0-4B380415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6350" y="4591050"/>
            <a:ext cx="27051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25"/>
          </a:solidFill>
          <a:ln xmlns:a="http://schemas.openxmlformats.org/drawingml/2006/main" w="0">
            <a:solidFill>
              <a:srgbClr val="151225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t>IIITN Fantasy Arena turns events into participation.</a:t>
            </a:r>
          </a:p>
        </p:txBody>
      </p:sp>
      <p:sp>
        <p:nvSpPr>
          <p:cNvPr id="33" name="future.thanks">
            <a:extLst xmlns:a="http://schemas.openxmlformats.org/drawingml/2006/main">
              <a:ext uri="{FF2B5EF4-FFF2-40B4-BE49-F238E27FC236}">
                <a16:creationId xmlns:a16="http://schemas.microsoft.com/office/drawing/2014/main" id="{2D35949E-327B-4E33-AC97-ADAE05D3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7124700"/>
            <a:ext cx="3714750" cy="609600"/>
          </a:xfrm>
          <a:prstGeom xmlns:a="http://schemas.openxmlformats.org/drawingml/2006/main" prst="rect">
            <a:avLst/>
          </a:prstGeom>
          <a:ln xmlns:a="http://schemas.openxmlformats.org/drawingml/2006/main" w="0">
            <a:solidFill>
              <a:srgbClr val="05050A"/>
            </a:solidFill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00E5FF"/>
                </a:solidFill>
              </a:defRPr>
            </a:pPr>
            <a: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9800102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2026-04-29T03:00:42.8470000Z</dcterms:created>
  <dcterms:modified xsi:type="dcterms:W3CDTF">2026-04-29T03:00:42.8470000Z</dcterms:modified>
</coreProperties>
</file>