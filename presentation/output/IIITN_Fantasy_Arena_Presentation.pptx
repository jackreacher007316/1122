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ebcba472554444" /><Relationship Type="http://schemas.openxmlformats.org/officeDocument/2006/relationships/extended-properties" Target="/docProps/app.xml" Id="Rd3d2216ce5974534" /><Relationship Type="http://schemas.openxmlformats.org/officeDocument/2006/relationships/officeDocument" Target="/ppt/presentation.xml" Id="R44edfaf136e641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ea65feb4d2425f"/>
  </p:sldMasterIdLst>
  <p:notesMasterIdLst>
    <p:notesMasterId xmlns:r="http://schemas.openxmlformats.org/officeDocument/2006/relationships" r:id="Rc206988272264b8c"/>
  </p:notesMasterIdLst>
  <p:sldIdLst>
    <p:sldId xmlns:r="http://schemas.openxmlformats.org/officeDocument/2006/relationships" id="256" r:id="R1e59dbc9ece4427b"/>
    <p:sldId xmlns:r="http://schemas.openxmlformats.org/officeDocument/2006/relationships" id="257" r:id="R7a34c18edc62488c"/>
    <p:sldId xmlns:r="http://schemas.openxmlformats.org/officeDocument/2006/relationships" id="258" r:id="R34f8cb515192475f"/>
    <p:sldId xmlns:r="http://schemas.openxmlformats.org/officeDocument/2006/relationships" id="259" r:id="Rc1c78dbd376d4378"/>
    <p:sldId xmlns:r="http://schemas.openxmlformats.org/officeDocument/2006/relationships" id="260" r:id="R1627f0066776415a"/>
    <p:sldId xmlns:r="http://schemas.openxmlformats.org/officeDocument/2006/relationships" id="261" r:id="R35ebe4db304f4c8e"/>
    <p:sldId xmlns:r="http://schemas.openxmlformats.org/officeDocument/2006/relationships" id="262" r:id="R3bb1359bf3d34bcb"/>
    <p:sldId xmlns:r="http://schemas.openxmlformats.org/officeDocument/2006/relationships" id="263" r:id="Rd064067038c44c9d"/>
    <p:sldId xmlns:r="http://schemas.openxmlformats.org/officeDocument/2006/relationships" id="264" r:id="R80d4939611ed46d0"/>
    <p:sldId xmlns:r="http://schemas.openxmlformats.org/officeDocument/2006/relationships" id="265" r:id="R4ef7c485d44d4ef6"/>
    <p:sldId xmlns:r="http://schemas.openxmlformats.org/officeDocument/2006/relationships" id="266" r:id="Ra041551f4f384bf8"/>
    <p:sldId xmlns:r="http://schemas.openxmlformats.org/officeDocument/2006/relationships" id="267" r:id="Rb246fd6cb1264f45"/>
    <p:sldId xmlns:r="http://schemas.openxmlformats.org/officeDocument/2006/relationships" id="268" r:id="R2db599a6ef08494a"/>
    <p:sldId xmlns:r="http://schemas.openxmlformats.org/officeDocument/2006/relationships" id="269" r:id="R8d187e2a6e4d409f"/>
    <p:sldId xmlns:r="http://schemas.openxmlformats.org/officeDocument/2006/relationships" id="270" r:id="R7772e443f3e7459b"/>
    <p:sldId xmlns:r="http://schemas.openxmlformats.org/officeDocument/2006/relationships" id="271" r:id="R395bb337bb0247bb"/>
    <p:sldId xmlns:r="http://schemas.openxmlformats.org/officeDocument/2006/relationships" id="272" r:id="R12dc54caf3574cc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ea65feb4d2425f" /><Relationship Type="http://schemas.openxmlformats.org/officeDocument/2006/relationships/theme" Target="/ppt/theme/theme1.xml" Id="Rf7f721d4d3d846da" /><Relationship Type="http://schemas.openxmlformats.org/officeDocument/2006/relationships/notesMaster" Target="/ppt/notesMasters/notesMaster1.xml" Id="Rc206988272264b8c" /><Relationship Type="http://schemas.openxmlformats.org/officeDocument/2006/relationships/presProps" Target="/ppt/presProps.xml" Id="R7c28ce2d3612409a" /><Relationship Type="http://schemas.openxmlformats.org/officeDocument/2006/relationships/viewProps" Target="/ppt/viewProps.xml" Id="R53cb8b7260784ce6" /><Relationship Type="http://schemas.openxmlformats.org/officeDocument/2006/relationships/tableStyles" Target="/ppt/tableStyles.xml" Id="R1a8a43cd3d634cbb" /><Relationship Type="http://schemas.openxmlformats.org/officeDocument/2006/relationships/slide" Target="/ppt/slides/slide1.xml" Id="R1e59dbc9ece4427b" /><Relationship Type="http://schemas.openxmlformats.org/officeDocument/2006/relationships/slide" Target="/ppt/slides/slide2.xml" Id="R7a34c18edc62488c" /><Relationship Type="http://schemas.openxmlformats.org/officeDocument/2006/relationships/slide" Target="/ppt/slides/slide3.xml" Id="R34f8cb515192475f" /><Relationship Type="http://schemas.openxmlformats.org/officeDocument/2006/relationships/slide" Target="/ppt/slides/slide4.xml" Id="Rc1c78dbd376d4378" /><Relationship Type="http://schemas.openxmlformats.org/officeDocument/2006/relationships/slide" Target="/ppt/slides/slide5.xml" Id="R1627f0066776415a" /><Relationship Type="http://schemas.openxmlformats.org/officeDocument/2006/relationships/slide" Target="/ppt/slides/slide6.xml" Id="R35ebe4db304f4c8e" /><Relationship Type="http://schemas.openxmlformats.org/officeDocument/2006/relationships/slide" Target="/ppt/slides/slide7.xml" Id="R3bb1359bf3d34bcb" /><Relationship Type="http://schemas.openxmlformats.org/officeDocument/2006/relationships/slide" Target="/ppt/slides/slide8.xml" Id="Rd064067038c44c9d" /><Relationship Type="http://schemas.openxmlformats.org/officeDocument/2006/relationships/slide" Target="/ppt/slides/slide9.xml" Id="R80d4939611ed46d0" /><Relationship Type="http://schemas.openxmlformats.org/officeDocument/2006/relationships/slide" Target="/ppt/slides/slide10.xml" Id="R4ef7c485d44d4ef6" /><Relationship Type="http://schemas.openxmlformats.org/officeDocument/2006/relationships/slide" Target="/ppt/slides/slide11.xml" Id="Ra041551f4f384bf8" /><Relationship Type="http://schemas.openxmlformats.org/officeDocument/2006/relationships/slide" Target="/ppt/slides/slide12.xml" Id="Rb246fd6cb1264f45" /><Relationship Type="http://schemas.openxmlformats.org/officeDocument/2006/relationships/slide" Target="/ppt/slides/slide13.xml" Id="R2db599a6ef08494a" /><Relationship Type="http://schemas.openxmlformats.org/officeDocument/2006/relationships/slide" Target="/ppt/slides/slide14.xml" Id="R8d187e2a6e4d409f" /><Relationship Type="http://schemas.openxmlformats.org/officeDocument/2006/relationships/slide" Target="/ppt/slides/slide15.xml" Id="R7772e443f3e7459b" /><Relationship Type="http://schemas.openxmlformats.org/officeDocument/2006/relationships/slide" Target="/ppt/slides/slide16.xml" Id="R395bb337bb0247bb" /><Relationship Type="http://schemas.openxmlformats.org/officeDocument/2006/relationships/slide" Target="/ppt/slides/slide17.xml" Id="R12dc54caf3574c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239d40769f442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f82249cbd24434" /><Relationship Type="http://schemas.openxmlformats.org/officeDocument/2006/relationships/notesMaster" Target="/ppt/notesMasters/notesMaster1.xml" Id="R6034d3a8f32c4f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78a2d971944f10" /><Relationship Type="http://schemas.openxmlformats.org/officeDocument/2006/relationships/notesMaster" Target="/ppt/notesMasters/notesMaster1.xml" Id="R0dc2e65e743545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7baf6a3e98479b" /><Relationship Type="http://schemas.openxmlformats.org/officeDocument/2006/relationships/notesMaster" Target="/ppt/notesMasters/notesMaster1.xml" Id="R81d417bd4e954d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1ee49187644b85" /><Relationship Type="http://schemas.openxmlformats.org/officeDocument/2006/relationships/notesMaster" Target="/ppt/notesMasters/notesMaster1.xml" Id="R70b0bba2459049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e02c945929479b" /><Relationship Type="http://schemas.openxmlformats.org/officeDocument/2006/relationships/notesMaster" Target="/ppt/notesMasters/notesMaster1.xml" Id="Rd0d02956043242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5a19ce151e4f14" /><Relationship Type="http://schemas.openxmlformats.org/officeDocument/2006/relationships/notesMaster" Target="/ppt/notesMasters/notesMaster1.xml" Id="Rede8fd3ef74a4d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9a1679785f44ec" /><Relationship Type="http://schemas.openxmlformats.org/officeDocument/2006/relationships/notesMaster" Target="/ppt/notesMasters/notesMaster1.xml" Id="R9cffa05b4aab42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3e2a9645844778" /><Relationship Type="http://schemas.openxmlformats.org/officeDocument/2006/relationships/notesMaster" Target="/ppt/notesMasters/notesMaster1.xml" Id="Rf2ada2c2128b46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e6c18f78e44f1b" /><Relationship Type="http://schemas.openxmlformats.org/officeDocument/2006/relationships/notesMaster" Target="/ppt/notesMasters/notesMaster1.xml" Id="R424b74f582624f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c05b52898a40d6" /><Relationship Type="http://schemas.openxmlformats.org/officeDocument/2006/relationships/notesMaster" Target="/ppt/notesMasters/notesMaster1.xml" Id="Rce088ad5ad5840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aa3259e9dd47fc" /><Relationship Type="http://schemas.openxmlformats.org/officeDocument/2006/relationships/notesMaster" Target="/ppt/notesMasters/notesMaster1.xml" Id="Rc0f6a2c4d7f34a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a72be61d994b32" /><Relationship Type="http://schemas.openxmlformats.org/officeDocument/2006/relationships/notesMaster" Target="/ppt/notesMasters/notesMaster1.xml" Id="R98d8782597b649b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44296017cb4ff7" /><Relationship Type="http://schemas.openxmlformats.org/officeDocument/2006/relationships/notesMaster" Target="/ppt/notesMasters/notesMaster1.xml" Id="R5229181db17a4a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1d37d74ad44347" /><Relationship Type="http://schemas.openxmlformats.org/officeDocument/2006/relationships/notesMaster" Target="/ppt/notesMasters/notesMaster1.xml" Id="Rf17cb4cbee9647c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da6e55502d4196" /><Relationship Type="http://schemas.openxmlformats.org/officeDocument/2006/relationships/notesMaster" Target="/ppt/notesMasters/notesMaster1.xml" Id="R43284380eaa8451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0465a3bb7a499a" /><Relationship Type="http://schemas.openxmlformats.org/officeDocument/2006/relationships/notesMaster" Target="/ppt/notesMasters/notesMaster1.xml" Id="R566efc16a9a540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428f4d2e28b4000" /><Relationship Type="http://schemas.openxmlformats.org/officeDocument/2006/relationships/notesMaster" Target="/ppt/notesMasters/notesMaster1.xml" Id="R02b47a7fcb0145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as a sports and events platform built for a college demo, not just a fantasy picker.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motivation as fragmentation: watching, prediction, scoring, and help are usually in different places.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state the project objective in product language before moving into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these are not imagined modules; they are visible in the current app routes and backend endpoints.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review panel through the product as a user experience, not as isolated 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shows the rules that make team creation a real fantasy workflow rather than a simple checklist.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how wallet, contests, entries, points, and rankings work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live endpoints and the user-facing Live Match Center screens.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two modes: OBS Studio for formal streaming and WebRTC/screen share for quick browser broadcasting.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Champak shows how the app helps users understand both fantasy rules and streaming setup without leaving the platform.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control loop that makes fantasy scoring updateable in a live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 through frontend, REST backend, database, real-time, streaming, and AI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database model to prove the app has real persistence and relationships, not just UI screens.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make the fantasy domain concrete: the player pool can span real sports and recognizable athletes.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shows the kind of analysis layer that makes player selection more strategic and presentation-friendly.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technical portion by explaining each layer in language a review panel can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future scope and a simple conclusion: the project brings participation to campus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4261702a814c8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0e309d6b1b54b1d" /><Relationship Type="http://schemas.openxmlformats.org/officeDocument/2006/relationships/slideLayout" Target="/ppt/slideLayouts/slideLayout2.xml" Id="Rd2a8560656fb46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a8560656fb46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36df6269c449aa" /><Relationship Type="http://schemas.openxmlformats.org/officeDocument/2006/relationships/image" Target="/ppt/media/image.png" Id="Rfbd026f4f8cd4893" /><Relationship Type="http://schemas.openxmlformats.org/officeDocument/2006/relationships/image" Target="/ppt/media/image2.png" Id="R79e974e3c6654ca8" /><Relationship Type="http://schemas.openxmlformats.org/officeDocument/2006/relationships/image" Target="/ppt/media/image3.png" Id="R1e94cecfc6924b96" /><Relationship Type="http://schemas.openxmlformats.org/officeDocument/2006/relationships/image" Target="/ppt/media/image4.png" Id="R07fb4355b8af42ce" /><Relationship Type="http://schemas.openxmlformats.org/officeDocument/2006/relationships/notesSlide" Target="/ppt/notesSlides/notesSlide1.xml" Id="Ra202fde434ce4f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c2c4e2307e413b" /><Relationship Type="http://schemas.openxmlformats.org/officeDocument/2006/relationships/notesSlide" Target="/ppt/notesSlides/notesSlide2.xml" Id="R20b818a82f6541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ebaa303de043c6" /><Relationship Type="http://schemas.openxmlformats.org/officeDocument/2006/relationships/notesSlide" Target="/ppt/notesSlides/notesSlide3.xml" Id="R152e341a2def43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150fb688e5488a" /><Relationship Type="http://schemas.openxmlformats.org/officeDocument/2006/relationships/notesSlide" Target="/ppt/notesSlides/notesSlide4.xml" Id="R728dbdd18be149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6a80e156cc4049" /><Relationship Type="http://schemas.openxmlformats.org/officeDocument/2006/relationships/notesSlide" Target="/ppt/notesSlides/notesSlide5.xml" Id="Rbd60141ac61748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5eca2b6a4f4b63" /><Relationship Type="http://schemas.openxmlformats.org/officeDocument/2006/relationships/image" Target="/ppt/media/image5.png" Id="R96de4b5e18214374" /><Relationship Type="http://schemas.openxmlformats.org/officeDocument/2006/relationships/image" Target="/ppt/media/image6.png" Id="Rb47cf3fc935b43fa" /><Relationship Type="http://schemas.openxmlformats.org/officeDocument/2006/relationships/image" Target="/ppt/media/image7.png" Id="R458acf1817f54e71" /><Relationship Type="http://schemas.openxmlformats.org/officeDocument/2006/relationships/notesSlide" Target="/ppt/notesSlides/notesSlide6.xml" Id="Rdfc61564eb994f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56bf85531c4df7" /><Relationship Type="http://schemas.openxmlformats.org/officeDocument/2006/relationships/notesSlide" Target="/ppt/notesSlides/notesSlide7.xml" Id="Reae140423e2342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0fea5419074cc3" /><Relationship Type="http://schemas.openxmlformats.org/officeDocument/2006/relationships/notesSlide" Target="/ppt/notesSlides/notesSlide8.xml" Id="R799a859081c14c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c93ff30d9a4223" /><Relationship Type="http://schemas.openxmlformats.org/officeDocument/2006/relationships/notesSlide" Target="/ppt/notesSlides/notesSlide9.xml" Id="Rd6c3dd9af16445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74312f08654c96" /><Relationship Type="http://schemas.openxmlformats.org/officeDocument/2006/relationships/notesSlide" Target="/ppt/notesSlides/notesSlide10.xml" Id="R20d0161fb9954a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75640bca204196" /><Relationship Type="http://schemas.openxmlformats.org/officeDocument/2006/relationships/notesSlide" Target="/ppt/notesSlides/notesSlide11.xml" Id="Rc0bf721e3b3445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ea6929d85e44f1" /><Relationship Type="http://schemas.openxmlformats.org/officeDocument/2006/relationships/notesSlide" Target="/ppt/notesSlides/notesSlide12.xml" Id="Re5621aa4dff948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92b5315de44b92" /><Relationship Type="http://schemas.openxmlformats.org/officeDocument/2006/relationships/notesSlide" Target="/ppt/notesSlides/notesSlide13.xml" Id="R6ee037bc052143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cf6fc5a7eb4404" /><Relationship Type="http://schemas.openxmlformats.org/officeDocument/2006/relationships/image" Target="/ppt/media/image8.png" Id="R1fc0062f6b7142d1" /><Relationship Type="http://schemas.openxmlformats.org/officeDocument/2006/relationships/image" Target="/ppt/media/image9.png" Id="R6e25f3b6018f4c52" /><Relationship Type="http://schemas.openxmlformats.org/officeDocument/2006/relationships/image" Target="/ppt/media/image10.png" Id="R227845d695f9485b" /><Relationship Type="http://schemas.openxmlformats.org/officeDocument/2006/relationships/image" Target="/ppt/media/image11.png" Id="R05f94fa8f82b41f0" /><Relationship Type="http://schemas.openxmlformats.org/officeDocument/2006/relationships/image" Target="/ppt/media/image12.png" Id="R944a3ff9e7224837" /><Relationship Type="http://schemas.openxmlformats.org/officeDocument/2006/relationships/image" Target="/ppt/media/image13.png" Id="Rd0b040b891a346a3" /><Relationship Type="http://schemas.openxmlformats.org/officeDocument/2006/relationships/image" Target="/ppt/media/image14.png" Id="Rdfb8b96ab91448b6" /><Relationship Type="http://schemas.openxmlformats.org/officeDocument/2006/relationships/image" Target="/ppt/media/image15.png" Id="Rb0ea5b0abbc54c15" /><Relationship Type="http://schemas.openxmlformats.org/officeDocument/2006/relationships/notesSlide" Target="/ppt/notesSlides/notesSlide14.xml" Id="Rab4fd83a360a4b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99d421fb784b6a" /><Relationship Type="http://schemas.openxmlformats.org/officeDocument/2006/relationships/image" Target="/ppt/media/image16.png" Id="R82d822ac8cb64467" /><Relationship Type="http://schemas.openxmlformats.org/officeDocument/2006/relationships/image" Target="/ppt/media/image17.png" Id="R2c710089d25f483b" /><Relationship Type="http://schemas.openxmlformats.org/officeDocument/2006/relationships/image" Target="/ppt/media/image18.png" Id="Rdd1295108294411d" /><Relationship Type="http://schemas.openxmlformats.org/officeDocument/2006/relationships/image" Target="/ppt/media/image19.png" Id="R9c9cd3b29ea14d50" /><Relationship Type="http://schemas.openxmlformats.org/officeDocument/2006/relationships/notesSlide" Target="/ppt/notesSlides/notesSlide15.xml" Id="R82b187f786924c0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e83ec6b31b4bd4" /><Relationship Type="http://schemas.openxmlformats.org/officeDocument/2006/relationships/notesSlide" Target="/ppt/notesSlides/notesSlide16.xml" Id="Rd9f574e65ca442d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112e3771964e37" /><Relationship Type="http://schemas.openxmlformats.org/officeDocument/2006/relationships/notesSlide" Target="/ppt/notesSlides/notesSlide17.xml" Id="R5c63e2d1d3a2441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.bg">
            <a:extLst xmlns:a="http://schemas.openxmlformats.org/drawingml/2006/main">
              <a:ext uri="{FF2B5EF4-FFF2-40B4-BE49-F238E27FC236}">
                <a16:creationId xmlns:a16="http://schemas.microsoft.com/office/drawing/2014/main" id="{E869355E-9FAF-49BB-814E-B7738434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20207"/>
              </a:gs>
              <a:gs pos="54000">
                <a:srgbClr val="121331"/>
              </a:gs>
              <a:gs pos="100000">
                <a:srgbClr val="2A0B22"/>
              </a:gs>
            </a:gsLst>
            <a:lin ang="1080000"/>
          </a:gradFill>
          <a:ln xmlns:a="http://schemas.openxmlformats.org/drawingml/2006/main" w="0">
            <a:solidFill>
              <a:srgbClr val="05050A"/>
            </a:solidFill>
            <a:prstDash val="solid"/>
          </a:ln>
        </p:spPr>
      </p:sp>
      <p:sp>
        <p:nvSpPr>
          <p:cNvPr id="2" name="cover.track.1">
            <a:extLst xmlns:a="http://schemas.openxmlformats.org/drawingml/2006/main">
              <a:ext uri="{FF2B5EF4-FFF2-40B4-BE49-F238E27FC236}">
                <a16:creationId xmlns:a16="http://schemas.microsoft.com/office/drawing/2014/main" id="{5ED12E59-A18D-467D-858D-6495A15C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">
            <a:off x="11334750" y="-1714500"/>
            <a:ext cx="1047750" cy="1428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3" name="cover.track.2">
            <a:extLst xmlns:a="http://schemas.openxmlformats.org/drawingml/2006/main">
              <a:ext uri="{FF2B5EF4-FFF2-40B4-BE49-F238E27FC236}">
                <a16:creationId xmlns:a16="http://schemas.microsoft.com/office/drawing/2014/main" id="{750B6FA1-63B3-4282-813A-DFEC4835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">
            <a:off x="12630150" y="-1714500"/>
            <a:ext cx="342900" cy="1428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" name="cover.track.3">
            <a:extLst xmlns:a="http://schemas.openxmlformats.org/drawingml/2006/main">
              <a:ext uri="{FF2B5EF4-FFF2-40B4-BE49-F238E27FC236}">
                <a16:creationId xmlns:a16="http://schemas.microsoft.com/office/drawing/2014/main" id="{CC295A66-4AF3-4AC0-9DBC-579A0336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">
            <a:off x="13477875" y="-1714500"/>
            <a:ext cx="742950" cy="1428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  <a:prstDash val="solid"/>
          </a:ln>
        </p:spPr>
      </p:sp>
      <p:sp>
        <p:nvSpPr>
          <p:cNvPr id="5" name="cover.max.frame">
            <a:extLst xmlns:a="http://schemas.openxmlformats.org/drawingml/2006/main">
              <a:ext uri="{FF2B5EF4-FFF2-40B4-BE49-F238E27FC236}">
                <a16:creationId xmlns:a16="http://schemas.microsoft.com/office/drawing/2014/main" id="{DAA737E5-93C7-4F2B-BE9A-C204383E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066800"/>
            <a:ext cx="23050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E50914"/>
            </a:solidFill>
            <a:prstDash val="solid"/>
          </a:ln>
        </p:spPr>
      </p:sp>
      <p:pic>
        <p:nvPicPr>
          <p:cNvPr id="6" name="cover.max.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026f4f8cd4893"/>
          <a:stretch xmlns:a="http://schemas.openxmlformats.org/drawingml/2006/main"/>
        </p:blipFill>
        <p:spPr>
          <a:xfrm xmlns:a="http://schemas.openxmlformats.org/drawingml/2006/main">
            <a:off x="14614356" y="1123950"/>
            <a:ext cx="1270339" cy="1676400"/>
          </a:xfrm>
          <a:prstGeom xmlns:a="http://schemas.openxmlformats.org/drawingml/2006/main" prst="roundRect">
            <a:avLst/>
          </a:prstGeom>
        </p:spPr>
      </p:pic>
      <p:sp>
        <p:nvSpPr>
          <p:cNvPr id="7" name="cover.rohit.frame">
            <a:extLst xmlns:a="http://schemas.openxmlformats.org/drawingml/2006/main">
              <a:ext uri="{FF2B5EF4-FFF2-40B4-BE49-F238E27FC236}">
                <a16:creationId xmlns:a16="http://schemas.microsoft.com/office/drawing/2014/main" id="{523E9EFF-AD13-4D9F-9D66-C4FBB9E9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162300"/>
            <a:ext cx="23050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FFD700"/>
            </a:solidFill>
            <a:prstDash val="solid"/>
          </a:ln>
        </p:spPr>
      </p:sp>
      <p:pic>
        <p:nvPicPr>
          <p:cNvPr id="8" name="cover.rohit.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974e3c6654ca8"/>
          <a:srcRect xmlns:a="http://schemas.openxmlformats.org/drawingml/2006/main" l="0" t="20473" r="0" b="204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49150" y="3219450"/>
            <a:ext cx="2190750" cy="1676400"/>
          </a:xfrm>
          <a:prstGeom xmlns:a="http://schemas.openxmlformats.org/drawingml/2006/main" prst="roundRect">
            <a:avLst/>
          </a:prstGeom>
        </p:spPr>
      </p:pic>
      <p:sp>
        <p:nvSpPr>
          <p:cNvPr id="9" name="cover.messi.frame">
            <a:extLst xmlns:a="http://schemas.openxmlformats.org/drawingml/2006/main">
              <a:ext uri="{FF2B5EF4-FFF2-40B4-BE49-F238E27FC236}">
                <a16:creationId xmlns:a16="http://schemas.microsoft.com/office/drawing/2014/main" id="{E3996E7A-1918-4850-AA63-02DDAF0B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5276850"/>
            <a:ext cx="23050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00E5FF"/>
            </a:solidFill>
            <a:prstDash val="solid"/>
          </a:ln>
        </p:spPr>
      </p:sp>
      <p:pic>
        <p:nvPicPr>
          <p:cNvPr id="10" name="cover.messi.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4cecfc6924b96"/>
          <a:srcRect xmlns:a="http://schemas.openxmlformats.org/drawingml/2006/main" l="0" t="21389" r="0" b="213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58950" y="5334000"/>
            <a:ext cx="2190750" cy="1676400"/>
          </a:xfrm>
          <a:prstGeom xmlns:a="http://schemas.openxmlformats.org/drawingml/2006/main" prst="roundRect">
            <a:avLst/>
          </a:prstGeom>
        </p:spPr>
      </p:pic>
      <p:sp>
        <p:nvSpPr>
          <p:cNvPr id="11" name="cover.ronaldo.frame">
            <a:extLst xmlns:a="http://schemas.openxmlformats.org/drawingml/2006/main">
              <a:ext uri="{FF2B5EF4-FFF2-40B4-BE49-F238E27FC236}">
                <a16:creationId xmlns:a16="http://schemas.microsoft.com/office/drawing/2014/main" id="{19F9AE9C-11C1-4873-8E46-C852E935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7181850"/>
            <a:ext cx="23050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00FF87"/>
            </a:solidFill>
            <a:prstDash val="solid"/>
          </a:ln>
        </p:spPr>
      </p:sp>
      <p:pic>
        <p:nvPicPr>
          <p:cNvPr id="12" name="cover.ronaldo.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b4355b8af42ce"/>
          <a:srcRect xmlns:a="http://schemas.openxmlformats.org/drawingml/2006/main" l="0" t="16684" r="0" b="16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73000" y="7239000"/>
            <a:ext cx="2190750" cy="1676400"/>
          </a:xfrm>
          <a:prstGeom xmlns:a="http://schemas.openxmlformats.org/drawingml/2006/main" prst="roundRect">
            <a:avLst/>
          </a:prstGeom>
        </p:spPr>
      </p:pic>
      <p:sp>
        <p:nvSpPr>
          <p:cNvPr id="13" name="label.COLLEGE PROJECT DEMO">
            <a:extLst xmlns:a="http://schemas.openxmlformats.org/drawingml/2006/main">
              <a:ext uri="{FF2B5EF4-FFF2-40B4-BE49-F238E27FC236}">
                <a16:creationId xmlns:a16="http://schemas.microsoft.com/office/drawing/2014/main" id="{329F0AB0-E40C-4A32-938B-B93D899E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3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E5FF"/>
                </a:solidFill>
              </a:defRPr>
            </a:pPr>
            <a:r>
              <a:t>COLLEGE PROJECT DEMO</a:t>
            </a:r>
          </a:p>
        </p:txBody>
      </p:sp>
      <p:sp>
        <p:nvSpPr>
          <p:cNvPr id="14" name="cover.kicker">
            <a:extLst xmlns:a="http://schemas.openxmlformats.org/drawingml/2006/main">
              <a:ext uri="{FF2B5EF4-FFF2-40B4-BE49-F238E27FC236}">
                <a16:creationId xmlns:a16="http://schemas.microsoft.com/office/drawing/2014/main" id="{DD621CDE-1CD2-4B76-977A-30F643ED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90700"/>
            <a:ext cx="647700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107A"/>
                </a:solidFill>
              </a:defRPr>
            </a:pPr>
            <a:r>
              <a:t>IIITN</a:t>
            </a:r>
          </a:p>
        </p:txBody>
      </p:sp>
      <p:sp>
        <p:nvSpPr>
          <p:cNvPr id="15" name="cover.title">
            <a:extLst xmlns:a="http://schemas.openxmlformats.org/drawingml/2006/main">
              <a:ext uri="{FF2B5EF4-FFF2-40B4-BE49-F238E27FC236}">
                <a16:creationId xmlns:a16="http://schemas.microsoft.com/office/drawing/2014/main" id="{3EE23158-9886-4125-B38C-C9E892B0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9906000" cy="2724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0" b="1">
                <a:solidFill>
                  <a:srgbClr val="FFFFFF"/>
                </a:solidFill>
              </a:defRPr>
            </a:pPr>
            <a:r>
              <a:t>FANTASY</a:t>
            </a:r>
          </a:p>
          <a:p xmlns:a="http://schemas.openxmlformats.org/drawingml/2006/main">
            <a:pPr algn="l">
              <a:defRPr sz="8100" b="1">
                <a:solidFill>
                  <a:srgbClr val="FFFFFF"/>
                </a:solidFill>
              </a:defRPr>
            </a:pPr>
            <a:r>
              <a:t>ARENA</a:t>
            </a:r>
          </a:p>
        </p:txBody>
      </p:sp>
      <p:sp>
        <p:nvSpPr>
          <p:cNvPr id="16" name="rule.104.602">
            <a:extLst xmlns:a="http://schemas.openxmlformats.org/drawingml/2006/main">
              <a:ext uri="{FF2B5EF4-FFF2-40B4-BE49-F238E27FC236}">
                <a16:creationId xmlns:a16="http://schemas.microsoft.com/office/drawing/2014/main" id="{95D182BA-CAE2-45F5-A767-E983C9F6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340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17" name="cover.subtitle">
            <a:extLst xmlns:a="http://schemas.openxmlformats.org/drawingml/2006/main">
              <a:ext uri="{FF2B5EF4-FFF2-40B4-BE49-F238E27FC236}">
                <a16:creationId xmlns:a16="http://schemas.microsoft.com/office/drawing/2014/main" id="{131296CB-3DB2-458F-A5E3-02D2B7E3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76950"/>
            <a:ext cx="87630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E5FF"/>
                </a:solidFill>
              </a:defRPr>
            </a:pPr>
            <a:r>
              <a:t>Fantasy League &amp; Watch Party Platform</a:t>
            </a:r>
          </a:p>
        </p:txBody>
      </p:sp>
      <p:sp>
        <p:nvSpPr>
          <p:cNvPr id="18" name="cover.promise">
            <a:extLst xmlns:a="http://schemas.openxmlformats.org/drawingml/2006/main">
              <a:ext uri="{FF2B5EF4-FFF2-40B4-BE49-F238E27FC236}">
                <a16:creationId xmlns:a16="http://schemas.microsoft.com/office/drawing/2014/main" id="{0A703E0C-83D6-4195-815C-2B2FE2AC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953250"/>
            <a:ext cx="91440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4F5"/>
                </a:solidFill>
              </a:defRPr>
            </a:pPr>
            <a:r>
              <a:t>A unified campus experience for drafting teams, joining contests, tracking live scores, streaming watch parties, and getting AI coaching.</a:t>
            </a:r>
          </a:p>
        </p:txBody>
      </p:sp>
      <p:sp>
        <p:nvSpPr>
          <p:cNvPr id="19" name="label.CRICKET">
            <a:extLst xmlns:a="http://schemas.openxmlformats.org/drawingml/2006/main">
              <a:ext uri="{FF2B5EF4-FFF2-40B4-BE49-F238E27FC236}">
                <a16:creationId xmlns:a16="http://schemas.microsoft.com/office/drawing/2014/main" id="{E944D746-8628-42B0-B2DC-13BA0E2B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420100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FFD7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D700"/>
                </a:solidFill>
              </a:defRPr>
            </a:pPr>
            <a:r>
              <a:t>CRICKET</a:t>
            </a:r>
          </a:p>
        </p:txBody>
      </p:sp>
      <p:sp>
        <p:nvSpPr>
          <p:cNvPr id="20" name="label.FOOTBALL">
            <a:extLst xmlns:a="http://schemas.openxmlformats.org/drawingml/2006/main">
              <a:ext uri="{FF2B5EF4-FFF2-40B4-BE49-F238E27FC236}">
                <a16:creationId xmlns:a16="http://schemas.microsoft.com/office/drawing/2014/main" id="{F785D5B9-1B19-4F3F-BAD5-6710F3FC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8420100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00FF8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FF87"/>
                </a:solidFill>
              </a:defRPr>
            </a:pPr>
            <a:r>
              <a:t>FOOTBALL</a:t>
            </a:r>
          </a:p>
        </p:txBody>
      </p:sp>
      <p:sp>
        <p:nvSpPr>
          <p:cNvPr id="21" name="label.F1">
            <a:extLst xmlns:a="http://schemas.openxmlformats.org/drawingml/2006/main">
              <a:ext uri="{FF2B5EF4-FFF2-40B4-BE49-F238E27FC236}">
                <a16:creationId xmlns:a16="http://schemas.microsoft.com/office/drawing/2014/main" id="{F84F285B-3521-4782-83C2-B44AB6B2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420100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E5091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50914"/>
                </a:solidFill>
              </a:defRPr>
            </a:pPr>
            <a:r>
              <a:t>F1</a:t>
            </a:r>
          </a:p>
        </p:txBody>
      </p:sp>
      <p:sp>
        <p:nvSpPr>
          <p:cNvPr id="22" name="label.HACKATHON">
            <a:extLst xmlns:a="http://schemas.openxmlformats.org/drawingml/2006/main">
              <a:ext uri="{FF2B5EF4-FFF2-40B4-BE49-F238E27FC236}">
                <a16:creationId xmlns:a16="http://schemas.microsoft.com/office/drawing/2014/main" id="{A557DA63-D359-4369-897D-1AF0A423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8420100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E5FF"/>
                </a:solidFill>
              </a:defRPr>
            </a:pPr>
            <a:r>
              <a:t>HACKATHON</a:t>
            </a:r>
          </a:p>
        </p:txBody>
      </p:sp>
      <p:sp>
        <p:nvSpPr>
          <p:cNvPr id="23" name="cover.date">
            <a:extLst xmlns:a="http://schemas.openxmlformats.org/drawingml/2006/main">
              <a:ext uri="{FF2B5EF4-FFF2-40B4-BE49-F238E27FC236}">
                <a16:creationId xmlns:a16="http://schemas.microsoft.com/office/drawing/2014/main" id="{B1C4B06B-2439-48E8-A1A6-2579A2DC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105900"/>
            <a:ext cx="6477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1A1AA"/>
                </a:solidFill>
              </a:defRPr>
            </a:pPr>
            <a:r>
              <a:t>React + Express + Prisma + Socket.IO + Streaming + AI</a:t>
            </a:r>
          </a:p>
        </p:txBody>
      </p:sp>
    </p:spTree>
    <p:extLst>
      <p:ext uri="{BB962C8B-B14F-4D97-AF65-F5344CB8AC3E}">
        <p14:creationId xmlns:p14="http://schemas.microsoft.com/office/powerpoint/2010/main" val="19031387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.2">
            <a:extLst xmlns:a="http://schemas.openxmlformats.org/drawingml/2006/main">
              <a:ext uri="{FF2B5EF4-FFF2-40B4-BE49-F238E27FC236}">
                <a16:creationId xmlns:a16="http://schemas.microsoft.com/office/drawing/2014/main" id="{866B8AC7-5342-4DA6-83B9-5F5EB762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50A"/>
              </a:gs>
              <a:gs pos="54000">
                <a:srgbClr val="101027"/>
              </a:gs>
              <a:gs pos="100000">
                <a:srgbClr val="1A1026"/>
              </a:gs>
            </a:gsLst>
            <a:lin ang="1500000"/>
          </a:gradFill>
          <a:ln xmlns:a="http://schemas.openxmlformats.org/drawingml/2006/main" w="0">
            <a:solidFill>
              <a:srgbClr val="05050A"/>
            </a:solidFill>
            <a:prstDash val="solid"/>
          </a:ln>
        </p:spPr>
      </p:sp>
      <p:sp>
        <p:nvSpPr>
          <p:cNvPr id="2" name="accent.slash.2.1">
            <a:extLst xmlns:a="http://schemas.openxmlformats.org/drawingml/2006/main">
              <a:ext uri="{FF2B5EF4-FFF2-40B4-BE49-F238E27FC236}">
                <a16:creationId xmlns:a16="http://schemas.microsoft.com/office/drawing/2014/main" id="{450CB52F-9C62-4159-A2DF-21FC1FD1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6954500" y="-1714500"/>
            <a:ext cx="8572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3" name="accent.slash.2.2">
            <a:extLst xmlns:a="http://schemas.openxmlformats.org/drawingml/2006/main">
              <a:ext uri="{FF2B5EF4-FFF2-40B4-BE49-F238E27FC236}">
                <a16:creationId xmlns:a16="http://schemas.microsoft.com/office/drawing/2014/main" id="{D517125A-FB46-42F4-AE6E-127C01F4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8021300" y="-1714500"/>
            <a:ext cx="2857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" name="accent.floor.2">
            <a:extLst xmlns:a="http://schemas.openxmlformats.org/drawingml/2006/main">
              <a:ext uri="{FF2B5EF4-FFF2-40B4-BE49-F238E27FC236}">
                <a16:creationId xmlns:a16="http://schemas.microsoft.com/office/drawing/2014/main" id="{42734972-9341-4E3B-B0AB-6E840239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0"/>
            <a:ext cx="1828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</p:sp>
      <p:sp>
        <p:nvSpPr>
          <p:cNvPr id="5" name="accent.floor.line.2">
            <a:extLst xmlns:a="http://schemas.openxmlformats.org/drawingml/2006/main">
              <a:ext uri="{FF2B5EF4-FFF2-40B4-BE49-F238E27FC236}">
                <a16:creationId xmlns:a16="http://schemas.microsoft.com/office/drawing/2014/main" id="{2D21AA77-BBCA-4576-946F-A2E6F98A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6" name="footer.section.2">
            <a:extLst xmlns:a="http://schemas.openxmlformats.org/drawingml/2006/main">
              <a:ext uri="{FF2B5EF4-FFF2-40B4-BE49-F238E27FC236}">
                <a16:creationId xmlns:a16="http://schemas.microsoft.com/office/drawing/2014/main" id="{E45749E8-48BE-4E1D-A5C9-2EFB6262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</a:defRPr>
            </a:pPr>
            <a:r>
              <a:t>MOTIVATION</a:t>
            </a:r>
          </a:p>
        </p:txBody>
      </p:sp>
      <p:sp>
        <p:nvSpPr>
          <p:cNvPr id="7" name="footer.page.2">
            <a:extLst xmlns:a="http://schemas.openxmlformats.org/drawingml/2006/main">
              <a:ext uri="{FF2B5EF4-FFF2-40B4-BE49-F238E27FC236}">
                <a16:creationId xmlns:a16="http://schemas.microsoft.com/office/drawing/2014/main" id="{C3976FD6-B234-4C6B-A205-27C03ABD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6202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E5FF"/>
                </a:solidFill>
              </a:defRPr>
            </a:pPr>
            <a:r>
              <a:t>02</a:t>
            </a:r>
          </a:p>
        </p:txBody>
      </p:sp>
      <p:sp>
        <p:nvSpPr>
          <p:cNvPr id="8" name="label.MOTIVATION">
            <a:extLst xmlns:a="http://schemas.openxmlformats.org/drawingml/2006/main">
              <a:ext uri="{FF2B5EF4-FFF2-40B4-BE49-F238E27FC236}">
                <a16:creationId xmlns:a16="http://schemas.microsoft.com/office/drawing/2014/main" id="{0EF8E2A3-E3EC-43F2-B45F-4D801174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038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107A"/>
                </a:solidFill>
              </a:defRPr>
            </a:pPr>
            <a:r>
              <a:t>MOTIVATION</a:t>
            </a:r>
          </a:p>
        </p:txBody>
      </p:sp>
      <p:sp>
        <p:nvSpPr>
          <p:cNvPr id="9" name="slide-title.2">
            <a:extLst xmlns:a="http://schemas.openxmlformats.org/drawingml/2006/main">
              <a:ext uri="{FF2B5EF4-FFF2-40B4-BE49-F238E27FC236}">
                <a16:creationId xmlns:a16="http://schemas.microsoft.com/office/drawing/2014/main" id="{BF3A9029-1095-4F62-A58B-9C21B1C2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90625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t>Campus events are exciting, but the digital experience is split</a:t>
            </a:r>
          </a:p>
        </p:txBody>
      </p:sp>
      <p:sp>
        <p:nvSpPr>
          <p:cNvPr id="10" name="slide-subtitle.2">
            <a:extLst xmlns:a="http://schemas.openxmlformats.org/drawingml/2006/main">
              <a:ext uri="{FF2B5EF4-FFF2-40B4-BE49-F238E27FC236}">
                <a16:creationId xmlns:a16="http://schemas.microsoft.com/office/drawing/2014/main" id="{37FA9BDC-BEBB-46C7-8D37-9637EBE8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104900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A1AA"/>
                </a:solidFill>
              </a:defRPr>
            </a:pPr>
            <a:r>
              <a:t>The project brings prediction, live viewing, scores, and community into one flow.</a:t>
            </a:r>
          </a:p>
        </p:txBody>
      </p:sp>
      <p:sp>
        <p:nvSpPr>
          <p:cNvPr id="11" name="problem.0.node">
            <a:extLst xmlns:a="http://schemas.openxmlformats.org/drawingml/2006/main">
              <a:ext uri="{FF2B5EF4-FFF2-40B4-BE49-F238E27FC236}">
                <a16:creationId xmlns:a16="http://schemas.microsoft.com/office/drawing/2014/main" id="{DF646935-0AE1-4C5A-9957-ED4DA501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32766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E50914"/>
            </a:solidFill>
            <a:prstDash val="solid"/>
          </a:ln>
        </p:spPr>
      </p:sp>
      <p:sp>
        <p:nvSpPr>
          <p:cNvPr id="12" name="problem.0.accent">
            <a:extLst xmlns:a="http://schemas.openxmlformats.org/drawingml/2006/main">
              <a:ext uri="{FF2B5EF4-FFF2-40B4-BE49-F238E27FC236}">
                <a16:creationId xmlns:a16="http://schemas.microsoft.com/office/drawing/2014/main" id="{26FCCC5E-D785-4D22-9044-C2B84D43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13" name="problem.0.label">
            <a:extLst xmlns:a="http://schemas.openxmlformats.org/drawingml/2006/main">
              <a:ext uri="{FF2B5EF4-FFF2-40B4-BE49-F238E27FC236}">
                <a16:creationId xmlns:a16="http://schemas.microsoft.com/office/drawing/2014/main" id="{A5ACF983-BED2-4847-ACA3-8D51BA8A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0050"/>
            <a:ext cx="2819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Watch</a:t>
            </a:r>
          </a:p>
        </p:txBody>
      </p:sp>
      <p:sp>
        <p:nvSpPr>
          <p:cNvPr id="14" name="problem.0.sub">
            <a:extLst xmlns:a="http://schemas.openxmlformats.org/drawingml/2006/main">
              <a:ext uri="{FF2B5EF4-FFF2-40B4-BE49-F238E27FC236}">
                <a16:creationId xmlns:a16="http://schemas.microsoft.com/office/drawing/2014/main" id="{111E6C58-EA2B-497C-9FEA-E56C9310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Streaming links or screen share happen outside the event app.</a:t>
            </a:r>
          </a:p>
        </p:txBody>
      </p:sp>
      <p:sp>
        <p:nvSpPr>
          <p:cNvPr id="15" name="problem.1.node">
            <a:extLst xmlns:a="http://schemas.openxmlformats.org/drawingml/2006/main">
              <a:ext uri="{FF2B5EF4-FFF2-40B4-BE49-F238E27FC236}">
                <a16:creationId xmlns:a16="http://schemas.microsoft.com/office/drawing/2014/main" id="{F119218C-4C5D-42D9-BCF2-D5439131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00500"/>
            <a:ext cx="32766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FFD700"/>
            </a:solidFill>
            <a:prstDash val="solid"/>
          </a:ln>
        </p:spPr>
      </p:sp>
      <p:sp>
        <p:nvSpPr>
          <p:cNvPr id="16" name="problem.1.accent">
            <a:extLst xmlns:a="http://schemas.openxmlformats.org/drawingml/2006/main">
              <a:ext uri="{FF2B5EF4-FFF2-40B4-BE49-F238E27FC236}">
                <a16:creationId xmlns:a16="http://schemas.microsoft.com/office/drawing/2014/main" id="{B5AAF7A4-5132-4444-8C2D-885C3B29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00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  <a:ln xmlns:a="http://schemas.openxmlformats.org/drawingml/2006/main" w="0">
            <a:solidFill>
              <a:srgbClr val="FFD700"/>
            </a:solidFill>
            <a:prstDash val="solid"/>
          </a:ln>
        </p:spPr>
      </p:sp>
      <p:sp>
        <p:nvSpPr>
          <p:cNvPr id="17" name="problem.1.label">
            <a:extLst xmlns:a="http://schemas.openxmlformats.org/drawingml/2006/main">
              <a:ext uri="{FF2B5EF4-FFF2-40B4-BE49-F238E27FC236}">
                <a16:creationId xmlns:a16="http://schemas.microsoft.com/office/drawing/2014/main" id="{43248577-5E4C-4E6B-81EB-F3442FB9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10050"/>
            <a:ext cx="2819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Predict</a:t>
            </a:r>
          </a:p>
        </p:txBody>
      </p:sp>
      <p:sp>
        <p:nvSpPr>
          <p:cNvPr id="18" name="problem.1.sub">
            <a:extLst xmlns:a="http://schemas.openxmlformats.org/drawingml/2006/main">
              <a:ext uri="{FF2B5EF4-FFF2-40B4-BE49-F238E27FC236}">
                <a16:creationId xmlns:a16="http://schemas.microsoft.com/office/drawing/2014/main" id="{E95688BE-0E38-40D7-8696-945BB381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62915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Fantasy team strategy is separate from the live match context.</a:t>
            </a:r>
          </a:p>
        </p:txBody>
      </p:sp>
      <p:sp>
        <p:nvSpPr>
          <p:cNvPr id="19" name="problem.2.node">
            <a:extLst xmlns:a="http://schemas.openxmlformats.org/drawingml/2006/main">
              <a:ext uri="{FF2B5EF4-FFF2-40B4-BE49-F238E27FC236}">
                <a16:creationId xmlns:a16="http://schemas.microsoft.com/office/drawing/2014/main" id="{E067193C-87BE-4291-8B8F-4C7EE33B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32766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20" name="problem.2.accent">
            <a:extLst xmlns:a="http://schemas.openxmlformats.org/drawingml/2006/main">
              <a:ext uri="{FF2B5EF4-FFF2-40B4-BE49-F238E27FC236}">
                <a16:creationId xmlns:a16="http://schemas.microsoft.com/office/drawing/2014/main" id="{88793809-3F07-4D26-ABDD-E0D1677D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21" name="problem.2.label">
            <a:extLst xmlns:a="http://schemas.openxmlformats.org/drawingml/2006/main">
              <a:ext uri="{FF2B5EF4-FFF2-40B4-BE49-F238E27FC236}">
                <a16:creationId xmlns:a16="http://schemas.microsoft.com/office/drawing/2014/main" id="{299174EF-D73F-4B20-BDBE-54F75F58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0050"/>
            <a:ext cx="2819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Track</a:t>
            </a:r>
          </a:p>
        </p:txBody>
      </p:sp>
      <p:sp>
        <p:nvSpPr>
          <p:cNvPr id="22" name="problem.2.sub">
            <a:extLst xmlns:a="http://schemas.openxmlformats.org/drawingml/2006/main">
              <a:ext uri="{FF2B5EF4-FFF2-40B4-BE49-F238E27FC236}">
                <a16:creationId xmlns:a16="http://schemas.microsoft.com/office/drawing/2014/main" id="{A8EEF8DC-4F42-42D1-B923-2C40458C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2915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Scores, standings, and leaderboards need manual checking.</a:t>
            </a:r>
          </a:p>
        </p:txBody>
      </p:sp>
      <p:sp>
        <p:nvSpPr>
          <p:cNvPr id="23" name="problem.3.node">
            <a:extLst xmlns:a="http://schemas.openxmlformats.org/drawingml/2006/main">
              <a:ext uri="{FF2B5EF4-FFF2-40B4-BE49-F238E27FC236}">
                <a16:creationId xmlns:a16="http://schemas.microsoft.com/office/drawing/2014/main" id="{4EDC1546-2BDB-4CF9-8946-AC550758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4000500"/>
            <a:ext cx="32766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A855F7"/>
            </a:solidFill>
            <a:prstDash val="solid"/>
          </a:ln>
        </p:spPr>
      </p:sp>
      <p:sp>
        <p:nvSpPr>
          <p:cNvPr id="24" name="problem.3.accent">
            <a:extLst xmlns:a="http://schemas.openxmlformats.org/drawingml/2006/main">
              <a:ext uri="{FF2B5EF4-FFF2-40B4-BE49-F238E27FC236}">
                <a16:creationId xmlns:a16="http://schemas.microsoft.com/office/drawing/2014/main" id="{6A377444-C88B-4B40-BA1B-0C5A8FC9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4000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  <a:prstDash val="solid"/>
          </a:ln>
        </p:spPr>
      </p:sp>
      <p:sp>
        <p:nvSpPr>
          <p:cNvPr id="25" name="problem.3.label">
            <a:extLst xmlns:a="http://schemas.openxmlformats.org/drawingml/2006/main">
              <a:ext uri="{FF2B5EF4-FFF2-40B4-BE49-F238E27FC236}">
                <a16:creationId xmlns:a16="http://schemas.microsoft.com/office/drawing/2014/main" id="{53A40391-B7C4-46E1-B032-706F8C96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210050"/>
            <a:ext cx="2819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Discuss</a:t>
            </a:r>
          </a:p>
        </p:txBody>
      </p:sp>
      <p:sp>
        <p:nvSpPr>
          <p:cNvPr id="26" name="problem.3.sub">
            <a:extLst xmlns:a="http://schemas.openxmlformats.org/drawingml/2006/main">
              <a:ext uri="{FF2B5EF4-FFF2-40B4-BE49-F238E27FC236}">
                <a16:creationId xmlns:a16="http://schemas.microsoft.com/office/drawing/2014/main" id="{06150266-E412-4419-B15C-B746A54D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62915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Users still need help understanding rules and setup.</a:t>
            </a:r>
          </a:p>
        </p:txBody>
      </p:sp>
      <p:sp>
        <p:nvSpPr>
          <p:cNvPr id="27" name="problem.thesis">
            <a:extLst xmlns:a="http://schemas.openxmlformats.org/drawingml/2006/main">
              <a:ext uri="{FF2B5EF4-FFF2-40B4-BE49-F238E27FC236}">
                <a16:creationId xmlns:a16="http://schemas.microsoft.com/office/drawing/2014/main" id="{264D4A3C-D4C3-46C6-9248-95F995B0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105650"/>
            <a:ext cx="1057275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t>Need: one arena where participation continues before, during, and after the event.</a:t>
            </a:r>
          </a:p>
        </p:txBody>
      </p:sp>
      <p:sp>
        <p:nvSpPr>
          <p:cNvPr id="28" name="problem.ring">
            <a:extLst xmlns:a="http://schemas.openxmlformats.org/drawingml/2006/main">
              <a:ext uri="{FF2B5EF4-FFF2-40B4-BE49-F238E27FC236}">
                <a16:creationId xmlns:a16="http://schemas.microsoft.com/office/drawing/2014/main" id="{9816CE19-F2BC-43C9-A259-94FD63D3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63436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FF107A"/>
            </a:solidFill>
            <a:prstDash val="solid"/>
          </a:ln>
        </p:spPr>
      </p:sp>
      <p:sp>
        <p:nvSpPr>
          <p:cNvPr id="29" name="problem.ring.text">
            <a:extLst xmlns:a="http://schemas.openxmlformats.org/drawingml/2006/main">
              <a:ext uri="{FF2B5EF4-FFF2-40B4-BE49-F238E27FC236}">
                <a16:creationId xmlns:a16="http://schemas.microsoft.com/office/drawing/2014/main" id="{F6F3AABC-7C0A-4B51-B79B-C3D3B864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6972300"/>
            <a:ext cx="190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107A"/>
                </a:solidFill>
              </a:defRPr>
            </a:pPr>
            <a:r>
              <a:t>ONE</a:t>
            </a:r>
          </a:p>
          <a:p xmlns:a="http://schemas.openxmlformats.org/drawingml/2006/main">
            <a:pPr algn="ctr">
              <a:defRPr sz="3000" b="1">
                <a:solidFill>
                  <a:srgbClr val="FF107A"/>
                </a:solidFill>
              </a:defRPr>
            </a:pPr>
            <a:r>
              <a:t>ARENA</a:t>
            </a:r>
          </a:p>
        </p:txBody>
      </p:sp>
    </p:spTree>
    <p:extLst>
      <p:ext uri="{BB962C8B-B14F-4D97-AF65-F5344CB8AC3E}">
        <p14:creationId xmlns:p14="http://schemas.microsoft.com/office/powerpoint/2010/main" val="6942310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.3">
            <a:extLst xmlns:a="http://schemas.openxmlformats.org/drawingml/2006/main">
              <a:ext uri="{FF2B5EF4-FFF2-40B4-BE49-F238E27FC236}">
                <a16:creationId xmlns:a16="http://schemas.microsoft.com/office/drawing/2014/main" id="{BDC9C485-75D7-4E83-A8C3-35059F1D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50A"/>
              </a:gs>
              <a:gs pos="54000">
                <a:srgbClr val="101027"/>
              </a:gs>
              <a:gs pos="100000">
                <a:srgbClr val="1A1026"/>
              </a:gs>
            </a:gsLst>
            <a:lin ang="1500000"/>
          </a:gradFill>
          <a:ln xmlns:a="http://schemas.openxmlformats.org/drawingml/2006/main" w="0">
            <a:solidFill>
              <a:srgbClr val="05050A"/>
            </a:solidFill>
            <a:prstDash val="solid"/>
          </a:ln>
        </p:spPr>
      </p:sp>
      <p:sp>
        <p:nvSpPr>
          <p:cNvPr id="2" name="accent.slash.3.1">
            <a:extLst xmlns:a="http://schemas.openxmlformats.org/drawingml/2006/main">
              <a:ext uri="{FF2B5EF4-FFF2-40B4-BE49-F238E27FC236}">
                <a16:creationId xmlns:a16="http://schemas.microsoft.com/office/drawing/2014/main" id="{EEACFB66-8733-40DF-8EAC-77254986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6954500" y="-1714500"/>
            <a:ext cx="8572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3" name="accent.slash.3.2">
            <a:extLst xmlns:a="http://schemas.openxmlformats.org/drawingml/2006/main">
              <a:ext uri="{FF2B5EF4-FFF2-40B4-BE49-F238E27FC236}">
                <a16:creationId xmlns:a16="http://schemas.microsoft.com/office/drawing/2014/main" id="{230C470C-D80C-48FC-81C9-9592730A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8021300" y="-1714500"/>
            <a:ext cx="2857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" name="accent.floor.3">
            <a:extLst xmlns:a="http://schemas.openxmlformats.org/drawingml/2006/main">
              <a:ext uri="{FF2B5EF4-FFF2-40B4-BE49-F238E27FC236}">
                <a16:creationId xmlns:a16="http://schemas.microsoft.com/office/drawing/2014/main" id="{61257F61-9503-431E-81CC-C4158380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0"/>
            <a:ext cx="1828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</p:sp>
      <p:sp>
        <p:nvSpPr>
          <p:cNvPr id="5" name="accent.floor.line.3">
            <a:extLst xmlns:a="http://schemas.openxmlformats.org/drawingml/2006/main">
              <a:ext uri="{FF2B5EF4-FFF2-40B4-BE49-F238E27FC236}">
                <a16:creationId xmlns:a16="http://schemas.microsoft.com/office/drawing/2014/main" id="{3378F8A9-DB3C-46D4-932C-219CAB94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6" name="footer.section.3">
            <a:extLst xmlns:a="http://schemas.openxmlformats.org/drawingml/2006/main">
              <a:ext uri="{FF2B5EF4-FFF2-40B4-BE49-F238E27FC236}">
                <a16:creationId xmlns:a16="http://schemas.microsoft.com/office/drawing/2014/main" id="{142F1AED-A514-444A-BFB5-63667C98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</a:defRPr>
            </a:pPr>
            <a:r>
              <a:t>OBJECTIVE</a:t>
            </a:r>
          </a:p>
        </p:txBody>
      </p:sp>
      <p:sp>
        <p:nvSpPr>
          <p:cNvPr id="7" name="footer.page.3">
            <a:extLst xmlns:a="http://schemas.openxmlformats.org/drawingml/2006/main">
              <a:ext uri="{FF2B5EF4-FFF2-40B4-BE49-F238E27FC236}">
                <a16:creationId xmlns:a16="http://schemas.microsoft.com/office/drawing/2014/main" id="{935AC55F-EB09-4258-B496-BCC508F0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6202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E5FF"/>
                </a:solidFill>
              </a:defRPr>
            </a:pPr>
            <a:r>
              <a:t>03</a:t>
            </a:r>
          </a:p>
        </p:txBody>
      </p:sp>
      <p:sp>
        <p:nvSpPr>
          <p:cNvPr id="8" name="label.OBJECTIVE">
            <a:extLst xmlns:a="http://schemas.openxmlformats.org/drawingml/2006/main">
              <a:ext uri="{FF2B5EF4-FFF2-40B4-BE49-F238E27FC236}">
                <a16:creationId xmlns:a16="http://schemas.microsoft.com/office/drawing/2014/main" id="{58A06421-89A3-43E1-8AC1-DA8EC4D1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905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107A"/>
                </a:solidFill>
              </a:defRPr>
            </a:pPr>
            <a:r>
              <a:t>OBJECTIVE</a:t>
            </a:r>
          </a:p>
        </p:txBody>
      </p:sp>
      <p:sp>
        <p:nvSpPr>
          <p:cNvPr id="9" name="slide-title.3">
            <a:extLst xmlns:a="http://schemas.openxmlformats.org/drawingml/2006/main">
              <a:ext uri="{FF2B5EF4-FFF2-40B4-BE49-F238E27FC236}">
                <a16:creationId xmlns:a16="http://schemas.microsoft.com/office/drawing/2014/main" id="{F2B5204B-31CE-4FA1-9A92-CFC33B5C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90625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t>Build a playable event platform, not only a scoreboard</a:t>
            </a:r>
          </a:p>
        </p:txBody>
      </p:sp>
      <p:sp>
        <p:nvSpPr>
          <p:cNvPr id="10" name="slide-subtitle.3">
            <a:extLst xmlns:a="http://schemas.openxmlformats.org/drawingml/2006/main">
              <a:ext uri="{FF2B5EF4-FFF2-40B4-BE49-F238E27FC236}">
                <a16:creationId xmlns:a16="http://schemas.microsoft.com/office/drawing/2014/main" id="{5BB54E10-81C3-41BF-8EBD-BDD6C3F2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104900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A1AA"/>
                </a:solidFill>
              </a:defRPr>
            </a:pPr>
            <a:r>
              <a:t>The objective is to turn IIITN events into interactive live experiences.</a:t>
            </a:r>
          </a:p>
        </p:txBody>
      </p:sp>
      <p:sp>
        <p:nvSpPr>
          <p:cNvPr id="11" name="objective.big">
            <a:extLst xmlns:a="http://schemas.openxmlformats.org/drawingml/2006/main">
              <a:ext uri="{FF2B5EF4-FFF2-40B4-BE49-F238E27FC236}">
                <a16:creationId xmlns:a16="http://schemas.microsoft.com/office/drawing/2014/main" id="{AFF27DEB-9352-4B7D-92D0-1262B255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8382000" cy="1257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t>Let every viewer become a manager.</a:t>
            </a:r>
          </a:p>
        </p:txBody>
      </p:sp>
      <p:sp>
        <p:nvSpPr>
          <p:cNvPr id="12" name="objective.pillar.0.line">
            <a:extLst xmlns:a="http://schemas.openxmlformats.org/drawingml/2006/main">
              <a:ext uri="{FF2B5EF4-FFF2-40B4-BE49-F238E27FC236}">
                <a16:creationId xmlns:a16="http://schemas.microsoft.com/office/drawing/2014/main" id="{F3BEFF61-E8BB-4C65-B958-F66E9D30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386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13" name="objective.pillar.0.title">
            <a:extLst xmlns:a="http://schemas.openxmlformats.org/drawingml/2006/main">
              <a:ext uri="{FF2B5EF4-FFF2-40B4-BE49-F238E27FC236}">
                <a16:creationId xmlns:a16="http://schemas.microsoft.com/office/drawing/2014/main" id="{7C495CFB-62F0-47F7-9AD2-0C6AB4F1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15050"/>
            <a:ext cx="40005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E5FF"/>
                </a:solidFill>
              </a:defRPr>
            </a:pPr>
            <a:r>
              <a:t>Pre-event</a:t>
            </a:r>
          </a:p>
        </p:txBody>
      </p:sp>
      <p:sp>
        <p:nvSpPr>
          <p:cNvPr id="14" name="objective.pillar.0.body">
            <a:extLst xmlns:a="http://schemas.openxmlformats.org/drawingml/2006/main">
              <a:ext uri="{FF2B5EF4-FFF2-40B4-BE49-F238E27FC236}">
                <a16:creationId xmlns:a16="http://schemas.microsoft.com/office/drawing/2014/main" id="{D3B6535E-2027-451C-9E92-72854522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05600"/>
            <a:ext cx="4000500" cy="895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4F5"/>
                </a:solidFill>
              </a:defRPr>
            </a:pPr>
            <a:r>
              <a:t>Browse matches, choose sport, create team before deadline</a:t>
            </a:r>
          </a:p>
        </p:txBody>
      </p:sp>
      <p:sp>
        <p:nvSpPr>
          <p:cNvPr id="15" name="objective.pillar.1.line">
            <a:extLst xmlns:a="http://schemas.openxmlformats.org/drawingml/2006/main">
              <a:ext uri="{FF2B5EF4-FFF2-40B4-BE49-F238E27FC236}">
                <a16:creationId xmlns:a16="http://schemas.microsoft.com/office/drawing/2014/main" id="{222FE955-8A1E-42E2-A878-EFDEB591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10250"/>
            <a:ext cx="386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16" name="objective.pillar.1.title">
            <a:extLst xmlns:a="http://schemas.openxmlformats.org/drawingml/2006/main">
              <a:ext uri="{FF2B5EF4-FFF2-40B4-BE49-F238E27FC236}">
                <a16:creationId xmlns:a16="http://schemas.microsoft.com/office/drawing/2014/main" id="{C205C9F0-C135-40AB-B65C-6E18CBE1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115050"/>
            <a:ext cx="40005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50914"/>
                </a:solidFill>
              </a:defRPr>
            </a:pPr>
            <a:r>
              <a:t>Live event</a:t>
            </a:r>
          </a:p>
        </p:txBody>
      </p:sp>
      <p:sp>
        <p:nvSpPr>
          <p:cNvPr id="17" name="objective.pillar.1.body">
            <a:extLst xmlns:a="http://schemas.openxmlformats.org/drawingml/2006/main">
              <a:ext uri="{FF2B5EF4-FFF2-40B4-BE49-F238E27FC236}">
                <a16:creationId xmlns:a16="http://schemas.microsoft.com/office/drawing/2014/main" id="{29178688-0CE5-4791-9AD5-AF957313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705600"/>
            <a:ext cx="4000500" cy="895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4F5"/>
                </a:solidFill>
              </a:defRPr>
            </a:pPr>
            <a:r>
              <a:t>Watch stream, track scores, follow contest position</a:t>
            </a:r>
          </a:p>
        </p:txBody>
      </p:sp>
      <p:sp>
        <p:nvSpPr>
          <p:cNvPr id="18" name="objective.pillar.2.line">
            <a:extLst xmlns:a="http://schemas.openxmlformats.org/drawingml/2006/main">
              <a:ext uri="{FF2B5EF4-FFF2-40B4-BE49-F238E27FC236}">
                <a16:creationId xmlns:a16="http://schemas.microsoft.com/office/drawing/2014/main" id="{4844CFC0-CB77-45EE-95F4-A55D3224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810250"/>
            <a:ext cx="386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7"/>
          </a:solidFill>
          <a:ln xmlns:a="http://schemas.openxmlformats.org/drawingml/2006/main" w="0">
            <a:solidFill>
              <a:srgbClr val="00FF87"/>
            </a:solidFill>
            <a:prstDash val="solid"/>
          </a:ln>
        </p:spPr>
      </p:sp>
      <p:sp>
        <p:nvSpPr>
          <p:cNvPr id="19" name="objective.pillar.2.title">
            <a:extLst xmlns:a="http://schemas.openxmlformats.org/drawingml/2006/main">
              <a:ext uri="{FF2B5EF4-FFF2-40B4-BE49-F238E27FC236}">
                <a16:creationId xmlns:a16="http://schemas.microsoft.com/office/drawing/2014/main" id="{9B3F545B-D6B1-4497-9698-B9609ADA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115050"/>
            <a:ext cx="40005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FF87"/>
                </a:solidFill>
              </a:defRPr>
            </a:pPr>
            <a:r>
              <a:t>Post-event</a:t>
            </a:r>
          </a:p>
        </p:txBody>
      </p:sp>
      <p:sp>
        <p:nvSpPr>
          <p:cNvPr id="20" name="objective.pillar.2.body">
            <a:extLst xmlns:a="http://schemas.openxmlformats.org/drawingml/2006/main">
              <a:ext uri="{FF2B5EF4-FFF2-40B4-BE49-F238E27FC236}">
                <a16:creationId xmlns:a16="http://schemas.microsoft.com/office/drawing/2014/main" id="{F05CBA2B-3CE2-4083-B85D-F76A2CEC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705600"/>
            <a:ext cx="4000500" cy="895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4F5"/>
                </a:solidFill>
              </a:defRPr>
            </a:pPr>
            <a:r>
              <a:t>Leaderboard, rankings, points, and learning loop</a:t>
            </a:r>
          </a:p>
        </p:txBody>
      </p:sp>
      <p:sp>
        <p:nvSpPr>
          <p:cNvPr id="21" name="objective.core">
            <a:extLst xmlns:a="http://schemas.openxmlformats.org/drawingml/2006/main">
              <a:ext uri="{FF2B5EF4-FFF2-40B4-BE49-F238E27FC236}">
                <a16:creationId xmlns:a16="http://schemas.microsoft.com/office/drawing/2014/main" id="{F61F41FF-1523-4461-93EA-0B3DC6AD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29000"/>
            <a:ext cx="4476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</p:sp>
      <p:sp>
        <p:nvSpPr>
          <p:cNvPr id="22" name="objective.core.text">
            <a:extLst xmlns:a="http://schemas.openxmlformats.org/drawingml/2006/main">
              <a:ext uri="{FF2B5EF4-FFF2-40B4-BE49-F238E27FC236}">
                <a16:creationId xmlns:a16="http://schemas.microsoft.com/office/drawing/2014/main" id="{FB59DB47-95BC-4523-8C52-836D9BB4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29050"/>
            <a:ext cx="3762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t>Fantasy + Streaming + Live Data + AI</a:t>
            </a:r>
          </a:p>
        </p:txBody>
      </p:sp>
    </p:spTree>
    <p:extLst>
      <p:ext uri="{BB962C8B-B14F-4D97-AF65-F5344CB8AC3E}">
        <p14:creationId xmlns:p14="http://schemas.microsoft.com/office/powerpoint/2010/main" val="3250617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.4">
            <a:extLst xmlns:a="http://schemas.openxmlformats.org/drawingml/2006/main">
              <a:ext uri="{FF2B5EF4-FFF2-40B4-BE49-F238E27FC236}">
                <a16:creationId xmlns:a16="http://schemas.microsoft.com/office/drawing/2014/main" id="{143B6E93-2AA0-4D50-AD04-B11DEA98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50A"/>
              </a:gs>
              <a:gs pos="54000">
                <a:srgbClr val="101027"/>
              </a:gs>
              <a:gs pos="100000">
                <a:srgbClr val="1A1026"/>
              </a:gs>
            </a:gsLst>
            <a:lin ang="1500000"/>
          </a:gradFill>
          <a:ln xmlns:a="http://schemas.openxmlformats.org/drawingml/2006/main" w="0">
            <a:solidFill>
              <a:srgbClr val="05050A"/>
            </a:solidFill>
            <a:prstDash val="solid"/>
          </a:ln>
        </p:spPr>
      </p:sp>
      <p:sp>
        <p:nvSpPr>
          <p:cNvPr id="2" name="accent.slash.4.1">
            <a:extLst xmlns:a="http://schemas.openxmlformats.org/drawingml/2006/main">
              <a:ext uri="{FF2B5EF4-FFF2-40B4-BE49-F238E27FC236}">
                <a16:creationId xmlns:a16="http://schemas.microsoft.com/office/drawing/2014/main" id="{CA47E229-C6EE-4232-91FD-D469F7D4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6954500" y="-1714500"/>
            <a:ext cx="8572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3" name="accent.slash.4.2">
            <a:extLst xmlns:a="http://schemas.openxmlformats.org/drawingml/2006/main">
              <a:ext uri="{FF2B5EF4-FFF2-40B4-BE49-F238E27FC236}">
                <a16:creationId xmlns:a16="http://schemas.microsoft.com/office/drawing/2014/main" id="{AC80E6BF-9264-4E49-B8C3-CE5F3F6A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8021300" y="-1714500"/>
            <a:ext cx="2857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" name="accent.floor.4">
            <a:extLst xmlns:a="http://schemas.openxmlformats.org/drawingml/2006/main">
              <a:ext uri="{FF2B5EF4-FFF2-40B4-BE49-F238E27FC236}">
                <a16:creationId xmlns:a16="http://schemas.microsoft.com/office/drawing/2014/main" id="{6CDBF6C7-2D2C-404D-BED4-B119673D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0"/>
            <a:ext cx="1828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</p:sp>
      <p:sp>
        <p:nvSpPr>
          <p:cNvPr id="5" name="accent.floor.line.4">
            <a:extLst xmlns:a="http://schemas.openxmlformats.org/drawingml/2006/main">
              <a:ext uri="{FF2B5EF4-FFF2-40B4-BE49-F238E27FC236}">
                <a16:creationId xmlns:a16="http://schemas.microsoft.com/office/drawing/2014/main" id="{25AC3437-D134-4EE0-AA32-C43D951A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6" name="footer.section.4">
            <a:extLst xmlns:a="http://schemas.openxmlformats.org/drawingml/2006/main">
              <a:ext uri="{FF2B5EF4-FFF2-40B4-BE49-F238E27FC236}">
                <a16:creationId xmlns:a16="http://schemas.microsoft.com/office/drawing/2014/main" id="{A4A7CC14-BB85-4E71-9747-43134152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</a:defRPr>
            </a:pPr>
            <a:r>
              <a:t>OVERVIEW</a:t>
            </a:r>
          </a:p>
        </p:txBody>
      </p:sp>
      <p:sp>
        <p:nvSpPr>
          <p:cNvPr id="7" name="footer.page.4">
            <a:extLst xmlns:a="http://schemas.openxmlformats.org/drawingml/2006/main">
              <a:ext uri="{FF2B5EF4-FFF2-40B4-BE49-F238E27FC236}">
                <a16:creationId xmlns:a16="http://schemas.microsoft.com/office/drawing/2014/main" id="{21905905-CD40-486C-81DF-385C1B9B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6202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E5FF"/>
                </a:solidFill>
              </a:defRPr>
            </a:pPr>
            <a:r>
              <a:t>04</a:t>
            </a:r>
          </a:p>
        </p:txBody>
      </p:sp>
      <p:sp>
        <p:nvSpPr>
          <p:cNvPr id="8" name="label.OVERVIEW">
            <a:extLst xmlns:a="http://schemas.openxmlformats.org/drawingml/2006/main">
              <a:ext uri="{FF2B5EF4-FFF2-40B4-BE49-F238E27FC236}">
                <a16:creationId xmlns:a16="http://schemas.microsoft.com/office/drawing/2014/main" id="{A805A279-4706-4960-87EF-E743BB57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905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107A"/>
                </a:solidFill>
              </a:defRPr>
            </a:pPr>
            <a:r>
              <a:t>OVERVIEW</a:t>
            </a:r>
          </a:p>
        </p:txBody>
      </p:sp>
      <p:sp>
        <p:nvSpPr>
          <p:cNvPr id="9" name="slide-title.4">
            <a:extLst xmlns:a="http://schemas.openxmlformats.org/drawingml/2006/main">
              <a:ext uri="{FF2B5EF4-FFF2-40B4-BE49-F238E27FC236}">
                <a16:creationId xmlns:a16="http://schemas.microsoft.com/office/drawing/2014/main" id="{63B131BB-9A13-4D7B-8C9E-741FE3E8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90625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t>One platform, six connected modules</a:t>
            </a:r>
          </a:p>
        </p:txBody>
      </p:sp>
      <p:sp>
        <p:nvSpPr>
          <p:cNvPr id="10" name="slide-subtitle.4">
            <a:extLst xmlns:a="http://schemas.openxmlformats.org/drawingml/2006/main">
              <a:ext uri="{FF2B5EF4-FFF2-40B4-BE49-F238E27FC236}">
                <a16:creationId xmlns:a16="http://schemas.microsoft.com/office/drawing/2014/main" id="{4AED351E-B5DD-4EC3-9EA8-C850A962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104900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A1AA"/>
                </a:solidFill>
              </a:defRPr>
            </a:pPr>
            <a:r>
              <a:t>Each module maps directly to a route or service in the current app.</a:t>
            </a:r>
          </a:p>
        </p:txBody>
      </p:sp>
      <p:sp>
        <p:nvSpPr>
          <p:cNvPr id="11" name="overview.center">
            <a:extLst xmlns:a="http://schemas.openxmlformats.org/drawingml/2006/main">
              <a:ext uri="{FF2B5EF4-FFF2-40B4-BE49-F238E27FC236}">
                <a16:creationId xmlns:a16="http://schemas.microsoft.com/office/drawing/2014/main" id="{FACF675E-8D70-48BB-9397-CDAA0ED5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05250"/>
            <a:ext cx="3905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FF107A"/>
            </a:solidFill>
            <a:prstDash val="solid"/>
          </a:ln>
        </p:spPr>
      </p:sp>
      <p:sp>
        <p:nvSpPr>
          <p:cNvPr id="12" name="overview.center.text">
            <a:extLst xmlns:a="http://schemas.openxmlformats.org/drawingml/2006/main">
              <a:ext uri="{FF2B5EF4-FFF2-40B4-BE49-F238E27FC236}">
                <a16:creationId xmlns:a16="http://schemas.microsoft.com/office/drawing/2014/main" id="{79885FDA-9505-4BF3-976E-F8F90B06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767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t>IIITN</a:t>
            </a:r>
          </a:p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t>Fantasy Arena</a:t>
            </a:r>
          </a:p>
        </p:txBody>
      </p:sp>
      <p:sp>
        <p:nvSpPr>
          <p:cNvPr id="13" name="overview.node.0.node">
            <a:extLst xmlns:a="http://schemas.openxmlformats.org/drawingml/2006/main">
              <a:ext uri="{FF2B5EF4-FFF2-40B4-BE49-F238E27FC236}">
                <a16:creationId xmlns:a16="http://schemas.microsoft.com/office/drawing/2014/main" id="{FDE1407B-2E1C-45C9-8E8E-1D16C1AF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FFD700"/>
            </a:solidFill>
            <a:prstDash val="solid"/>
          </a:ln>
        </p:spPr>
      </p:sp>
      <p:sp>
        <p:nvSpPr>
          <p:cNvPr id="14" name="overview.node.0.accent">
            <a:extLst xmlns:a="http://schemas.openxmlformats.org/drawingml/2006/main">
              <a:ext uri="{FF2B5EF4-FFF2-40B4-BE49-F238E27FC236}">
                <a16:creationId xmlns:a16="http://schemas.microsoft.com/office/drawing/2014/main" id="{CC8843BF-5B5C-4E33-8711-83B24F97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  <a:ln xmlns:a="http://schemas.openxmlformats.org/drawingml/2006/main" w="0">
            <a:solidFill>
              <a:srgbClr val="FFD700"/>
            </a:solidFill>
            <a:prstDash val="solid"/>
          </a:ln>
        </p:spPr>
      </p:sp>
      <p:sp>
        <p:nvSpPr>
          <p:cNvPr id="15" name="overview.node.0.label">
            <a:extLst xmlns:a="http://schemas.openxmlformats.org/drawingml/2006/main">
              <a:ext uri="{FF2B5EF4-FFF2-40B4-BE49-F238E27FC236}">
                <a16:creationId xmlns:a16="http://schemas.microsoft.com/office/drawing/2014/main" id="{CB5677D4-5317-47D7-820D-C8CCA2E5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290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Matches</a:t>
            </a:r>
          </a:p>
        </p:txBody>
      </p:sp>
      <p:sp>
        <p:nvSpPr>
          <p:cNvPr id="16" name="overview.node.0.sub">
            <a:extLst xmlns:a="http://schemas.openxmlformats.org/drawingml/2006/main">
              <a:ext uri="{FF2B5EF4-FFF2-40B4-BE49-F238E27FC236}">
                <a16:creationId xmlns:a16="http://schemas.microsoft.com/office/drawing/2014/main" id="{A2DC328C-19B9-4DFC-B6BE-A0235DA3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48150"/>
            <a:ext cx="2647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Dashboard and match detail</a:t>
            </a:r>
          </a:p>
        </p:txBody>
      </p:sp>
      <p:sp>
        <p:nvSpPr>
          <p:cNvPr id="17" name="overview.node.1.node">
            <a:extLst xmlns:a="http://schemas.openxmlformats.org/drawingml/2006/main">
              <a:ext uri="{FF2B5EF4-FFF2-40B4-BE49-F238E27FC236}">
                <a16:creationId xmlns:a16="http://schemas.microsoft.com/office/drawing/2014/main" id="{D076FCEC-CC97-4925-80A7-D1251E57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7627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18" name="overview.node.1.accent">
            <a:extLst xmlns:a="http://schemas.openxmlformats.org/drawingml/2006/main">
              <a:ext uri="{FF2B5EF4-FFF2-40B4-BE49-F238E27FC236}">
                <a16:creationId xmlns:a16="http://schemas.microsoft.com/office/drawing/2014/main" id="{CCF1CBD4-F3BF-4A17-9B4E-192AEC0B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762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19" name="overview.node.1.label">
            <a:extLst xmlns:a="http://schemas.openxmlformats.org/drawingml/2006/main">
              <a:ext uri="{FF2B5EF4-FFF2-40B4-BE49-F238E27FC236}">
                <a16:creationId xmlns:a16="http://schemas.microsoft.com/office/drawing/2014/main" id="{77204131-9353-4701-BC6B-8AB6C1F4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9723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Team Draft</a:t>
            </a:r>
          </a:p>
        </p:txBody>
      </p:sp>
      <p:sp>
        <p:nvSpPr>
          <p:cNvPr id="20" name="overview.node.1.sub">
            <a:extLst xmlns:a="http://schemas.openxmlformats.org/drawingml/2006/main">
              <a:ext uri="{FF2B5EF4-FFF2-40B4-BE49-F238E27FC236}">
                <a16:creationId xmlns:a16="http://schemas.microsoft.com/office/drawing/2014/main" id="{3D47ECB6-C9B7-46F2-8FB5-7B140EA6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7391400"/>
            <a:ext cx="2647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11-player selection rules</a:t>
            </a:r>
          </a:p>
        </p:txBody>
      </p:sp>
      <p:sp>
        <p:nvSpPr>
          <p:cNvPr id="21" name="overview.node.2.node">
            <a:extLst xmlns:a="http://schemas.openxmlformats.org/drawingml/2006/main">
              <a:ext uri="{FF2B5EF4-FFF2-40B4-BE49-F238E27FC236}">
                <a16:creationId xmlns:a16="http://schemas.microsoft.com/office/drawing/2014/main" id="{143C3447-376F-4862-ABA0-F1F98197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7627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00FF87"/>
            </a:solidFill>
            <a:prstDash val="solid"/>
          </a:ln>
        </p:spPr>
      </p:sp>
      <p:sp>
        <p:nvSpPr>
          <p:cNvPr id="22" name="overview.node.2.accent">
            <a:extLst xmlns:a="http://schemas.openxmlformats.org/drawingml/2006/main">
              <a:ext uri="{FF2B5EF4-FFF2-40B4-BE49-F238E27FC236}">
                <a16:creationId xmlns:a16="http://schemas.microsoft.com/office/drawing/2014/main" id="{74EEBE3D-8AF1-481C-94D7-4075840F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762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7"/>
          </a:solidFill>
          <a:ln xmlns:a="http://schemas.openxmlformats.org/drawingml/2006/main" w="0">
            <a:solidFill>
              <a:srgbClr val="00FF87"/>
            </a:solidFill>
            <a:prstDash val="solid"/>
          </a:ln>
        </p:spPr>
      </p:sp>
      <p:sp>
        <p:nvSpPr>
          <p:cNvPr id="23" name="overview.node.2.label">
            <a:extLst xmlns:a="http://schemas.openxmlformats.org/drawingml/2006/main">
              <a:ext uri="{FF2B5EF4-FFF2-40B4-BE49-F238E27FC236}">
                <a16:creationId xmlns:a16="http://schemas.microsoft.com/office/drawing/2014/main" id="{362FDFA4-DEC5-4A51-B0E3-E11414B5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9723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Contests</a:t>
            </a:r>
          </a:p>
        </p:txBody>
      </p:sp>
      <p:sp>
        <p:nvSpPr>
          <p:cNvPr id="24" name="overview.node.2.sub">
            <a:extLst xmlns:a="http://schemas.openxmlformats.org/drawingml/2006/main">
              <a:ext uri="{FF2B5EF4-FFF2-40B4-BE49-F238E27FC236}">
                <a16:creationId xmlns:a16="http://schemas.microsoft.com/office/drawing/2014/main" id="{9B233B46-6183-44A6-8598-9A82F4B5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7391400"/>
            <a:ext cx="2647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Entry fees and rankings</a:t>
            </a:r>
          </a:p>
        </p:txBody>
      </p:sp>
      <p:sp>
        <p:nvSpPr>
          <p:cNvPr id="25" name="overview.node.3.node">
            <a:extLst xmlns:a="http://schemas.openxmlformats.org/drawingml/2006/main">
              <a:ext uri="{FF2B5EF4-FFF2-40B4-BE49-F238E27FC236}">
                <a16:creationId xmlns:a16="http://schemas.microsoft.com/office/drawing/2014/main" id="{FDEE9A9E-28E2-45E3-8C7C-C4B190F3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61950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E50914"/>
            </a:solidFill>
            <a:prstDash val="solid"/>
          </a:ln>
        </p:spPr>
      </p:sp>
      <p:sp>
        <p:nvSpPr>
          <p:cNvPr id="26" name="overview.node.3.accent">
            <a:extLst xmlns:a="http://schemas.openxmlformats.org/drawingml/2006/main">
              <a:ext uri="{FF2B5EF4-FFF2-40B4-BE49-F238E27FC236}">
                <a16:creationId xmlns:a16="http://schemas.microsoft.com/office/drawing/2014/main" id="{EF478192-CBC7-42CD-B039-FD5EF2FD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6195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27" name="overview.node.3.label">
            <a:extLst xmlns:a="http://schemas.openxmlformats.org/drawingml/2006/main">
              <a:ext uri="{FF2B5EF4-FFF2-40B4-BE49-F238E27FC236}">
                <a16:creationId xmlns:a16="http://schemas.microsoft.com/office/drawing/2014/main" id="{728C77B4-341A-4B84-9B47-7B4E4EE7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38290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Live Scores</a:t>
            </a:r>
          </a:p>
        </p:txBody>
      </p:sp>
      <p:sp>
        <p:nvSpPr>
          <p:cNvPr id="28" name="overview.node.3.sub">
            <a:extLst xmlns:a="http://schemas.openxmlformats.org/drawingml/2006/main">
              <a:ext uri="{FF2B5EF4-FFF2-40B4-BE49-F238E27FC236}">
                <a16:creationId xmlns:a16="http://schemas.microsoft.com/office/drawing/2014/main" id="{D243F207-DCAA-4B40-9F52-452ADD92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4248150"/>
            <a:ext cx="2647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Cricket and F1 tracking</a:t>
            </a:r>
          </a:p>
        </p:txBody>
      </p:sp>
      <p:sp>
        <p:nvSpPr>
          <p:cNvPr id="29" name="overview.node.4.node">
            <a:extLst xmlns:a="http://schemas.openxmlformats.org/drawingml/2006/main">
              <a:ext uri="{FF2B5EF4-FFF2-40B4-BE49-F238E27FC236}">
                <a16:creationId xmlns:a16="http://schemas.microsoft.com/office/drawing/2014/main" id="{C75DC293-512D-4C0A-8AC4-24AF8BFE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622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A855F7"/>
            </a:solidFill>
            <a:prstDash val="solid"/>
          </a:ln>
        </p:spPr>
      </p:sp>
      <p:sp>
        <p:nvSpPr>
          <p:cNvPr id="30" name="overview.node.4.accent">
            <a:extLst xmlns:a="http://schemas.openxmlformats.org/drawingml/2006/main">
              <a:ext uri="{FF2B5EF4-FFF2-40B4-BE49-F238E27FC236}">
                <a16:creationId xmlns:a16="http://schemas.microsoft.com/office/drawing/2014/main" id="{487FF608-65A4-4FD6-B6B7-A9528986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62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  <a:prstDash val="solid"/>
          </a:ln>
        </p:spPr>
      </p:sp>
      <p:sp>
        <p:nvSpPr>
          <p:cNvPr id="31" name="overview.node.4.label">
            <a:extLst xmlns:a="http://schemas.openxmlformats.org/drawingml/2006/main">
              <a:ext uri="{FF2B5EF4-FFF2-40B4-BE49-F238E27FC236}">
                <a16:creationId xmlns:a16="http://schemas.microsoft.com/office/drawing/2014/main" id="{A1205289-C2F5-4B1E-9F75-49649AAD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9718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Watch Party</a:t>
            </a:r>
          </a:p>
        </p:txBody>
      </p:sp>
      <p:sp>
        <p:nvSpPr>
          <p:cNvPr id="32" name="overview.node.4.sub">
            <a:extLst xmlns:a="http://schemas.openxmlformats.org/drawingml/2006/main">
              <a:ext uri="{FF2B5EF4-FFF2-40B4-BE49-F238E27FC236}">
                <a16:creationId xmlns:a16="http://schemas.microsoft.com/office/drawing/2014/main" id="{CEB01FFE-7F51-4177-B014-D5E9E0C3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390900"/>
            <a:ext cx="2647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OBS and screen share</a:t>
            </a:r>
          </a:p>
        </p:txBody>
      </p:sp>
      <p:sp>
        <p:nvSpPr>
          <p:cNvPr id="33" name="overview.node.5.node">
            <a:extLst xmlns:a="http://schemas.openxmlformats.org/drawingml/2006/main">
              <a:ext uri="{FF2B5EF4-FFF2-40B4-BE49-F238E27FC236}">
                <a16:creationId xmlns:a16="http://schemas.microsoft.com/office/drawing/2014/main" id="{5E9BF76E-902E-4108-AF64-64F23CF7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622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</p:sp>
      <p:sp>
        <p:nvSpPr>
          <p:cNvPr id="34" name="overview.node.5.accent">
            <a:extLst xmlns:a="http://schemas.openxmlformats.org/drawingml/2006/main">
              <a:ext uri="{FF2B5EF4-FFF2-40B4-BE49-F238E27FC236}">
                <a16:creationId xmlns:a16="http://schemas.microsoft.com/office/drawing/2014/main" id="{1584F2D7-D019-4AB8-A8CF-B1A0BDFA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62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35" name="overview.node.5.label">
            <a:extLst xmlns:a="http://schemas.openxmlformats.org/drawingml/2006/main">
              <a:ext uri="{FF2B5EF4-FFF2-40B4-BE49-F238E27FC236}">
                <a16:creationId xmlns:a16="http://schemas.microsoft.com/office/drawing/2014/main" id="{6349095F-C8D2-4CB6-881C-764DFA5B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7180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AI Coach</a:t>
            </a:r>
          </a:p>
        </p:txBody>
      </p:sp>
      <p:sp>
        <p:nvSpPr>
          <p:cNvPr id="36" name="overview.node.5.sub">
            <a:extLst xmlns:a="http://schemas.openxmlformats.org/drawingml/2006/main">
              <a:ext uri="{FF2B5EF4-FFF2-40B4-BE49-F238E27FC236}">
                <a16:creationId xmlns:a16="http://schemas.microsoft.com/office/drawing/2014/main" id="{C70F659D-AA15-4230-90FB-9DB57FD2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90900"/>
            <a:ext cx="2647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Champak guidance</a:t>
            </a:r>
          </a:p>
        </p:txBody>
      </p:sp>
    </p:spTree>
    <p:extLst>
      <p:ext uri="{BB962C8B-B14F-4D97-AF65-F5344CB8AC3E}">
        <p14:creationId xmlns:p14="http://schemas.microsoft.com/office/powerpoint/2010/main" val="10576051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.5">
            <a:extLst xmlns:a="http://schemas.openxmlformats.org/drawingml/2006/main">
              <a:ext uri="{FF2B5EF4-FFF2-40B4-BE49-F238E27FC236}">
                <a16:creationId xmlns:a16="http://schemas.microsoft.com/office/drawing/2014/main" id="{3E926E7E-DF41-4E20-810B-BB79080D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50A"/>
              </a:gs>
              <a:gs pos="54000">
                <a:srgbClr val="101027"/>
              </a:gs>
              <a:gs pos="100000">
                <a:srgbClr val="1A1026"/>
              </a:gs>
            </a:gsLst>
            <a:lin ang="1500000"/>
          </a:gradFill>
          <a:ln xmlns:a="http://schemas.openxmlformats.org/drawingml/2006/main" w="0">
            <a:solidFill>
              <a:srgbClr val="05050A"/>
            </a:solidFill>
            <a:prstDash val="solid"/>
          </a:ln>
        </p:spPr>
      </p:sp>
      <p:sp>
        <p:nvSpPr>
          <p:cNvPr id="2" name="accent.slash.5.1">
            <a:extLst xmlns:a="http://schemas.openxmlformats.org/drawingml/2006/main">
              <a:ext uri="{FF2B5EF4-FFF2-40B4-BE49-F238E27FC236}">
                <a16:creationId xmlns:a16="http://schemas.microsoft.com/office/drawing/2014/main" id="{EA1B96D8-7871-4E4F-B3AE-E0035838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6954500" y="-1714500"/>
            <a:ext cx="8572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3" name="accent.slash.5.2">
            <a:extLst xmlns:a="http://schemas.openxmlformats.org/drawingml/2006/main">
              <a:ext uri="{FF2B5EF4-FFF2-40B4-BE49-F238E27FC236}">
                <a16:creationId xmlns:a16="http://schemas.microsoft.com/office/drawing/2014/main" id="{38C5BFB2-F839-4D79-B653-96F15858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8021300" y="-1714500"/>
            <a:ext cx="2857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" name="accent.floor.5">
            <a:extLst xmlns:a="http://schemas.openxmlformats.org/drawingml/2006/main">
              <a:ext uri="{FF2B5EF4-FFF2-40B4-BE49-F238E27FC236}">
                <a16:creationId xmlns:a16="http://schemas.microsoft.com/office/drawing/2014/main" id="{71194327-1BBD-4448-B964-E19DB29A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0"/>
            <a:ext cx="1828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</p:sp>
      <p:sp>
        <p:nvSpPr>
          <p:cNvPr id="5" name="accent.floor.line.5">
            <a:extLst xmlns:a="http://schemas.openxmlformats.org/drawingml/2006/main">
              <a:ext uri="{FF2B5EF4-FFF2-40B4-BE49-F238E27FC236}">
                <a16:creationId xmlns:a16="http://schemas.microsoft.com/office/drawing/2014/main" id="{EBAE9E9A-0E5A-4E58-977C-33993D4A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6" name="footer.section.5">
            <a:extLst xmlns:a="http://schemas.openxmlformats.org/drawingml/2006/main">
              <a:ext uri="{FF2B5EF4-FFF2-40B4-BE49-F238E27FC236}">
                <a16:creationId xmlns:a16="http://schemas.microsoft.com/office/drawing/2014/main" id="{EEC4E949-89EA-49D3-84EE-D2DBDF7B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</a:defRPr>
            </a:pPr>
            <a:r>
              <a:t>USER JOURNEY</a:t>
            </a:r>
          </a:p>
        </p:txBody>
      </p:sp>
      <p:sp>
        <p:nvSpPr>
          <p:cNvPr id="7" name="footer.page.5">
            <a:extLst xmlns:a="http://schemas.openxmlformats.org/drawingml/2006/main">
              <a:ext uri="{FF2B5EF4-FFF2-40B4-BE49-F238E27FC236}">
                <a16:creationId xmlns:a16="http://schemas.microsoft.com/office/drawing/2014/main" id="{8327B72D-9F5B-4B54-9281-D3AC8D1D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6202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E5FF"/>
                </a:solidFill>
              </a:defRPr>
            </a:pPr>
            <a:r>
              <a:t>05</a:t>
            </a:r>
          </a:p>
        </p:txBody>
      </p:sp>
      <p:sp>
        <p:nvSpPr>
          <p:cNvPr id="8" name="label.USER JOURNEY">
            <a:extLst xmlns:a="http://schemas.openxmlformats.org/drawingml/2006/main">
              <a:ext uri="{FF2B5EF4-FFF2-40B4-BE49-F238E27FC236}">
                <a16:creationId xmlns:a16="http://schemas.microsoft.com/office/drawing/2014/main" id="{5A8E5F93-5186-4767-879C-FD1F4C6B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362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107A"/>
                </a:solidFill>
              </a:defRPr>
            </a:pPr>
            <a:r>
              <a:t>USER JOURNEY</a:t>
            </a:r>
          </a:p>
        </p:txBody>
      </p:sp>
      <p:sp>
        <p:nvSpPr>
          <p:cNvPr id="9" name="slide-title.5">
            <a:extLst xmlns:a="http://schemas.openxmlformats.org/drawingml/2006/main">
              <a:ext uri="{FF2B5EF4-FFF2-40B4-BE49-F238E27FC236}">
                <a16:creationId xmlns:a16="http://schemas.microsoft.com/office/drawing/2014/main" id="{2EB7923F-9CDC-43FB-945D-7B830CD3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90625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t>From match discovery to leaderboard in one session</a:t>
            </a:r>
          </a:p>
        </p:txBody>
      </p:sp>
      <p:sp>
        <p:nvSpPr>
          <p:cNvPr id="10" name="slide-subtitle.5">
            <a:extLst xmlns:a="http://schemas.openxmlformats.org/drawingml/2006/main">
              <a:ext uri="{FF2B5EF4-FFF2-40B4-BE49-F238E27FC236}">
                <a16:creationId xmlns:a16="http://schemas.microsoft.com/office/drawing/2014/main" id="{9911161D-ABE1-401D-90DB-52125F75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104900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A1AA"/>
                </a:solidFill>
              </a:defRPr>
            </a:pPr>
            <a:r>
              <a:t>The flow is designed around a student opening the app before a live event.</a:t>
            </a:r>
          </a:p>
        </p:txBody>
      </p:sp>
      <p:sp>
        <p:nvSpPr>
          <p:cNvPr id="11" name="journey.badge.0">
            <a:extLst xmlns:a="http://schemas.openxmlformats.org/drawingml/2006/main">
              <a:ext uri="{FF2B5EF4-FFF2-40B4-BE49-F238E27FC236}">
                <a16:creationId xmlns:a16="http://schemas.microsoft.com/office/drawing/2014/main" id="{4D0CAC3C-60CD-4EC3-B5E0-8DF78AE2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909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00E5FF"/>
            </a:solidFill>
            <a:prstDash val="solid"/>
          </a:ln>
        </p:spPr>
      </p:sp>
      <p:sp>
        <p:nvSpPr>
          <p:cNvPr id="12" name="journey.num.0">
            <a:extLst xmlns:a="http://schemas.openxmlformats.org/drawingml/2006/main">
              <a:ext uri="{FF2B5EF4-FFF2-40B4-BE49-F238E27FC236}">
                <a16:creationId xmlns:a16="http://schemas.microsoft.com/office/drawing/2014/main" id="{40693213-0586-4743-A72F-BD09E99C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038600"/>
            <a:ext cx="609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E5FF"/>
                </a:solidFill>
              </a:defRPr>
            </a:pPr>
            <a:r>
              <a:t>1</a:t>
            </a:r>
          </a:p>
        </p:txBody>
      </p:sp>
      <p:sp>
        <p:nvSpPr>
          <p:cNvPr id="13" name="journey.title.0">
            <a:extLst xmlns:a="http://schemas.openxmlformats.org/drawingml/2006/main">
              <a:ext uri="{FF2B5EF4-FFF2-40B4-BE49-F238E27FC236}">
                <a16:creationId xmlns:a16="http://schemas.microsoft.com/office/drawing/2014/main" id="{B8A9F41F-9FB6-42F6-9701-0011D20D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27813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t>Discover</a:t>
            </a:r>
          </a:p>
        </p:txBody>
      </p:sp>
      <p:sp>
        <p:nvSpPr>
          <p:cNvPr id="14" name="journey.body.0">
            <a:extLst xmlns:a="http://schemas.openxmlformats.org/drawingml/2006/main">
              <a:ext uri="{FF2B5EF4-FFF2-40B4-BE49-F238E27FC236}">
                <a16:creationId xmlns:a16="http://schemas.microsoft.com/office/drawing/2014/main" id="{44AA0E93-3552-4204-A7DE-39535B02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29300"/>
            <a:ext cx="2781300" cy="971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1A1AA"/>
                </a:solidFill>
              </a:defRPr>
            </a:pPr>
            <a:r>
              <a:t>Filter cricket, football, F1, or hackathon events.</a:t>
            </a:r>
          </a:p>
        </p:txBody>
      </p:sp>
      <p:sp>
        <p:nvSpPr>
          <p:cNvPr id="15" name="journey.line.0">
            <a:extLst xmlns:a="http://schemas.openxmlformats.org/drawingml/2006/main">
              <a:ext uri="{FF2B5EF4-FFF2-40B4-BE49-F238E27FC236}">
                <a16:creationId xmlns:a16="http://schemas.microsoft.com/office/drawing/2014/main" id="{117C27B4-E697-48D1-B59C-8A6E11B7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14825"/>
            <a:ext cx="1104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16" name="journey.badge.1">
            <a:extLst xmlns:a="http://schemas.openxmlformats.org/drawingml/2006/main">
              <a:ext uri="{FF2B5EF4-FFF2-40B4-BE49-F238E27FC236}">
                <a16:creationId xmlns:a16="http://schemas.microsoft.com/office/drawing/2014/main" id="{8D9C1693-FB5A-4BBA-9870-4EED91FE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909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FFD700"/>
            </a:solidFill>
            <a:prstDash val="solid"/>
          </a:ln>
        </p:spPr>
      </p:sp>
      <p:sp>
        <p:nvSpPr>
          <p:cNvPr id="17" name="journey.num.1">
            <a:extLst xmlns:a="http://schemas.openxmlformats.org/drawingml/2006/main">
              <a:ext uri="{FF2B5EF4-FFF2-40B4-BE49-F238E27FC236}">
                <a16:creationId xmlns:a16="http://schemas.microsoft.com/office/drawing/2014/main" id="{28B3DA1C-C36A-4722-8164-16AC1C7C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38600"/>
            <a:ext cx="609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D700"/>
                </a:solidFill>
              </a:defRPr>
            </a:pPr>
            <a:r>
              <a:t>2</a:t>
            </a:r>
          </a:p>
        </p:txBody>
      </p:sp>
      <p:sp>
        <p:nvSpPr>
          <p:cNvPr id="18" name="journey.title.1">
            <a:extLst xmlns:a="http://schemas.openxmlformats.org/drawingml/2006/main">
              <a:ext uri="{FF2B5EF4-FFF2-40B4-BE49-F238E27FC236}">
                <a16:creationId xmlns:a16="http://schemas.microsoft.com/office/drawing/2014/main" id="{C59894A5-8F58-4E02-95F8-5303D98E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19700"/>
            <a:ext cx="27813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t>Draft</a:t>
            </a:r>
          </a:p>
        </p:txBody>
      </p:sp>
      <p:sp>
        <p:nvSpPr>
          <p:cNvPr id="19" name="journey.body.1">
            <a:extLst xmlns:a="http://schemas.openxmlformats.org/drawingml/2006/main">
              <a:ext uri="{FF2B5EF4-FFF2-40B4-BE49-F238E27FC236}">
                <a16:creationId xmlns:a16="http://schemas.microsoft.com/office/drawing/2014/main" id="{A32A2177-4398-4036-86F5-7E539274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29300"/>
            <a:ext cx="2781300" cy="971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1A1AA"/>
                </a:solidFill>
              </a:defRPr>
            </a:pPr>
            <a:r>
              <a:t>Build an 11-member team within credits and role limits.</a:t>
            </a:r>
          </a:p>
        </p:txBody>
      </p:sp>
      <p:sp>
        <p:nvSpPr>
          <p:cNvPr id="20" name="journey.line.1">
            <a:extLst xmlns:a="http://schemas.openxmlformats.org/drawingml/2006/main">
              <a:ext uri="{FF2B5EF4-FFF2-40B4-BE49-F238E27FC236}">
                <a16:creationId xmlns:a16="http://schemas.microsoft.com/office/drawing/2014/main" id="{2C32B753-84FD-41DC-8391-5B634302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14825"/>
            <a:ext cx="1104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  <a:ln xmlns:a="http://schemas.openxmlformats.org/drawingml/2006/main" w="0">
            <a:solidFill>
              <a:srgbClr val="FFD700"/>
            </a:solidFill>
            <a:prstDash val="solid"/>
          </a:ln>
        </p:spPr>
      </p:sp>
      <p:sp>
        <p:nvSpPr>
          <p:cNvPr id="21" name="journey.badge.2">
            <a:extLst xmlns:a="http://schemas.openxmlformats.org/drawingml/2006/main">
              <a:ext uri="{FF2B5EF4-FFF2-40B4-BE49-F238E27FC236}">
                <a16:creationId xmlns:a16="http://schemas.microsoft.com/office/drawing/2014/main" id="{8A204A3A-ED51-4632-B816-E9E05FBB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909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00FF87"/>
            </a:solidFill>
            <a:prstDash val="solid"/>
          </a:ln>
        </p:spPr>
      </p:sp>
      <p:sp>
        <p:nvSpPr>
          <p:cNvPr id="22" name="journey.num.2">
            <a:extLst xmlns:a="http://schemas.openxmlformats.org/drawingml/2006/main">
              <a:ext uri="{FF2B5EF4-FFF2-40B4-BE49-F238E27FC236}">
                <a16:creationId xmlns:a16="http://schemas.microsoft.com/office/drawing/2014/main" id="{CAE36783-3F63-4031-9409-9F7ADCDF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038600"/>
            <a:ext cx="609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FF87"/>
                </a:solidFill>
              </a:defRPr>
            </a:pPr>
            <a:r>
              <a:t>3</a:t>
            </a:r>
          </a:p>
        </p:txBody>
      </p:sp>
      <p:sp>
        <p:nvSpPr>
          <p:cNvPr id="23" name="journey.title.2">
            <a:extLst xmlns:a="http://schemas.openxmlformats.org/drawingml/2006/main">
              <a:ext uri="{FF2B5EF4-FFF2-40B4-BE49-F238E27FC236}">
                <a16:creationId xmlns:a16="http://schemas.microsoft.com/office/drawing/2014/main" id="{96B3B91D-3544-40DD-8489-38FB40FC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19700"/>
            <a:ext cx="27813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t>Enter</a:t>
            </a:r>
          </a:p>
        </p:txBody>
      </p:sp>
      <p:sp>
        <p:nvSpPr>
          <p:cNvPr id="24" name="journey.body.2">
            <a:extLst xmlns:a="http://schemas.openxmlformats.org/drawingml/2006/main">
              <a:ext uri="{FF2B5EF4-FFF2-40B4-BE49-F238E27FC236}">
                <a16:creationId xmlns:a16="http://schemas.microsoft.com/office/drawing/2014/main" id="{571F11BA-9F1D-4E91-957D-C4999317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829300"/>
            <a:ext cx="2781300" cy="971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1A1AA"/>
                </a:solidFill>
              </a:defRPr>
            </a:pPr>
            <a:r>
              <a:t>Join mega, head-to-head, practice, or winner-takes-all contests.</a:t>
            </a:r>
          </a:p>
        </p:txBody>
      </p:sp>
      <p:sp>
        <p:nvSpPr>
          <p:cNvPr id="25" name="journey.line.2">
            <a:extLst xmlns:a="http://schemas.openxmlformats.org/drawingml/2006/main">
              <a:ext uri="{FF2B5EF4-FFF2-40B4-BE49-F238E27FC236}">
                <a16:creationId xmlns:a16="http://schemas.microsoft.com/office/drawing/2014/main" id="{6C5D5BA3-1BE9-48CF-BA31-C4F0EF56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14825"/>
            <a:ext cx="1104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7"/>
          </a:solidFill>
          <a:ln xmlns:a="http://schemas.openxmlformats.org/drawingml/2006/main" w="0">
            <a:solidFill>
              <a:srgbClr val="00FF87"/>
            </a:solidFill>
            <a:prstDash val="solid"/>
          </a:ln>
        </p:spPr>
      </p:sp>
      <p:sp>
        <p:nvSpPr>
          <p:cNvPr id="26" name="journey.badge.3">
            <a:extLst xmlns:a="http://schemas.openxmlformats.org/drawingml/2006/main">
              <a:ext uri="{FF2B5EF4-FFF2-40B4-BE49-F238E27FC236}">
                <a16:creationId xmlns:a16="http://schemas.microsoft.com/office/drawing/2014/main" id="{EB9E59C1-DB7F-4D46-8D0D-CBE306EB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7909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E50914"/>
            </a:solidFill>
            <a:prstDash val="solid"/>
          </a:ln>
        </p:spPr>
      </p:sp>
      <p:sp>
        <p:nvSpPr>
          <p:cNvPr id="27" name="journey.num.3">
            <a:extLst xmlns:a="http://schemas.openxmlformats.org/drawingml/2006/main">
              <a:ext uri="{FF2B5EF4-FFF2-40B4-BE49-F238E27FC236}">
                <a16:creationId xmlns:a16="http://schemas.microsoft.com/office/drawing/2014/main" id="{ABCE4C0E-AC65-4B6B-B74D-96992675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4038600"/>
            <a:ext cx="609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E50914"/>
                </a:solidFill>
              </a:defRPr>
            </a:pPr>
            <a:r>
              <a:t>4</a:t>
            </a:r>
          </a:p>
        </p:txBody>
      </p:sp>
      <p:sp>
        <p:nvSpPr>
          <p:cNvPr id="28" name="journey.title.3">
            <a:extLst xmlns:a="http://schemas.openxmlformats.org/drawingml/2006/main">
              <a:ext uri="{FF2B5EF4-FFF2-40B4-BE49-F238E27FC236}">
                <a16:creationId xmlns:a16="http://schemas.microsoft.com/office/drawing/2014/main" id="{E4C701C6-A7DF-4D95-89E3-89706850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219700"/>
            <a:ext cx="27813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t>Watch</a:t>
            </a:r>
          </a:p>
        </p:txBody>
      </p:sp>
      <p:sp>
        <p:nvSpPr>
          <p:cNvPr id="29" name="journey.body.3">
            <a:extLst xmlns:a="http://schemas.openxmlformats.org/drawingml/2006/main">
              <a:ext uri="{FF2B5EF4-FFF2-40B4-BE49-F238E27FC236}">
                <a16:creationId xmlns:a16="http://schemas.microsoft.com/office/drawing/2014/main" id="{A6FDC0E9-9CE1-49AA-85B1-F772DF6F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829300"/>
            <a:ext cx="2133600" cy="971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1A1AA"/>
                </a:solidFill>
              </a:defRPr>
            </a:pPr>
            <a:r>
              <a:t>Stream via OBS or browser screen share.</a:t>
            </a:r>
          </a:p>
        </p:txBody>
      </p:sp>
      <p:sp>
        <p:nvSpPr>
          <p:cNvPr id="30" name="journey.line.3">
            <a:extLst xmlns:a="http://schemas.openxmlformats.org/drawingml/2006/main">
              <a:ext uri="{FF2B5EF4-FFF2-40B4-BE49-F238E27FC236}">
                <a16:creationId xmlns:a16="http://schemas.microsoft.com/office/drawing/2014/main" id="{825193F7-CCAC-49D7-82AD-9157A1FF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4314825"/>
            <a:ext cx="1104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31" name="journey.badge.4">
            <a:extLst xmlns:a="http://schemas.openxmlformats.org/drawingml/2006/main">
              <a:ext uri="{FF2B5EF4-FFF2-40B4-BE49-F238E27FC236}">
                <a16:creationId xmlns:a16="http://schemas.microsoft.com/office/drawing/2014/main" id="{8B339AF8-F0E5-4178-B6FB-CB74C411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7909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FF107A"/>
            </a:solidFill>
            <a:prstDash val="solid"/>
          </a:ln>
        </p:spPr>
      </p:sp>
      <p:sp>
        <p:nvSpPr>
          <p:cNvPr id="32" name="journey.num.4">
            <a:extLst xmlns:a="http://schemas.openxmlformats.org/drawingml/2006/main">
              <a:ext uri="{FF2B5EF4-FFF2-40B4-BE49-F238E27FC236}">
                <a16:creationId xmlns:a16="http://schemas.microsoft.com/office/drawing/2014/main" id="{E9579F89-0E3C-407B-BB43-F6C00F4B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4038600"/>
            <a:ext cx="609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107A"/>
                </a:solidFill>
              </a:defRPr>
            </a:pPr>
            <a:r>
              <a:t>5</a:t>
            </a:r>
          </a:p>
        </p:txBody>
      </p:sp>
      <p:sp>
        <p:nvSpPr>
          <p:cNvPr id="33" name="journey.title.4">
            <a:extLst xmlns:a="http://schemas.openxmlformats.org/drawingml/2006/main">
              <a:ext uri="{FF2B5EF4-FFF2-40B4-BE49-F238E27FC236}">
                <a16:creationId xmlns:a16="http://schemas.microsoft.com/office/drawing/2014/main" id="{4613DDA1-00E9-477A-A04C-6B1B1975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219700"/>
            <a:ext cx="27813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t>Track</a:t>
            </a:r>
          </a:p>
        </p:txBody>
      </p:sp>
      <p:sp>
        <p:nvSpPr>
          <p:cNvPr id="34" name="journey.body.4">
            <a:extLst xmlns:a="http://schemas.openxmlformats.org/drawingml/2006/main">
              <a:ext uri="{FF2B5EF4-FFF2-40B4-BE49-F238E27FC236}">
                <a16:creationId xmlns:a16="http://schemas.microsoft.com/office/drawing/2014/main" id="{8C8DD8D6-26E7-4FD4-B01B-FF2014CF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5829300"/>
            <a:ext cx="2133600" cy="971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1A1AA"/>
                </a:solidFill>
              </a:defRPr>
            </a:pPr>
            <a:r>
              <a:t>Follow scores, rankings, and AI tips.</a:t>
            </a:r>
          </a:p>
        </p:txBody>
      </p:sp>
      <p:sp>
        <p:nvSpPr>
          <p:cNvPr id="35" name="journey.close">
            <a:extLst xmlns:a="http://schemas.openxmlformats.org/drawingml/2006/main">
              <a:ext uri="{FF2B5EF4-FFF2-40B4-BE49-F238E27FC236}">
                <a16:creationId xmlns:a16="http://schemas.microsoft.com/office/drawing/2014/main" id="{478510BE-5642-4236-8A97-B0BA914E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7696200"/>
            <a:ext cx="1123950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F4F5"/>
                </a:solidFill>
              </a:defRPr>
            </a:pPr>
            <a:r>
              <a:t>The product keeps users inside the event loop instead of sending them to separate tools.</a:t>
            </a:r>
          </a:p>
        </p:txBody>
      </p:sp>
    </p:spTree>
    <p:extLst>
      <p:ext uri="{BB962C8B-B14F-4D97-AF65-F5344CB8AC3E}">
        <p14:creationId xmlns:p14="http://schemas.microsoft.com/office/powerpoint/2010/main" val="2784413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.6">
            <a:extLst xmlns:a="http://schemas.openxmlformats.org/drawingml/2006/main">
              <a:ext uri="{FF2B5EF4-FFF2-40B4-BE49-F238E27FC236}">
                <a16:creationId xmlns:a16="http://schemas.microsoft.com/office/drawing/2014/main" id="{F6EC32A9-86DC-4546-BF45-9578D65D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50A"/>
              </a:gs>
              <a:gs pos="54000">
                <a:srgbClr val="101027"/>
              </a:gs>
              <a:gs pos="100000">
                <a:srgbClr val="1A1026"/>
              </a:gs>
            </a:gsLst>
            <a:lin ang="1500000"/>
          </a:gradFill>
          <a:ln xmlns:a="http://schemas.openxmlformats.org/drawingml/2006/main" w="0">
            <a:solidFill>
              <a:srgbClr val="05050A"/>
            </a:solidFill>
            <a:prstDash val="solid"/>
          </a:ln>
        </p:spPr>
      </p:sp>
      <p:sp>
        <p:nvSpPr>
          <p:cNvPr id="2" name="accent.slash.6.1">
            <a:extLst xmlns:a="http://schemas.openxmlformats.org/drawingml/2006/main">
              <a:ext uri="{FF2B5EF4-FFF2-40B4-BE49-F238E27FC236}">
                <a16:creationId xmlns:a16="http://schemas.microsoft.com/office/drawing/2014/main" id="{1510D6CC-343B-4C2E-81BB-230DC475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6954500" y="-1714500"/>
            <a:ext cx="8572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3" name="accent.slash.6.2">
            <a:extLst xmlns:a="http://schemas.openxmlformats.org/drawingml/2006/main">
              <a:ext uri="{FF2B5EF4-FFF2-40B4-BE49-F238E27FC236}">
                <a16:creationId xmlns:a16="http://schemas.microsoft.com/office/drawing/2014/main" id="{6DC1E254-4A64-4AAC-A8D4-B1CBD074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8021300" y="-1714500"/>
            <a:ext cx="2857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" name="accent.floor.6">
            <a:extLst xmlns:a="http://schemas.openxmlformats.org/drawingml/2006/main">
              <a:ext uri="{FF2B5EF4-FFF2-40B4-BE49-F238E27FC236}">
                <a16:creationId xmlns:a16="http://schemas.microsoft.com/office/drawing/2014/main" id="{0A68599F-87C4-46D8-B5FE-4A676F80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0"/>
            <a:ext cx="1828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</p:sp>
      <p:sp>
        <p:nvSpPr>
          <p:cNvPr id="5" name="accent.floor.line.6">
            <a:extLst xmlns:a="http://schemas.openxmlformats.org/drawingml/2006/main">
              <a:ext uri="{FF2B5EF4-FFF2-40B4-BE49-F238E27FC236}">
                <a16:creationId xmlns:a16="http://schemas.microsoft.com/office/drawing/2014/main" id="{BE8B7632-EDD9-4C41-BD2F-1056E465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6" name="footer.section.6">
            <a:extLst xmlns:a="http://schemas.openxmlformats.org/drawingml/2006/main">
              <a:ext uri="{FF2B5EF4-FFF2-40B4-BE49-F238E27FC236}">
                <a16:creationId xmlns:a16="http://schemas.microsoft.com/office/drawing/2014/main" id="{2C539775-060F-4613-8EDB-B0E5B4B7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</a:defRPr>
            </a:pPr>
            <a:r>
              <a:t>FANTASY TEAM CREATION</a:t>
            </a:r>
          </a:p>
        </p:txBody>
      </p:sp>
      <p:sp>
        <p:nvSpPr>
          <p:cNvPr id="7" name="footer.page.6">
            <a:extLst xmlns:a="http://schemas.openxmlformats.org/drawingml/2006/main">
              <a:ext uri="{FF2B5EF4-FFF2-40B4-BE49-F238E27FC236}">
                <a16:creationId xmlns:a16="http://schemas.microsoft.com/office/drawing/2014/main" id="{29FA4577-1632-4BCF-9851-1AC2F402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6202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E5FF"/>
                </a:solidFill>
              </a:defRPr>
            </a:pPr>
            <a:r>
              <a:t>06</a:t>
            </a:r>
          </a:p>
        </p:txBody>
      </p:sp>
      <p:sp>
        <p:nvSpPr>
          <p:cNvPr id="8" name="label.FANTASY TEAM CREATION">
            <a:extLst xmlns:a="http://schemas.openxmlformats.org/drawingml/2006/main">
              <a:ext uri="{FF2B5EF4-FFF2-40B4-BE49-F238E27FC236}">
                <a16:creationId xmlns:a16="http://schemas.microsoft.com/office/drawing/2014/main" id="{06AED9D8-E4E2-4AE1-A741-5EDFD3EA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38195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107A"/>
                </a:solidFill>
              </a:defRPr>
            </a:pPr>
            <a:r>
              <a:t>FANTASY TEAM CREATION</a:t>
            </a:r>
          </a:p>
        </p:txBody>
      </p:sp>
      <p:sp>
        <p:nvSpPr>
          <p:cNvPr id="9" name="slide-title.6">
            <a:extLst xmlns:a="http://schemas.openxmlformats.org/drawingml/2006/main">
              <a:ext uri="{FF2B5EF4-FFF2-40B4-BE49-F238E27FC236}">
                <a16:creationId xmlns:a16="http://schemas.microsoft.com/office/drawing/2014/main" id="{8128FA63-F9F9-483A-AD80-3A1903D8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90625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t>Drafting uses Dream11-style constraints</a:t>
            </a:r>
          </a:p>
        </p:txBody>
      </p:sp>
      <p:sp>
        <p:nvSpPr>
          <p:cNvPr id="10" name="slide-subtitle.6">
            <a:extLst xmlns:a="http://schemas.openxmlformats.org/drawingml/2006/main">
              <a:ext uri="{FF2B5EF4-FFF2-40B4-BE49-F238E27FC236}">
                <a16:creationId xmlns:a16="http://schemas.microsoft.com/office/drawing/2014/main" id="{3D14DCA4-69C4-43A3-B6B0-537126B6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104900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A1AA"/>
                </a:solidFill>
              </a:defRPr>
            </a:pPr>
            <a:r>
              <a:t>The app validates credits, roles, team balance, captain, and vice-captain choices.</a:t>
            </a:r>
          </a:p>
        </p:txBody>
      </p:sp>
      <p:sp>
        <p:nvSpPr>
          <p:cNvPr id="11" name="draft.phone">
            <a:extLst xmlns:a="http://schemas.openxmlformats.org/drawingml/2006/main">
              <a:ext uri="{FF2B5EF4-FFF2-40B4-BE49-F238E27FC236}">
                <a16:creationId xmlns:a16="http://schemas.microsoft.com/office/drawing/2014/main" id="{6E093B61-A3C0-4DE7-839B-89D6F746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5619750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00E5FF"/>
            </a:solidFill>
            <a:prstDash val="solid"/>
          </a:ln>
        </p:spPr>
      </p:sp>
      <p:sp>
        <p:nvSpPr>
          <p:cNvPr id="12" name="draft.phone.title">
            <a:extLst xmlns:a="http://schemas.openxmlformats.org/drawingml/2006/main">
              <a:ext uri="{FF2B5EF4-FFF2-40B4-BE49-F238E27FC236}">
                <a16:creationId xmlns:a16="http://schemas.microsoft.com/office/drawing/2014/main" id="{834490F1-BC6A-442D-85F1-12F12B8A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4805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E5FF"/>
                </a:solidFill>
              </a:defRPr>
            </a:pPr>
            <a:r>
              <a:t>CREATE TEAM</a:t>
            </a:r>
          </a:p>
        </p:txBody>
      </p:sp>
      <p:sp>
        <p:nvSpPr>
          <p:cNvPr id="13" name="draft.credits.plate">
            <a:extLst xmlns:a="http://schemas.openxmlformats.org/drawingml/2006/main">
              <a:ext uri="{FF2B5EF4-FFF2-40B4-BE49-F238E27FC236}">
                <a16:creationId xmlns:a16="http://schemas.microsoft.com/office/drawing/2014/main" id="{039C5F88-4A7F-4A76-81E5-109F8956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91000"/>
            <a:ext cx="1809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FFD700"/>
            </a:solidFill>
            <a:prstDash val="solid"/>
          </a:ln>
        </p:spPr>
      </p:sp>
      <p:sp>
        <p:nvSpPr>
          <p:cNvPr id="14" name="draft.credits.value">
            <a:extLst xmlns:a="http://schemas.openxmlformats.org/drawingml/2006/main">
              <a:ext uri="{FF2B5EF4-FFF2-40B4-BE49-F238E27FC236}">
                <a16:creationId xmlns:a16="http://schemas.microsoft.com/office/drawing/2014/main" id="{CA783B31-BF89-4267-94BF-52BE04D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D700"/>
                </a:solidFill>
              </a:defRPr>
            </a:pPr>
            <a:r>
              <a:t>100</a:t>
            </a:r>
          </a:p>
        </p:txBody>
      </p:sp>
      <p:sp>
        <p:nvSpPr>
          <p:cNvPr id="15" name="draft.credits.label">
            <a:extLst xmlns:a="http://schemas.openxmlformats.org/drawingml/2006/main">
              <a:ext uri="{FF2B5EF4-FFF2-40B4-BE49-F238E27FC236}">
                <a16:creationId xmlns:a16="http://schemas.microsoft.com/office/drawing/2014/main" id="{ECA85178-C0DF-4747-82D7-DFE4E4B8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673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4F5"/>
                </a:solidFill>
              </a:defRPr>
            </a:pPr>
            <a:r>
              <a:t>Total credits</a:t>
            </a:r>
          </a:p>
        </p:txBody>
      </p:sp>
      <p:sp>
        <p:nvSpPr>
          <p:cNvPr id="16" name="draft.players.plate">
            <a:extLst xmlns:a="http://schemas.openxmlformats.org/drawingml/2006/main">
              <a:ext uri="{FF2B5EF4-FFF2-40B4-BE49-F238E27FC236}">
                <a16:creationId xmlns:a16="http://schemas.microsoft.com/office/drawing/2014/main" id="{28CEA7E7-29CB-4A63-8721-B3D901D8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91000"/>
            <a:ext cx="23050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</p:sp>
      <p:sp>
        <p:nvSpPr>
          <p:cNvPr id="17" name="draft.players.value">
            <a:extLst xmlns:a="http://schemas.openxmlformats.org/drawingml/2006/main">
              <a:ext uri="{FF2B5EF4-FFF2-40B4-BE49-F238E27FC236}">
                <a16:creationId xmlns:a16="http://schemas.microsoft.com/office/drawing/2014/main" id="{A14122AD-2E18-42C6-A979-27DB68B7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38650"/>
            <a:ext cx="1847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107A"/>
                </a:solidFill>
              </a:defRPr>
            </a:pPr>
            <a:r>
              <a:t>11</a:t>
            </a:r>
          </a:p>
        </p:txBody>
      </p:sp>
      <p:sp>
        <p:nvSpPr>
          <p:cNvPr id="18" name="draft.players.label">
            <a:extLst xmlns:a="http://schemas.openxmlformats.org/drawingml/2006/main">
              <a:ext uri="{FF2B5EF4-FFF2-40B4-BE49-F238E27FC236}">
                <a16:creationId xmlns:a16="http://schemas.microsoft.com/office/drawing/2014/main" id="{E56A8B1E-6474-4CE4-92FD-F7449C45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6730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4F5"/>
                </a:solidFill>
              </a:defRPr>
            </a:pPr>
            <a:r>
              <a:t>Players required</a:t>
            </a:r>
          </a:p>
        </p:txBody>
      </p:sp>
      <p:sp>
        <p:nvSpPr>
          <p:cNvPr id="19" name="draft.role.0">
            <a:extLst xmlns:a="http://schemas.openxmlformats.org/drawingml/2006/main">
              <a:ext uri="{FF2B5EF4-FFF2-40B4-BE49-F238E27FC236}">
                <a16:creationId xmlns:a16="http://schemas.microsoft.com/office/drawing/2014/main" id="{57DB3EEE-7B81-4633-8512-EB0480FD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076950"/>
            <a:ext cx="895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20" name="draft.role.text.0">
            <a:extLst xmlns:a="http://schemas.openxmlformats.org/drawingml/2006/main">
              <a:ext uri="{FF2B5EF4-FFF2-40B4-BE49-F238E27FC236}">
                <a16:creationId xmlns:a16="http://schemas.microsoft.com/office/drawing/2014/main" id="{55B8F91D-0FA4-440B-BEB2-D76B3EAE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19125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E5FF"/>
                </a:solidFill>
              </a:defRPr>
            </a:pPr>
            <a:r>
              <a:t>WK</a:t>
            </a:r>
          </a:p>
          <a:p xmlns:a="http://schemas.openxmlformats.org/drawingml/2006/main">
            <a:pPr algn="ctr">
              <a:defRPr sz="1275" b="1">
                <a:solidFill>
                  <a:srgbClr val="00E5FF"/>
                </a:solidFill>
              </a:defRPr>
            </a:pPr>
            <a:r>
              <a:t>min 1</a:t>
            </a:r>
          </a:p>
        </p:txBody>
      </p:sp>
      <p:sp>
        <p:nvSpPr>
          <p:cNvPr id="21" name="draft.role.1">
            <a:extLst xmlns:a="http://schemas.openxmlformats.org/drawingml/2006/main">
              <a:ext uri="{FF2B5EF4-FFF2-40B4-BE49-F238E27FC236}">
                <a16:creationId xmlns:a16="http://schemas.microsoft.com/office/drawing/2014/main" id="{C182E80B-EB61-4CAA-82A7-54BA2DAA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076950"/>
            <a:ext cx="895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FFD700"/>
            </a:solidFill>
            <a:prstDash val="solid"/>
          </a:ln>
        </p:spPr>
      </p:sp>
      <p:sp>
        <p:nvSpPr>
          <p:cNvPr id="22" name="draft.role.text.1">
            <a:extLst xmlns:a="http://schemas.openxmlformats.org/drawingml/2006/main">
              <a:ext uri="{FF2B5EF4-FFF2-40B4-BE49-F238E27FC236}">
                <a16:creationId xmlns:a16="http://schemas.microsoft.com/office/drawing/2014/main" id="{CBA9C9E3-CBC8-4CEC-A0EF-F5A0D6CD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19125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D700"/>
                </a:solidFill>
              </a:defRPr>
            </a:pPr>
            <a:r>
              <a:t>BAT</a:t>
            </a:r>
          </a:p>
          <a:p xmlns:a="http://schemas.openxmlformats.org/drawingml/2006/main">
            <a:pPr algn="ctr">
              <a:defRPr sz="1275" b="1">
                <a:solidFill>
                  <a:srgbClr val="FFD700"/>
                </a:solidFill>
              </a:defRPr>
            </a:pPr>
            <a:r>
              <a:t>min 3</a:t>
            </a:r>
          </a:p>
        </p:txBody>
      </p:sp>
      <p:sp>
        <p:nvSpPr>
          <p:cNvPr id="23" name="draft.role.2">
            <a:extLst xmlns:a="http://schemas.openxmlformats.org/drawingml/2006/main">
              <a:ext uri="{FF2B5EF4-FFF2-40B4-BE49-F238E27FC236}">
                <a16:creationId xmlns:a16="http://schemas.microsoft.com/office/drawing/2014/main" id="{47781DFD-7F1F-479B-8406-7D021DD6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76950"/>
            <a:ext cx="895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00FF87"/>
            </a:solidFill>
            <a:prstDash val="solid"/>
          </a:ln>
        </p:spPr>
      </p:sp>
      <p:sp>
        <p:nvSpPr>
          <p:cNvPr id="24" name="draft.role.text.2">
            <a:extLst xmlns:a="http://schemas.openxmlformats.org/drawingml/2006/main">
              <a:ext uri="{FF2B5EF4-FFF2-40B4-BE49-F238E27FC236}">
                <a16:creationId xmlns:a16="http://schemas.microsoft.com/office/drawing/2014/main" id="{829AD1EF-90DF-4833-8127-BEDB1774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19125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FF87"/>
                </a:solidFill>
              </a:defRPr>
            </a:pPr>
            <a:r>
              <a:t>AR</a:t>
            </a:r>
          </a:p>
          <a:p xmlns:a="http://schemas.openxmlformats.org/drawingml/2006/main">
            <a:pPr algn="ctr">
              <a:defRPr sz="1275" b="1">
                <a:solidFill>
                  <a:srgbClr val="00FF87"/>
                </a:solidFill>
              </a:defRPr>
            </a:pPr>
            <a:r>
              <a:t>min 1</a:t>
            </a:r>
          </a:p>
        </p:txBody>
      </p:sp>
      <p:sp>
        <p:nvSpPr>
          <p:cNvPr id="25" name="draft.role.3">
            <a:extLst xmlns:a="http://schemas.openxmlformats.org/drawingml/2006/main">
              <a:ext uri="{FF2B5EF4-FFF2-40B4-BE49-F238E27FC236}">
                <a16:creationId xmlns:a16="http://schemas.microsoft.com/office/drawing/2014/main" id="{390A2F6B-DE04-4CAC-8C13-1AC7136B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76950"/>
            <a:ext cx="895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</p:sp>
      <p:sp>
        <p:nvSpPr>
          <p:cNvPr id="26" name="draft.role.text.3">
            <a:extLst xmlns:a="http://schemas.openxmlformats.org/drawingml/2006/main">
              <a:ext uri="{FF2B5EF4-FFF2-40B4-BE49-F238E27FC236}">
                <a16:creationId xmlns:a16="http://schemas.microsoft.com/office/drawing/2014/main" id="{04048ED8-1A0C-441A-AE49-40125622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9125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107A"/>
                </a:solidFill>
              </a:defRPr>
            </a:pPr>
            <a:r>
              <a:t>BOWL</a:t>
            </a:r>
          </a:p>
          <a:p xmlns:a="http://schemas.openxmlformats.org/drawingml/2006/main">
            <a:pPr algn="ctr">
              <a:defRPr sz="1275" b="1">
                <a:solidFill>
                  <a:srgbClr val="FF107A"/>
                </a:solidFill>
              </a:defRPr>
            </a:pPr>
            <a:r>
              <a:t>min 3</a:t>
            </a:r>
          </a:p>
        </p:txBody>
      </p:sp>
      <p:sp>
        <p:nvSpPr>
          <p:cNvPr id="27" name="draft.captain">
            <a:extLst xmlns:a="http://schemas.openxmlformats.org/drawingml/2006/main">
              <a:ext uri="{FF2B5EF4-FFF2-40B4-BE49-F238E27FC236}">
                <a16:creationId xmlns:a16="http://schemas.microsoft.com/office/drawing/2014/main" id="{1C4AAE2E-C93F-42B9-94CA-0A93517B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16280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t>Captain = 2x points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t>Vice-Captain = 1.5x points</a:t>
            </a:r>
          </a:p>
        </p:txBody>
      </p:sp>
      <p:sp>
        <p:nvSpPr>
          <p:cNvPr id="28" name="draft.b1.dot">
            <a:extLst xmlns:a="http://schemas.openxmlformats.org/drawingml/2006/main">
              <a:ext uri="{FF2B5EF4-FFF2-40B4-BE49-F238E27FC236}">
                <a16:creationId xmlns:a16="http://schemas.microsoft.com/office/drawing/2014/main" id="{401B9B83-AE6D-45D9-9F1E-C8945330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52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00"/>
          </a:solidFill>
          <a:ln xmlns:a="http://schemas.openxmlformats.org/drawingml/2006/main" w="0">
            <a:solidFill>
              <a:srgbClr val="FFD700"/>
            </a:solidFill>
            <a:prstDash val="solid"/>
          </a:ln>
        </p:spPr>
      </p:sp>
      <p:sp>
        <p:nvSpPr>
          <p:cNvPr id="29" name="draft.b1.text">
            <a:extLst xmlns:a="http://schemas.openxmlformats.org/drawingml/2006/main">
              <a:ext uri="{FF2B5EF4-FFF2-40B4-BE49-F238E27FC236}">
                <a16:creationId xmlns:a16="http://schemas.microsoft.com/office/drawing/2014/main" id="{9D941D59-672D-483E-A9AF-7F033D69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676650"/>
            <a:ext cx="8001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4F5"/>
                </a:solidFill>
              </a:defRPr>
            </a:pPr>
            <a:r>
              <a:t>Budget guard: a player cannot be selected if credits are insufficient.</a:t>
            </a:r>
          </a:p>
        </p:txBody>
      </p:sp>
      <p:sp>
        <p:nvSpPr>
          <p:cNvPr id="30" name="draft.b2.dot">
            <a:extLst xmlns:a="http://schemas.openxmlformats.org/drawingml/2006/main">
              <a:ext uri="{FF2B5EF4-FFF2-40B4-BE49-F238E27FC236}">
                <a16:creationId xmlns:a16="http://schemas.microsoft.com/office/drawing/2014/main" id="{DC60EFA0-C886-4265-B750-9AABF96B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29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1" name="draft.b2.text">
            <a:extLst xmlns:a="http://schemas.openxmlformats.org/drawingml/2006/main">
              <a:ext uri="{FF2B5EF4-FFF2-40B4-BE49-F238E27FC236}">
                <a16:creationId xmlns:a16="http://schemas.microsoft.com/office/drawing/2014/main" id="{F8929D1B-4A82-4195-9035-B07B5215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552950"/>
            <a:ext cx="8001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4F5"/>
                </a:solidFill>
              </a:defRPr>
            </a:pPr>
            <a:r>
              <a:t>Role guard: each sport has minimum and maximum composition rules.</a:t>
            </a:r>
          </a:p>
        </p:txBody>
      </p:sp>
      <p:sp>
        <p:nvSpPr>
          <p:cNvPr id="32" name="draft.b3.dot">
            <a:extLst xmlns:a="http://schemas.openxmlformats.org/drawingml/2006/main">
              <a:ext uri="{FF2B5EF4-FFF2-40B4-BE49-F238E27FC236}">
                <a16:creationId xmlns:a16="http://schemas.microsoft.com/office/drawing/2014/main" id="{2D404958-BADD-42F1-8033-5AF68E8C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505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F87"/>
          </a:solidFill>
          <a:ln xmlns:a="http://schemas.openxmlformats.org/drawingml/2006/main" w="0">
            <a:solidFill>
              <a:srgbClr val="00FF87"/>
            </a:solidFill>
            <a:prstDash val="solid"/>
          </a:ln>
        </p:spPr>
      </p:sp>
      <p:sp>
        <p:nvSpPr>
          <p:cNvPr id="33" name="draft.b3.text">
            <a:extLst xmlns:a="http://schemas.openxmlformats.org/drawingml/2006/main">
              <a:ext uri="{FF2B5EF4-FFF2-40B4-BE49-F238E27FC236}">
                <a16:creationId xmlns:a16="http://schemas.microsoft.com/office/drawing/2014/main" id="{69B06F79-BE43-47E1-9A0F-682314B3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29250"/>
            <a:ext cx="8001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4F5"/>
                </a:solidFill>
              </a:defRPr>
            </a:pPr>
            <a:r>
              <a:t>Team guard: max seven players from one real-world side.</a:t>
            </a:r>
          </a:p>
        </p:txBody>
      </p:sp>
      <p:sp>
        <p:nvSpPr>
          <p:cNvPr id="34" name="draft.b4.dot">
            <a:extLst xmlns:a="http://schemas.openxmlformats.org/drawingml/2006/main">
              <a:ext uri="{FF2B5EF4-FFF2-40B4-BE49-F238E27FC236}">
                <a16:creationId xmlns:a16="http://schemas.microsoft.com/office/drawing/2014/main" id="{12846CD3-040E-4F4D-BF60-4A35F047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38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35" name="draft.b4.text">
            <a:extLst xmlns:a="http://schemas.openxmlformats.org/drawingml/2006/main">
              <a:ext uri="{FF2B5EF4-FFF2-40B4-BE49-F238E27FC236}">
                <a16:creationId xmlns:a16="http://schemas.microsoft.com/office/drawing/2014/main" id="{4F9A42AC-4E65-4751-A1C0-0D1B89BE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6305550"/>
            <a:ext cx="8001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4F5"/>
                </a:solidFill>
              </a:defRPr>
            </a:pPr>
            <a:r>
              <a:t>Auth guard: only logged-in users can lock teams and join contests.</a:t>
            </a:r>
          </a:p>
        </p:txBody>
      </p:sp>
      <p:sp>
        <p:nvSpPr>
          <p:cNvPr id="36" name="draft.source">
            <a:extLst xmlns:a="http://schemas.openxmlformats.org/drawingml/2006/main">
              <a:ext uri="{FF2B5EF4-FFF2-40B4-BE49-F238E27FC236}">
                <a16:creationId xmlns:a16="http://schemas.microsoft.com/office/drawing/2014/main" id="{64E0D16B-BD16-44E6-926A-ED9D5067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7639050"/>
            <a:ext cx="7239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</a:defRPr>
            </a:pPr>
            <a:r>
              <a:t>Source: CreateTeam.jsx role config and backend /api/team endpoint.</a:t>
            </a:r>
          </a:p>
        </p:txBody>
      </p:sp>
      <p:sp>
        <p:nvSpPr>
          <p:cNvPr id="37" name="draft.rohit.photo.frame">
            <a:extLst xmlns:a="http://schemas.openxmlformats.org/drawingml/2006/main">
              <a:ext uri="{FF2B5EF4-FFF2-40B4-BE49-F238E27FC236}">
                <a16:creationId xmlns:a16="http://schemas.microsoft.com/office/drawing/2014/main" id="{6626B55E-2B5E-40C9-9FCC-D5C26B4D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400" y="3238500"/>
            <a:ext cx="10668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FFD700"/>
            </a:solidFill>
            <a:prstDash val="solid"/>
          </a:ln>
        </p:spPr>
      </p:sp>
      <p:pic>
        <p:nvPicPr>
          <p:cNvPr id="38" name="draft.rohit.photo.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e4b5e18214374"/>
          <a:srcRect xmlns:a="http://schemas.openxmlformats.org/drawingml/2006/main" l="0" t="16816" r="0" b="168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11550" y="3295650"/>
            <a:ext cx="952500" cy="819150"/>
          </a:xfrm>
          <a:prstGeom xmlns:a="http://schemas.openxmlformats.org/drawingml/2006/main" prst="roundRect">
            <a:avLst/>
          </a:prstGeom>
        </p:spPr>
      </p:pic>
      <p:sp>
        <p:nvSpPr>
          <p:cNvPr id="39" name="draft.max.photo.frame">
            <a:extLst xmlns:a="http://schemas.openxmlformats.org/drawingml/2006/main">
              <a:ext uri="{FF2B5EF4-FFF2-40B4-BE49-F238E27FC236}">
                <a16:creationId xmlns:a16="http://schemas.microsoft.com/office/drawing/2014/main" id="{F876094E-362E-4D48-85FF-84C70A3E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400" y="4514850"/>
            <a:ext cx="10668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E50914"/>
            </a:solidFill>
            <a:prstDash val="solid"/>
          </a:ln>
        </p:spPr>
      </p:sp>
      <p:pic>
        <p:nvPicPr>
          <p:cNvPr id="40" name="draft.max.photo.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cf3fc935b43fa"/>
          <a:srcRect xmlns:a="http://schemas.openxmlformats.org/drawingml/2006/main" l="0" t="17416" r="0" b="174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11550" y="4572000"/>
            <a:ext cx="952500" cy="819150"/>
          </a:xfrm>
          <a:prstGeom xmlns:a="http://schemas.openxmlformats.org/drawingml/2006/main" prst="roundRect">
            <a:avLst/>
          </a:prstGeom>
        </p:spPr>
      </p:pic>
      <p:sp>
        <p:nvSpPr>
          <p:cNvPr id="41" name="draft.ronaldo.photo.frame">
            <a:extLst xmlns:a="http://schemas.openxmlformats.org/drawingml/2006/main">
              <a:ext uri="{FF2B5EF4-FFF2-40B4-BE49-F238E27FC236}">
                <a16:creationId xmlns:a16="http://schemas.microsoft.com/office/drawing/2014/main" id="{BB13D70A-BC86-4494-9FC4-0DAE974C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400" y="5791200"/>
            <a:ext cx="10668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00FF87"/>
            </a:solidFill>
            <a:prstDash val="solid"/>
          </a:ln>
        </p:spPr>
      </p:sp>
      <p:pic>
        <p:nvPicPr>
          <p:cNvPr id="42" name="draft.ronaldo.photo.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acf1817f54e71"/>
          <a:srcRect xmlns:a="http://schemas.openxmlformats.org/drawingml/2006/main" l="0" t="12557" r="0" b="125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11550" y="5848350"/>
            <a:ext cx="952500" cy="8191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207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.7">
            <a:extLst xmlns:a="http://schemas.openxmlformats.org/drawingml/2006/main">
              <a:ext uri="{FF2B5EF4-FFF2-40B4-BE49-F238E27FC236}">
                <a16:creationId xmlns:a16="http://schemas.microsoft.com/office/drawing/2014/main" id="{33857022-8A73-4DD0-8172-6442791C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50A"/>
              </a:gs>
              <a:gs pos="54000">
                <a:srgbClr val="101027"/>
              </a:gs>
              <a:gs pos="100000">
                <a:srgbClr val="1A1026"/>
              </a:gs>
            </a:gsLst>
            <a:lin ang="1500000"/>
          </a:gradFill>
          <a:ln xmlns:a="http://schemas.openxmlformats.org/drawingml/2006/main" w="0">
            <a:solidFill>
              <a:srgbClr val="05050A"/>
            </a:solidFill>
            <a:prstDash val="solid"/>
          </a:ln>
        </p:spPr>
      </p:sp>
      <p:sp>
        <p:nvSpPr>
          <p:cNvPr id="2" name="accent.slash.7.1">
            <a:extLst xmlns:a="http://schemas.openxmlformats.org/drawingml/2006/main">
              <a:ext uri="{FF2B5EF4-FFF2-40B4-BE49-F238E27FC236}">
                <a16:creationId xmlns:a16="http://schemas.microsoft.com/office/drawing/2014/main" id="{99D6D41A-FD43-482E-87D6-EFD8E0CC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6954500" y="-1714500"/>
            <a:ext cx="8572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3" name="accent.slash.7.2">
            <a:extLst xmlns:a="http://schemas.openxmlformats.org/drawingml/2006/main">
              <a:ext uri="{FF2B5EF4-FFF2-40B4-BE49-F238E27FC236}">
                <a16:creationId xmlns:a16="http://schemas.microsoft.com/office/drawing/2014/main" id="{03FB8BA9-F994-413A-981B-C24FDAE8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8021300" y="-1714500"/>
            <a:ext cx="2857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" name="accent.floor.7">
            <a:extLst xmlns:a="http://schemas.openxmlformats.org/drawingml/2006/main">
              <a:ext uri="{FF2B5EF4-FFF2-40B4-BE49-F238E27FC236}">
                <a16:creationId xmlns:a16="http://schemas.microsoft.com/office/drawing/2014/main" id="{EC7D5B5B-784F-4409-9B87-67624835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0"/>
            <a:ext cx="1828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</p:sp>
      <p:sp>
        <p:nvSpPr>
          <p:cNvPr id="5" name="accent.floor.line.7">
            <a:extLst xmlns:a="http://schemas.openxmlformats.org/drawingml/2006/main">
              <a:ext uri="{FF2B5EF4-FFF2-40B4-BE49-F238E27FC236}">
                <a16:creationId xmlns:a16="http://schemas.microsoft.com/office/drawing/2014/main" id="{0378FB22-B26E-49CF-840E-44209DCB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6" name="footer.section.7">
            <a:extLst xmlns:a="http://schemas.openxmlformats.org/drawingml/2006/main">
              <a:ext uri="{FF2B5EF4-FFF2-40B4-BE49-F238E27FC236}">
                <a16:creationId xmlns:a16="http://schemas.microsoft.com/office/drawing/2014/main" id="{EFB70B3D-03B2-4321-91E0-5CB7E5D5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</a:defRPr>
            </a:pPr>
            <a:r>
              <a:t>CONTESTS &amp; LEADERBOARD</a:t>
            </a:r>
          </a:p>
        </p:txBody>
      </p:sp>
      <p:sp>
        <p:nvSpPr>
          <p:cNvPr id="7" name="footer.page.7">
            <a:extLst xmlns:a="http://schemas.openxmlformats.org/drawingml/2006/main">
              <a:ext uri="{FF2B5EF4-FFF2-40B4-BE49-F238E27FC236}">
                <a16:creationId xmlns:a16="http://schemas.microsoft.com/office/drawing/2014/main" id="{C01F2232-115C-454A-88A0-338B7267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6202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E5FF"/>
                </a:solidFill>
              </a:defRPr>
            </a:pPr>
            <a:r>
              <a:t>07</a:t>
            </a:r>
          </a:p>
        </p:txBody>
      </p:sp>
      <p:sp>
        <p:nvSpPr>
          <p:cNvPr id="8" name="label.CONTESTS &amp; LEADERBOARD">
            <a:extLst xmlns:a="http://schemas.openxmlformats.org/drawingml/2006/main">
              <a:ext uri="{FF2B5EF4-FFF2-40B4-BE49-F238E27FC236}">
                <a16:creationId xmlns:a16="http://schemas.microsoft.com/office/drawing/2014/main" id="{BF47BE90-980D-44EA-A987-92FA6064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3981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107A"/>
                </a:solidFill>
              </a:defRPr>
            </a:pPr>
            <a:r>
              <a:t>CONTESTS &amp; LEADERBOARD</a:t>
            </a:r>
          </a:p>
        </p:txBody>
      </p:sp>
      <p:sp>
        <p:nvSpPr>
          <p:cNvPr id="9" name="slide-title.7">
            <a:extLst xmlns:a="http://schemas.openxmlformats.org/drawingml/2006/main">
              <a:ext uri="{FF2B5EF4-FFF2-40B4-BE49-F238E27FC236}">
                <a16:creationId xmlns:a16="http://schemas.microsoft.com/office/drawing/2014/main" id="{8B27D089-EDB0-4ECC-94C8-6B7F3F2C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90625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t>Competition layers sit on top of every match</a:t>
            </a:r>
          </a:p>
        </p:txBody>
      </p:sp>
      <p:sp>
        <p:nvSpPr>
          <p:cNvPr id="10" name="slide-subtitle.7">
            <a:extLst xmlns:a="http://schemas.openxmlformats.org/drawingml/2006/main">
              <a:ext uri="{FF2B5EF4-FFF2-40B4-BE49-F238E27FC236}">
                <a16:creationId xmlns:a16="http://schemas.microsoft.com/office/drawing/2014/main" id="{87801BAA-F47F-4EAB-8C29-0A811B8B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104900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A1AA"/>
                </a:solidFill>
              </a:defRPr>
            </a:pPr>
            <a:r>
              <a:t>Users choose contests, spend wallet balance, and climb rankings based on points.</a:t>
            </a:r>
          </a:p>
        </p:txBody>
      </p:sp>
      <p:sp>
        <p:nvSpPr>
          <p:cNvPr id="11" name="contest.0.node">
            <a:extLst xmlns:a="http://schemas.openxmlformats.org/drawingml/2006/main">
              <a:ext uri="{FF2B5EF4-FFF2-40B4-BE49-F238E27FC236}">
                <a16:creationId xmlns:a16="http://schemas.microsoft.com/office/drawing/2014/main" id="{37471AED-88A5-4551-B64D-E6A50E2C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</p:sp>
      <p:sp>
        <p:nvSpPr>
          <p:cNvPr id="12" name="contest.0.accent">
            <a:extLst xmlns:a="http://schemas.openxmlformats.org/drawingml/2006/main">
              <a:ext uri="{FF2B5EF4-FFF2-40B4-BE49-F238E27FC236}">
                <a16:creationId xmlns:a16="http://schemas.microsoft.com/office/drawing/2014/main" id="{8322761A-60C2-4781-AF4F-BC64E44C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13" name="contest.0.label">
            <a:extLst xmlns:a="http://schemas.openxmlformats.org/drawingml/2006/main">
              <a:ext uri="{FF2B5EF4-FFF2-40B4-BE49-F238E27FC236}">
                <a16:creationId xmlns:a16="http://schemas.microsoft.com/office/drawing/2014/main" id="{470442FF-F1D2-4CA3-B5A6-4E86B168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38550"/>
            <a:ext cx="4495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Mega Contest</a:t>
            </a:r>
          </a:p>
        </p:txBody>
      </p:sp>
      <p:sp>
        <p:nvSpPr>
          <p:cNvPr id="14" name="contest.0.sub">
            <a:extLst xmlns:a="http://schemas.openxmlformats.org/drawingml/2006/main">
              <a:ext uri="{FF2B5EF4-FFF2-40B4-BE49-F238E27FC236}">
                <a16:creationId xmlns:a16="http://schemas.microsoft.com/office/drawing/2014/main" id="{F15DC84D-EC92-4696-ADC7-5BE0B0AE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57650"/>
            <a:ext cx="4457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Entry: 49 | Large pool</a:t>
            </a:r>
          </a:p>
        </p:txBody>
      </p:sp>
      <p:sp>
        <p:nvSpPr>
          <p:cNvPr id="15" name="contest.1.node">
            <a:extLst xmlns:a="http://schemas.openxmlformats.org/drawingml/2006/main">
              <a:ext uri="{FF2B5EF4-FFF2-40B4-BE49-F238E27FC236}">
                <a16:creationId xmlns:a16="http://schemas.microsoft.com/office/drawing/2014/main" id="{5FC68E2A-C18F-4257-88D7-E9FDFEB3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291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FFD700"/>
            </a:solidFill>
            <a:prstDash val="solid"/>
          </a:ln>
        </p:spPr>
      </p:sp>
      <p:sp>
        <p:nvSpPr>
          <p:cNvPr id="16" name="contest.1.accent">
            <a:extLst xmlns:a="http://schemas.openxmlformats.org/drawingml/2006/main">
              <a:ext uri="{FF2B5EF4-FFF2-40B4-BE49-F238E27FC236}">
                <a16:creationId xmlns:a16="http://schemas.microsoft.com/office/drawing/2014/main" id="{B9FCE43D-CE71-49A2-B85B-951B4C72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291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  <a:ln xmlns:a="http://schemas.openxmlformats.org/drawingml/2006/main" w="0">
            <a:solidFill>
              <a:srgbClr val="FFD700"/>
            </a:solidFill>
            <a:prstDash val="solid"/>
          </a:ln>
        </p:spPr>
      </p:sp>
      <p:sp>
        <p:nvSpPr>
          <p:cNvPr id="17" name="contest.1.label">
            <a:extLst xmlns:a="http://schemas.openxmlformats.org/drawingml/2006/main">
              <a:ext uri="{FF2B5EF4-FFF2-40B4-BE49-F238E27FC236}">
                <a16:creationId xmlns:a16="http://schemas.microsoft.com/office/drawing/2014/main" id="{AECDFD08-114F-422C-A485-8676FDE6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38700"/>
            <a:ext cx="4495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Head to Head</a:t>
            </a:r>
          </a:p>
        </p:txBody>
      </p:sp>
      <p:sp>
        <p:nvSpPr>
          <p:cNvPr id="18" name="contest.1.sub">
            <a:extLst xmlns:a="http://schemas.openxmlformats.org/drawingml/2006/main">
              <a:ext uri="{FF2B5EF4-FFF2-40B4-BE49-F238E27FC236}">
                <a16:creationId xmlns:a16="http://schemas.microsoft.com/office/drawing/2014/main" id="{DE72BEC1-05BE-4BED-AC67-FEFDEE2B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57800"/>
            <a:ext cx="4457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Entry: 25 | Two players</a:t>
            </a:r>
          </a:p>
        </p:txBody>
      </p:sp>
      <p:sp>
        <p:nvSpPr>
          <p:cNvPr id="19" name="contest.2.node">
            <a:extLst xmlns:a="http://schemas.openxmlformats.org/drawingml/2006/main">
              <a:ext uri="{FF2B5EF4-FFF2-40B4-BE49-F238E27FC236}">
                <a16:creationId xmlns:a16="http://schemas.microsoft.com/office/drawing/2014/main" id="{0947AF7D-DC15-4825-AABE-DC2397A7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2930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20" name="contest.2.accent">
            <a:extLst xmlns:a="http://schemas.openxmlformats.org/drawingml/2006/main">
              <a:ext uri="{FF2B5EF4-FFF2-40B4-BE49-F238E27FC236}">
                <a16:creationId xmlns:a16="http://schemas.microsoft.com/office/drawing/2014/main" id="{AB606F87-2B74-4E95-B2E6-BED1B8B3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293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21" name="contest.2.label">
            <a:extLst xmlns:a="http://schemas.openxmlformats.org/drawingml/2006/main">
              <a:ext uri="{FF2B5EF4-FFF2-40B4-BE49-F238E27FC236}">
                <a16:creationId xmlns:a16="http://schemas.microsoft.com/office/drawing/2014/main" id="{D6E0BFC8-4604-48A5-85A4-43C339D1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38850"/>
            <a:ext cx="4495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Practice Match</a:t>
            </a:r>
          </a:p>
        </p:txBody>
      </p:sp>
      <p:sp>
        <p:nvSpPr>
          <p:cNvPr id="22" name="contest.2.sub">
            <a:extLst xmlns:a="http://schemas.openxmlformats.org/drawingml/2006/main">
              <a:ext uri="{FF2B5EF4-FFF2-40B4-BE49-F238E27FC236}">
                <a16:creationId xmlns:a16="http://schemas.microsoft.com/office/drawing/2014/main" id="{C5D72DEC-61A8-49FF-8ED9-E3690CEB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457950"/>
            <a:ext cx="4457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Entry: 0 | Free mode</a:t>
            </a:r>
          </a:p>
        </p:txBody>
      </p:sp>
      <p:sp>
        <p:nvSpPr>
          <p:cNvPr id="23" name="contest.3.node">
            <a:extLst xmlns:a="http://schemas.openxmlformats.org/drawingml/2006/main">
              <a:ext uri="{FF2B5EF4-FFF2-40B4-BE49-F238E27FC236}">
                <a16:creationId xmlns:a16="http://schemas.microsoft.com/office/drawing/2014/main" id="{0CB0311F-E0D4-4F39-A88E-1BBBC76D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02945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00FF87"/>
            </a:solidFill>
            <a:prstDash val="solid"/>
          </a:ln>
        </p:spPr>
      </p:sp>
      <p:sp>
        <p:nvSpPr>
          <p:cNvPr id="24" name="contest.3.accent">
            <a:extLst xmlns:a="http://schemas.openxmlformats.org/drawingml/2006/main">
              <a:ext uri="{FF2B5EF4-FFF2-40B4-BE49-F238E27FC236}">
                <a16:creationId xmlns:a16="http://schemas.microsoft.com/office/drawing/2014/main" id="{6335BB0C-AE49-4F4E-9E1B-8D64AB46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0294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7"/>
          </a:solidFill>
          <a:ln xmlns:a="http://schemas.openxmlformats.org/drawingml/2006/main" w="0">
            <a:solidFill>
              <a:srgbClr val="00FF87"/>
            </a:solidFill>
            <a:prstDash val="solid"/>
          </a:ln>
        </p:spPr>
      </p:sp>
      <p:sp>
        <p:nvSpPr>
          <p:cNvPr id="25" name="contest.3.label">
            <a:extLst xmlns:a="http://schemas.openxmlformats.org/drawingml/2006/main">
              <a:ext uri="{FF2B5EF4-FFF2-40B4-BE49-F238E27FC236}">
                <a16:creationId xmlns:a16="http://schemas.microsoft.com/office/drawing/2014/main" id="{7DA184EA-2DDC-4E3C-9E3F-2F1A448A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239000"/>
            <a:ext cx="4495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Winner Takes All</a:t>
            </a:r>
          </a:p>
        </p:txBody>
      </p:sp>
      <p:sp>
        <p:nvSpPr>
          <p:cNvPr id="26" name="contest.3.sub">
            <a:extLst xmlns:a="http://schemas.openxmlformats.org/drawingml/2006/main">
              <a:ext uri="{FF2B5EF4-FFF2-40B4-BE49-F238E27FC236}">
                <a16:creationId xmlns:a16="http://schemas.microsoft.com/office/drawing/2014/main" id="{EC0DB485-BAAC-4AA2-AB2D-B91D28C6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658100"/>
            <a:ext cx="4457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Entry: 100 | Top prize</a:t>
            </a:r>
          </a:p>
        </p:txBody>
      </p:sp>
      <p:sp>
        <p:nvSpPr>
          <p:cNvPr id="27" name="leaderboard.podium.1">
            <a:extLst xmlns:a="http://schemas.openxmlformats.org/drawingml/2006/main">
              <a:ext uri="{FF2B5EF4-FFF2-40B4-BE49-F238E27FC236}">
                <a16:creationId xmlns:a16="http://schemas.microsoft.com/office/drawing/2014/main" id="{D78A3748-D0A1-424A-8118-8CA1F6C4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0"/>
            <a:ext cx="1581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  <a:ln xmlns:a="http://schemas.openxmlformats.org/drawingml/2006/main" w="0">
            <a:solidFill>
              <a:srgbClr val="FFD700"/>
            </a:solidFill>
            <a:prstDash val="solid"/>
          </a:ln>
        </p:spPr>
      </p:sp>
      <p:sp>
        <p:nvSpPr>
          <p:cNvPr id="28" name="leaderboard.podium.2">
            <a:extLst xmlns:a="http://schemas.openxmlformats.org/drawingml/2006/main">
              <a:ext uri="{FF2B5EF4-FFF2-40B4-BE49-F238E27FC236}">
                <a16:creationId xmlns:a16="http://schemas.microsoft.com/office/drawing/2014/main" id="{EFC170B2-A25A-4E2D-BC9D-34F0F153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229350"/>
            <a:ext cx="1581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29" name="leaderboard.podium.3">
            <a:extLst xmlns:a="http://schemas.openxmlformats.org/drawingml/2006/main">
              <a:ext uri="{FF2B5EF4-FFF2-40B4-BE49-F238E27FC236}">
                <a16:creationId xmlns:a16="http://schemas.microsoft.com/office/drawing/2014/main" id="{6579BB6A-E0AD-483F-AC6F-A736906C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705600"/>
            <a:ext cx="1581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30" name="leaderboard.podium.1.text">
            <a:extLst xmlns:a="http://schemas.openxmlformats.org/drawingml/2006/main">
              <a:ext uri="{FF2B5EF4-FFF2-40B4-BE49-F238E27FC236}">
                <a16:creationId xmlns:a16="http://schemas.microsoft.com/office/drawing/2014/main" id="{D72E91A9-EC41-45D4-9525-E8020C53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626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  <a:ln xmlns:a="http://schemas.openxmlformats.org/drawingml/2006/main" w="0">
            <a:solidFill>
              <a:srgbClr val="FFD70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5050A"/>
                </a:solidFill>
              </a:defRPr>
            </a:pPr>
            <a:r>
              <a:t>1</a:t>
            </a:r>
          </a:p>
        </p:txBody>
      </p:sp>
      <p:sp>
        <p:nvSpPr>
          <p:cNvPr id="31" name="leaderboard.podium.2.text">
            <a:extLst xmlns:a="http://schemas.openxmlformats.org/drawingml/2006/main">
              <a:ext uri="{FF2B5EF4-FFF2-40B4-BE49-F238E27FC236}">
                <a16:creationId xmlns:a16="http://schemas.microsoft.com/office/drawing/2014/main" id="{7881BA81-A771-4BFF-AA3D-CD1A155D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572250"/>
            <a:ext cx="819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5050A"/>
                </a:solidFill>
              </a:defRPr>
            </a:pPr>
            <a:r>
              <a:t>2</a:t>
            </a:r>
          </a:p>
        </p:txBody>
      </p:sp>
      <p:sp>
        <p:nvSpPr>
          <p:cNvPr id="32" name="leaderboard.podium.3.text">
            <a:extLst xmlns:a="http://schemas.openxmlformats.org/drawingml/2006/main">
              <a:ext uri="{FF2B5EF4-FFF2-40B4-BE49-F238E27FC236}">
                <a16:creationId xmlns:a16="http://schemas.microsoft.com/office/drawing/2014/main" id="{5CC2AE60-20BD-471F-A051-00BC2CD5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953250"/>
            <a:ext cx="819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5050A"/>
                </a:solidFill>
              </a:defRPr>
            </a:pPr>
            <a:r>
              <a:t>3</a:t>
            </a:r>
          </a:p>
        </p:txBody>
      </p:sp>
      <p:sp>
        <p:nvSpPr>
          <p:cNvPr id="33" name="rank.table.frame">
            <a:extLst xmlns:a="http://schemas.openxmlformats.org/drawingml/2006/main">
              <a:ext uri="{FF2B5EF4-FFF2-40B4-BE49-F238E27FC236}">
                <a16:creationId xmlns:a16="http://schemas.microsoft.com/office/drawing/2014/main" id="{4D1F334C-A60F-4254-8B1E-9B2CB2BA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9950"/>
            <a:ext cx="55245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34" name="rank.table.header.0">
            <a:extLst xmlns:a="http://schemas.openxmlformats.org/drawingml/2006/main">
              <a:ext uri="{FF2B5EF4-FFF2-40B4-BE49-F238E27FC236}">
                <a16:creationId xmlns:a16="http://schemas.microsoft.com/office/drawing/2014/main" id="{5AA35D4B-FB7F-444F-815C-EB363030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0520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E5FF"/>
                </a:solidFill>
              </a:defRPr>
            </a:pPr>
            <a:r>
              <a:t>Rank</a:t>
            </a:r>
          </a:p>
        </p:txBody>
      </p:sp>
      <p:sp>
        <p:nvSpPr>
          <p:cNvPr id="35" name="rank.table.header.1">
            <a:extLst xmlns:a="http://schemas.openxmlformats.org/drawingml/2006/main">
              <a:ext uri="{FF2B5EF4-FFF2-40B4-BE49-F238E27FC236}">
                <a16:creationId xmlns:a16="http://schemas.microsoft.com/office/drawing/2014/main" id="{CB5A0BCC-BB4B-4D23-BF70-924098C8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052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E5FF"/>
                </a:solidFill>
              </a:defRPr>
            </a:pPr>
            <a:r>
              <a:t>Manager</a:t>
            </a:r>
          </a:p>
        </p:txBody>
      </p:sp>
      <p:sp>
        <p:nvSpPr>
          <p:cNvPr id="36" name="rank.table.header.2">
            <a:extLst xmlns:a="http://schemas.openxmlformats.org/drawingml/2006/main">
              <a:ext uri="{FF2B5EF4-FFF2-40B4-BE49-F238E27FC236}">
                <a16:creationId xmlns:a16="http://schemas.microsoft.com/office/drawing/2014/main" id="{DE9CDC2F-D0BF-4116-AC72-719B8DDD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50520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E5FF"/>
                </a:solidFill>
              </a:defRPr>
            </a:pPr>
            <a:r>
              <a:t>Points</a:t>
            </a:r>
          </a:p>
        </p:txBody>
      </p:sp>
      <p:sp>
        <p:nvSpPr>
          <p:cNvPr id="37" name="rank.table.row.0">
            <a:extLst xmlns:a="http://schemas.openxmlformats.org/drawingml/2006/main">
              <a:ext uri="{FF2B5EF4-FFF2-40B4-BE49-F238E27FC236}">
                <a16:creationId xmlns:a16="http://schemas.microsoft.com/office/drawing/2014/main" id="{C1D061CD-BEEE-4470-AD8C-CCACDEE0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62400"/>
            <a:ext cx="5257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8" name="rank.table.cell.0.0">
            <a:extLst xmlns:a="http://schemas.openxmlformats.org/drawingml/2006/main">
              <a:ext uri="{FF2B5EF4-FFF2-40B4-BE49-F238E27FC236}">
                <a16:creationId xmlns:a16="http://schemas.microsoft.com/office/drawing/2014/main" id="{8EF7EE5F-18C2-4334-84C0-FD345237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7670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9" name="rank.table.cell.0.1">
            <a:extLst xmlns:a="http://schemas.openxmlformats.org/drawingml/2006/main">
              <a:ext uri="{FF2B5EF4-FFF2-40B4-BE49-F238E27FC236}">
                <a16:creationId xmlns:a16="http://schemas.microsoft.com/office/drawing/2014/main" id="{6B66317C-59BA-49F0-990A-3A694D56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767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</a:defRPr>
            </a:pPr>
            <a:r>
              <a:t>Top scorer</a:t>
            </a:r>
          </a:p>
        </p:txBody>
      </p:sp>
      <p:sp>
        <p:nvSpPr>
          <p:cNvPr id="40" name="rank.table.cell.0.2">
            <a:extLst xmlns:a="http://schemas.openxmlformats.org/drawingml/2006/main">
              <a:ext uri="{FF2B5EF4-FFF2-40B4-BE49-F238E27FC236}">
                <a16:creationId xmlns:a16="http://schemas.microsoft.com/office/drawing/2014/main" id="{69644891-7F39-40B5-A8AE-DF29E6B2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07670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</a:defRPr>
            </a:pPr>
            <a:r>
              <a:t>980</a:t>
            </a:r>
          </a:p>
        </p:txBody>
      </p:sp>
      <p:sp>
        <p:nvSpPr>
          <p:cNvPr id="41" name="rank.table.row.1">
            <a:extLst xmlns:a="http://schemas.openxmlformats.org/drawingml/2006/main">
              <a:ext uri="{FF2B5EF4-FFF2-40B4-BE49-F238E27FC236}">
                <a16:creationId xmlns:a16="http://schemas.microsoft.com/office/drawing/2014/main" id="{872293CC-3B07-47E2-AB2F-DD4A11DF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14850"/>
            <a:ext cx="5257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047"/>
          </a:solidFill>
          <a:ln xmlns:a="http://schemas.openxmlformats.org/drawingml/2006/main" w="0">
            <a:solidFill>
              <a:srgbClr val="343047"/>
            </a:solidFill>
            <a:prstDash val="solid"/>
          </a:ln>
        </p:spPr>
      </p:sp>
      <p:sp>
        <p:nvSpPr>
          <p:cNvPr id="42" name="rank.table.cell.1.0">
            <a:extLst xmlns:a="http://schemas.openxmlformats.org/drawingml/2006/main">
              <a:ext uri="{FF2B5EF4-FFF2-40B4-BE49-F238E27FC236}">
                <a16:creationId xmlns:a16="http://schemas.microsoft.com/office/drawing/2014/main" id="{71E2BD85-73CD-49F4-AE57-EC6B2FBE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2915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3" name="rank.table.cell.1.1">
            <a:extLst xmlns:a="http://schemas.openxmlformats.org/drawingml/2006/main">
              <a:ext uri="{FF2B5EF4-FFF2-40B4-BE49-F238E27FC236}">
                <a16:creationId xmlns:a16="http://schemas.microsoft.com/office/drawing/2014/main" id="{40B8C87E-3AA4-4D45-AE3E-83716920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291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</a:defRPr>
            </a:pPr>
            <a:r>
              <a:t>Chaser</a:t>
            </a:r>
          </a:p>
        </p:txBody>
      </p:sp>
      <p:sp>
        <p:nvSpPr>
          <p:cNvPr id="44" name="rank.table.cell.1.2">
            <a:extLst xmlns:a="http://schemas.openxmlformats.org/drawingml/2006/main">
              <a:ext uri="{FF2B5EF4-FFF2-40B4-BE49-F238E27FC236}">
                <a16:creationId xmlns:a16="http://schemas.microsoft.com/office/drawing/2014/main" id="{E0A089B9-59A1-4EFD-9A55-9AAB5DDA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62915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</a:defRPr>
            </a:pPr>
            <a:r>
              <a:t>910</a:t>
            </a:r>
          </a:p>
        </p:txBody>
      </p:sp>
      <p:sp>
        <p:nvSpPr>
          <p:cNvPr id="45" name="rank.table.row.2">
            <a:extLst xmlns:a="http://schemas.openxmlformats.org/drawingml/2006/main">
              <a:ext uri="{FF2B5EF4-FFF2-40B4-BE49-F238E27FC236}">
                <a16:creationId xmlns:a16="http://schemas.microsoft.com/office/drawing/2014/main" id="{ED14757D-B5DB-4CAF-ADA9-57661F8C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67300"/>
            <a:ext cx="5257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047"/>
          </a:solidFill>
          <a:ln xmlns:a="http://schemas.openxmlformats.org/drawingml/2006/main" w="0">
            <a:solidFill>
              <a:srgbClr val="343047"/>
            </a:solidFill>
            <a:prstDash val="solid"/>
          </a:ln>
        </p:spPr>
      </p:sp>
      <p:sp>
        <p:nvSpPr>
          <p:cNvPr id="46" name="rank.table.cell.2.0">
            <a:extLst xmlns:a="http://schemas.openxmlformats.org/drawingml/2006/main">
              <a:ext uri="{FF2B5EF4-FFF2-40B4-BE49-F238E27FC236}">
                <a16:creationId xmlns:a16="http://schemas.microsoft.com/office/drawing/2014/main" id="{8752A954-867F-444E-8F1E-0A68BDDE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8160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7" name="rank.table.cell.2.1">
            <a:extLst xmlns:a="http://schemas.openxmlformats.org/drawingml/2006/main">
              <a:ext uri="{FF2B5EF4-FFF2-40B4-BE49-F238E27FC236}">
                <a16:creationId xmlns:a16="http://schemas.microsoft.com/office/drawing/2014/main" id="{3BB45CBE-C207-44ED-B342-335CA117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1816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</a:defRPr>
            </a:pPr>
            <a:r>
              <a:t>Rising team</a:t>
            </a:r>
          </a:p>
        </p:txBody>
      </p:sp>
      <p:sp>
        <p:nvSpPr>
          <p:cNvPr id="48" name="rank.table.cell.2.2">
            <a:extLst xmlns:a="http://schemas.openxmlformats.org/drawingml/2006/main">
              <a:ext uri="{FF2B5EF4-FFF2-40B4-BE49-F238E27FC236}">
                <a16:creationId xmlns:a16="http://schemas.microsoft.com/office/drawing/2014/main" id="{6D1FD039-6880-4FCA-A193-1871DBEE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518160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</a:defRPr>
            </a:pPr>
            <a:r>
              <a:t>870</a:t>
            </a:r>
          </a:p>
        </p:txBody>
      </p:sp>
      <p:sp>
        <p:nvSpPr>
          <p:cNvPr id="49" name="contest.logic">
            <a:extLst xmlns:a="http://schemas.openxmlformats.org/drawingml/2006/main">
              <a:ext uri="{FF2B5EF4-FFF2-40B4-BE49-F238E27FC236}">
                <a16:creationId xmlns:a16="http://schemas.microsoft.com/office/drawing/2014/main" id="{5818A158-8C2A-4FDC-BD2C-AE5CD744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8020050"/>
            <a:ext cx="733425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4F5"/>
                </a:solidFill>
              </a:defRPr>
            </a:pPr>
            <a:r>
              <a:t>Contest entries connect User + FantasyTeam + Contest, so one scoring update can reorder the board.</a:t>
            </a:r>
          </a:p>
        </p:txBody>
      </p:sp>
    </p:spTree>
    <p:extLst>
      <p:ext uri="{BB962C8B-B14F-4D97-AF65-F5344CB8AC3E}">
        <p14:creationId xmlns:p14="http://schemas.microsoft.com/office/powerpoint/2010/main" val="9815320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.8">
            <a:extLst xmlns:a="http://schemas.openxmlformats.org/drawingml/2006/main">
              <a:ext uri="{FF2B5EF4-FFF2-40B4-BE49-F238E27FC236}">
                <a16:creationId xmlns:a16="http://schemas.microsoft.com/office/drawing/2014/main" id="{C32D3BD5-916F-47C6-A77E-85594F7C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50A"/>
              </a:gs>
              <a:gs pos="54000">
                <a:srgbClr val="101027"/>
              </a:gs>
              <a:gs pos="100000">
                <a:srgbClr val="1A1026"/>
              </a:gs>
            </a:gsLst>
            <a:lin ang="1500000"/>
          </a:gradFill>
          <a:ln xmlns:a="http://schemas.openxmlformats.org/drawingml/2006/main" w="0">
            <a:solidFill>
              <a:srgbClr val="05050A"/>
            </a:solidFill>
            <a:prstDash val="solid"/>
          </a:ln>
        </p:spPr>
      </p:sp>
      <p:sp>
        <p:nvSpPr>
          <p:cNvPr id="2" name="accent.slash.8.1">
            <a:extLst xmlns:a="http://schemas.openxmlformats.org/drawingml/2006/main">
              <a:ext uri="{FF2B5EF4-FFF2-40B4-BE49-F238E27FC236}">
                <a16:creationId xmlns:a16="http://schemas.microsoft.com/office/drawing/2014/main" id="{D6CCB997-5D8D-4CA5-B40F-2C19C4E9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6954500" y="-1714500"/>
            <a:ext cx="8572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3" name="accent.slash.8.2">
            <a:extLst xmlns:a="http://schemas.openxmlformats.org/drawingml/2006/main">
              <a:ext uri="{FF2B5EF4-FFF2-40B4-BE49-F238E27FC236}">
                <a16:creationId xmlns:a16="http://schemas.microsoft.com/office/drawing/2014/main" id="{30E35D9F-DE37-45A5-89A2-57B0F50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8021300" y="-1714500"/>
            <a:ext cx="2857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" name="accent.floor.8">
            <a:extLst xmlns:a="http://schemas.openxmlformats.org/drawingml/2006/main">
              <a:ext uri="{FF2B5EF4-FFF2-40B4-BE49-F238E27FC236}">
                <a16:creationId xmlns:a16="http://schemas.microsoft.com/office/drawing/2014/main" id="{265C2747-3712-4E22-99EC-450A8426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0"/>
            <a:ext cx="1828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</p:sp>
      <p:sp>
        <p:nvSpPr>
          <p:cNvPr id="5" name="accent.floor.line.8">
            <a:extLst xmlns:a="http://schemas.openxmlformats.org/drawingml/2006/main">
              <a:ext uri="{FF2B5EF4-FFF2-40B4-BE49-F238E27FC236}">
                <a16:creationId xmlns:a16="http://schemas.microsoft.com/office/drawing/2014/main" id="{09269762-5CC3-4F7B-BAE9-542FFB2D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6" name="footer.section.8">
            <a:extLst xmlns:a="http://schemas.openxmlformats.org/drawingml/2006/main">
              <a:ext uri="{FF2B5EF4-FFF2-40B4-BE49-F238E27FC236}">
                <a16:creationId xmlns:a16="http://schemas.microsoft.com/office/drawing/2014/main" id="{0F5277E2-CBA9-40BB-9103-52F4435E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</a:defRPr>
            </a:pPr>
            <a:r>
              <a:t>LIVE MATCH CENTER</a:t>
            </a:r>
          </a:p>
        </p:txBody>
      </p:sp>
      <p:sp>
        <p:nvSpPr>
          <p:cNvPr id="7" name="footer.page.8">
            <a:extLst xmlns:a="http://schemas.openxmlformats.org/drawingml/2006/main">
              <a:ext uri="{FF2B5EF4-FFF2-40B4-BE49-F238E27FC236}">
                <a16:creationId xmlns:a16="http://schemas.microsoft.com/office/drawing/2014/main" id="{0652DDF9-3DC2-4FE5-B0E1-5BCBAB8D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6202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E5FF"/>
                </a:solidFill>
              </a:defRPr>
            </a:pPr>
            <a:r>
              <a:t>08</a:t>
            </a:r>
          </a:p>
        </p:txBody>
      </p:sp>
      <p:sp>
        <p:nvSpPr>
          <p:cNvPr id="8" name="label.LIVE MATCH CENTER">
            <a:extLst xmlns:a="http://schemas.openxmlformats.org/drawingml/2006/main">
              <a:ext uri="{FF2B5EF4-FFF2-40B4-BE49-F238E27FC236}">
                <a16:creationId xmlns:a16="http://schemas.microsoft.com/office/drawing/2014/main" id="{2E168BBB-1C32-4C45-9DD0-F3EFD1D7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31718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107A"/>
                </a:solidFill>
              </a:defRPr>
            </a:pPr>
            <a:r>
              <a:t>LIVE MATCH CENTER</a:t>
            </a:r>
          </a:p>
        </p:txBody>
      </p:sp>
      <p:sp>
        <p:nvSpPr>
          <p:cNvPr id="9" name="slide-title.8">
            <a:extLst xmlns:a="http://schemas.openxmlformats.org/drawingml/2006/main">
              <a:ext uri="{FF2B5EF4-FFF2-40B4-BE49-F238E27FC236}">
                <a16:creationId xmlns:a16="http://schemas.microsoft.com/office/drawing/2014/main" id="{EF18A33F-E02A-4F46-ACC7-72796D8D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90625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t>Scores and standings keep the event active</a:t>
            </a:r>
          </a:p>
        </p:txBody>
      </p:sp>
      <p:sp>
        <p:nvSpPr>
          <p:cNvPr id="10" name="slide-subtitle.8">
            <a:extLst xmlns:a="http://schemas.openxmlformats.org/drawingml/2006/main">
              <a:ext uri="{FF2B5EF4-FFF2-40B4-BE49-F238E27FC236}">
                <a16:creationId xmlns:a16="http://schemas.microsoft.com/office/drawing/2014/main" id="{F79BBDD6-B3FE-40B7-B0DD-0A7A705A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104900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A1AA"/>
                </a:solidFill>
              </a:defRPr>
            </a:pPr>
            <a:r>
              <a:t>The app includes dedicated live views for cricket, football, and Formula 1 tracking.</a:t>
            </a:r>
          </a:p>
        </p:txBody>
      </p:sp>
      <p:sp>
        <p:nvSpPr>
          <p:cNvPr id="11" name="live.screen">
            <a:extLst xmlns:a="http://schemas.openxmlformats.org/drawingml/2006/main">
              <a:ext uri="{FF2B5EF4-FFF2-40B4-BE49-F238E27FC236}">
                <a16:creationId xmlns:a16="http://schemas.microsoft.com/office/drawing/2014/main" id="{26F44425-7019-4449-9703-F4508E51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72390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E50914"/>
            </a:solidFill>
            <a:prstDash val="solid"/>
          </a:ln>
        </p:spPr>
      </p:sp>
      <p:sp>
        <p:nvSpPr>
          <p:cNvPr id="12" name="live.header">
            <a:extLst xmlns:a="http://schemas.openxmlformats.org/drawingml/2006/main">
              <a:ext uri="{FF2B5EF4-FFF2-40B4-BE49-F238E27FC236}">
                <a16:creationId xmlns:a16="http://schemas.microsoft.com/office/drawing/2014/main" id="{92058444-7DDD-42B1-BF35-98DF922B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957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50914"/>
                </a:solidFill>
              </a:defRPr>
            </a:pPr>
            <a:r>
              <a:t>LIVE DATA</a:t>
            </a:r>
          </a:p>
        </p:txBody>
      </p:sp>
      <p:sp>
        <p:nvSpPr>
          <p:cNvPr id="13" name="live.score">
            <a:extLst xmlns:a="http://schemas.openxmlformats.org/drawingml/2006/main">
              <a:ext uri="{FF2B5EF4-FFF2-40B4-BE49-F238E27FC236}">
                <a16:creationId xmlns:a16="http://schemas.microsoft.com/office/drawing/2014/main" id="{DDF6841E-9B0F-40E0-9C85-58C5B8CD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43400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t>CSK 184/5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t>RCB chasing</a:t>
            </a:r>
          </a:p>
        </p:txBody>
      </p:sp>
      <p:sp>
        <p:nvSpPr>
          <p:cNvPr id="14" name="live.refresh">
            <a:extLst xmlns:a="http://schemas.openxmlformats.org/drawingml/2006/main">
              <a:ext uri="{FF2B5EF4-FFF2-40B4-BE49-F238E27FC236}">
                <a16:creationId xmlns:a16="http://schemas.microsoft.com/office/drawing/2014/main" id="{FFDDED21-7D0C-4F1F-8496-D09E35D4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817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E5FF"/>
                </a:solidFill>
              </a:defRPr>
            </a:pPr>
            <a:r>
              <a:t>Auto refresh every 30 seconds</a:t>
            </a:r>
          </a:p>
        </p:txBody>
      </p:sp>
      <p:sp>
        <p:nvSpPr>
          <p:cNvPr id="15" name="live.bar.label.0">
            <a:extLst xmlns:a="http://schemas.openxmlformats.org/drawingml/2006/main">
              <a:ext uri="{FF2B5EF4-FFF2-40B4-BE49-F238E27FC236}">
                <a16:creationId xmlns:a16="http://schemas.microsoft.com/office/drawing/2014/main" id="{A5B82BF8-40B8-42A5-A6E4-8A42B5B6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4F5"/>
                </a:solidFill>
              </a:defRPr>
            </a:pPr>
            <a:r>
              <a:t>P1 Verstappen</a:t>
            </a:r>
          </a:p>
        </p:txBody>
      </p:sp>
      <p:sp>
        <p:nvSpPr>
          <p:cNvPr id="16" name="live.bar.0">
            <a:extLst xmlns:a="http://schemas.openxmlformats.org/drawingml/2006/main">
              <a:ext uri="{FF2B5EF4-FFF2-40B4-BE49-F238E27FC236}">
                <a16:creationId xmlns:a16="http://schemas.microsoft.com/office/drawing/2014/main" id="{BF91DC56-11B9-4FA2-ACE2-F5C00BFA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17" name="live.bar.label.1">
            <a:extLst xmlns:a="http://schemas.openxmlformats.org/drawingml/2006/main">
              <a:ext uri="{FF2B5EF4-FFF2-40B4-BE49-F238E27FC236}">
                <a16:creationId xmlns:a16="http://schemas.microsoft.com/office/drawing/2014/main" id="{231869E1-29F7-467E-866D-BEB3CC07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4F5"/>
                </a:solidFill>
              </a:defRPr>
            </a:pPr>
            <a:r>
              <a:t>P2 Leclerc</a:t>
            </a:r>
          </a:p>
        </p:txBody>
      </p:sp>
      <p:sp>
        <p:nvSpPr>
          <p:cNvPr id="18" name="live.bar.1">
            <a:extLst xmlns:a="http://schemas.openxmlformats.org/drawingml/2006/main">
              <a:ext uri="{FF2B5EF4-FFF2-40B4-BE49-F238E27FC236}">
                <a16:creationId xmlns:a16="http://schemas.microsoft.com/office/drawing/2014/main" id="{291317FA-5D01-4D4E-B9EC-98D5BA46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245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  <a:ln xmlns:a="http://schemas.openxmlformats.org/drawingml/2006/main" w="0">
            <a:solidFill>
              <a:srgbClr val="FFD700"/>
            </a:solidFill>
            <a:prstDash val="solid"/>
          </a:ln>
        </p:spPr>
      </p:sp>
      <p:sp>
        <p:nvSpPr>
          <p:cNvPr id="19" name="live.bar.label.2">
            <a:extLst xmlns:a="http://schemas.openxmlformats.org/drawingml/2006/main">
              <a:ext uri="{FF2B5EF4-FFF2-40B4-BE49-F238E27FC236}">
                <a16:creationId xmlns:a16="http://schemas.microsoft.com/office/drawing/2014/main" id="{6E12BA87-9B5B-4E41-AFD9-3C92A9FA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102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4F5"/>
                </a:solidFill>
              </a:defRPr>
            </a:pPr>
            <a:r>
              <a:t>P3 Norris</a:t>
            </a:r>
          </a:p>
        </p:txBody>
      </p:sp>
      <p:sp>
        <p:nvSpPr>
          <p:cNvPr id="20" name="live.bar.2">
            <a:extLst xmlns:a="http://schemas.openxmlformats.org/drawingml/2006/main">
              <a:ext uri="{FF2B5EF4-FFF2-40B4-BE49-F238E27FC236}">
                <a16:creationId xmlns:a16="http://schemas.microsoft.com/office/drawing/2014/main" id="{694818D9-D392-4D77-9147-0B6C6DC6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91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21" name="live.b1.dot">
            <a:extLst xmlns:a="http://schemas.openxmlformats.org/drawingml/2006/main">
              <a:ext uri="{FF2B5EF4-FFF2-40B4-BE49-F238E27FC236}">
                <a16:creationId xmlns:a16="http://schemas.microsoft.com/office/drawing/2014/main" id="{9BE6E1A7-AF48-45D5-9BC8-DD9089B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90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22" name="live.b1.text">
            <a:extLst xmlns:a="http://schemas.openxmlformats.org/drawingml/2006/main">
              <a:ext uri="{FF2B5EF4-FFF2-40B4-BE49-F238E27FC236}">
                <a16:creationId xmlns:a16="http://schemas.microsoft.com/office/drawing/2014/main" id="{EA159DFC-B77F-4C67-A094-12A90CB6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14750"/>
            <a:ext cx="62865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4F5"/>
                </a:solidFill>
              </a:defRPr>
            </a:pPr>
            <a:r>
              <a:t>Dedicated sport cards route users to the relevant live page.</a:t>
            </a:r>
          </a:p>
        </p:txBody>
      </p:sp>
      <p:sp>
        <p:nvSpPr>
          <p:cNvPr id="23" name="live.b2.dot">
            <a:extLst xmlns:a="http://schemas.openxmlformats.org/drawingml/2006/main">
              <a:ext uri="{FF2B5EF4-FFF2-40B4-BE49-F238E27FC236}">
                <a16:creationId xmlns:a16="http://schemas.microsoft.com/office/drawing/2014/main" id="{942D7E45-6412-4AAD-8EAB-4D704DA3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05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24" name="live.b2.text">
            <a:extLst xmlns:a="http://schemas.openxmlformats.org/drawingml/2006/main">
              <a:ext uri="{FF2B5EF4-FFF2-40B4-BE49-F238E27FC236}">
                <a16:creationId xmlns:a16="http://schemas.microsoft.com/office/drawing/2014/main" id="{AB30D27D-6B1F-42FC-AB06-89E7F602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629150"/>
            <a:ext cx="62865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4F5"/>
                </a:solidFill>
              </a:defRPr>
            </a:pPr>
            <a:r>
              <a:t>Cricket and F1 data are fetched through backend endpoints.</a:t>
            </a:r>
          </a:p>
        </p:txBody>
      </p:sp>
      <p:sp>
        <p:nvSpPr>
          <p:cNvPr id="25" name="live.b3.dot">
            <a:extLst xmlns:a="http://schemas.openxmlformats.org/drawingml/2006/main">
              <a:ext uri="{FF2B5EF4-FFF2-40B4-BE49-F238E27FC236}">
                <a16:creationId xmlns:a16="http://schemas.microsoft.com/office/drawing/2014/main" id="{CD049C4A-8F24-488E-AB90-45823CBD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19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00"/>
          </a:solidFill>
          <a:ln xmlns:a="http://schemas.openxmlformats.org/drawingml/2006/main" w="0">
            <a:solidFill>
              <a:srgbClr val="FFD700"/>
            </a:solidFill>
            <a:prstDash val="solid"/>
          </a:ln>
        </p:spPr>
      </p:sp>
      <p:sp>
        <p:nvSpPr>
          <p:cNvPr id="26" name="live.b3.text">
            <a:extLst xmlns:a="http://schemas.openxmlformats.org/drawingml/2006/main">
              <a:ext uri="{FF2B5EF4-FFF2-40B4-BE49-F238E27FC236}">
                <a16:creationId xmlns:a16="http://schemas.microsoft.com/office/drawing/2014/main" id="{02E934A1-8D73-479A-836D-787F5AA2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543550"/>
            <a:ext cx="62865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4F5"/>
                </a:solidFill>
              </a:defRPr>
            </a:pPr>
            <a:r>
              <a:t>Live score context supports team decisions and contest engagement.</a:t>
            </a:r>
          </a:p>
        </p:txBody>
      </p:sp>
      <p:sp>
        <p:nvSpPr>
          <p:cNvPr id="27" name="live.b4.dot">
            <a:extLst xmlns:a="http://schemas.openxmlformats.org/drawingml/2006/main">
              <a:ext uri="{FF2B5EF4-FFF2-40B4-BE49-F238E27FC236}">
                <a16:creationId xmlns:a16="http://schemas.microsoft.com/office/drawing/2014/main" id="{B7A8E0F5-E839-4F0C-8FC3-498963BD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F87"/>
          </a:solidFill>
          <a:ln xmlns:a="http://schemas.openxmlformats.org/drawingml/2006/main" w="0">
            <a:solidFill>
              <a:srgbClr val="00FF87"/>
            </a:solidFill>
            <a:prstDash val="solid"/>
          </a:ln>
        </p:spPr>
      </p:sp>
      <p:sp>
        <p:nvSpPr>
          <p:cNvPr id="28" name="live.b4.text">
            <a:extLst xmlns:a="http://schemas.openxmlformats.org/drawingml/2006/main">
              <a:ext uri="{FF2B5EF4-FFF2-40B4-BE49-F238E27FC236}">
                <a16:creationId xmlns:a16="http://schemas.microsoft.com/office/drawing/2014/main" id="{46458407-9AE0-4CE1-86D5-84C2E86B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457950"/>
            <a:ext cx="62865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4F5"/>
                </a:solidFill>
              </a:defRPr>
            </a:pPr>
            <a:r>
              <a:t>The design keeps live data visually separate from fantasy selection.</a:t>
            </a:r>
          </a:p>
        </p:txBody>
      </p:sp>
    </p:spTree>
    <p:extLst>
      <p:ext uri="{BB962C8B-B14F-4D97-AF65-F5344CB8AC3E}">
        <p14:creationId xmlns:p14="http://schemas.microsoft.com/office/powerpoint/2010/main" val="38876763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.9">
            <a:extLst xmlns:a="http://schemas.openxmlformats.org/drawingml/2006/main">
              <a:ext uri="{FF2B5EF4-FFF2-40B4-BE49-F238E27FC236}">
                <a16:creationId xmlns:a16="http://schemas.microsoft.com/office/drawing/2014/main" id="{B0A52E7E-D31D-48B4-ADC6-2D0EB144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50A"/>
              </a:gs>
              <a:gs pos="54000">
                <a:srgbClr val="101027"/>
              </a:gs>
              <a:gs pos="100000">
                <a:srgbClr val="1A1026"/>
              </a:gs>
            </a:gsLst>
            <a:lin ang="1500000"/>
          </a:gradFill>
          <a:ln xmlns:a="http://schemas.openxmlformats.org/drawingml/2006/main" w="0">
            <a:solidFill>
              <a:srgbClr val="05050A"/>
            </a:solidFill>
            <a:prstDash val="solid"/>
          </a:ln>
        </p:spPr>
      </p:sp>
      <p:sp>
        <p:nvSpPr>
          <p:cNvPr id="2" name="accent.slash.9.1">
            <a:extLst xmlns:a="http://schemas.openxmlformats.org/drawingml/2006/main">
              <a:ext uri="{FF2B5EF4-FFF2-40B4-BE49-F238E27FC236}">
                <a16:creationId xmlns:a16="http://schemas.microsoft.com/office/drawing/2014/main" id="{3F728132-FD00-48F0-8D2F-4AC0F2D9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6954500" y="-1714500"/>
            <a:ext cx="8572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3" name="accent.slash.9.2">
            <a:extLst xmlns:a="http://schemas.openxmlformats.org/drawingml/2006/main">
              <a:ext uri="{FF2B5EF4-FFF2-40B4-BE49-F238E27FC236}">
                <a16:creationId xmlns:a16="http://schemas.microsoft.com/office/drawing/2014/main" id="{2D8CFF8A-8F9B-4BD0-A814-FC831355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8021300" y="-1714500"/>
            <a:ext cx="2857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" name="accent.floor.9">
            <a:extLst xmlns:a="http://schemas.openxmlformats.org/drawingml/2006/main">
              <a:ext uri="{FF2B5EF4-FFF2-40B4-BE49-F238E27FC236}">
                <a16:creationId xmlns:a16="http://schemas.microsoft.com/office/drawing/2014/main" id="{84F8548E-F59C-4DB2-9613-D9183F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0"/>
            <a:ext cx="1828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</p:sp>
      <p:sp>
        <p:nvSpPr>
          <p:cNvPr id="5" name="accent.floor.line.9">
            <a:extLst xmlns:a="http://schemas.openxmlformats.org/drawingml/2006/main">
              <a:ext uri="{FF2B5EF4-FFF2-40B4-BE49-F238E27FC236}">
                <a16:creationId xmlns:a16="http://schemas.microsoft.com/office/drawing/2014/main" id="{C55B297F-6B39-4967-904F-C32A9E2A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6" name="footer.section.9">
            <a:extLst xmlns:a="http://schemas.openxmlformats.org/drawingml/2006/main">
              <a:ext uri="{FF2B5EF4-FFF2-40B4-BE49-F238E27FC236}">
                <a16:creationId xmlns:a16="http://schemas.microsoft.com/office/drawing/2014/main" id="{4037D8CC-67EF-4AC6-9FE5-A39F4D7D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</a:defRPr>
            </a:pPr>
            <a:r>
              <a:t>WATCH PARTY &amp; STREAMING</a:t>
            </a:r>
          </a:p>
        </p:txBody>
      </p:sp>
      <p:sp>
        <p:nvSpPr>
          <p:cNvPr id="7" name="footer.page.9">
            <a:extLst xmlns:a="http://schemas.openxmlformats.org/drawingml/2006/main">
              <a:ext uri="{FF2B5EF4-FFF2-40B4-BE49-F238E27FC236}">
                <a16:creationId xmlns:a16="http://schemas.microsoft.com/office/drawing/2014/main" id="{B58E3507-493B-4AFE-B5A9-8E89E836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6202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E5FF"/>
                </a:solidFill>
              </a:defRPr>
            </a:pPr>
            <a:r>
              <a:t>09</a:t>
            </a:r>
          </a:p>
        </p:txBody>
      </p:sp>
      <p:sp>
        <p:nvSpPr>
          <p:cNvPr id="8" name="label.WATCH PARTY &amp; STREAMING">
            <a:extLst xmlns:a="http://schemas.openxmlformats.org/drawingml/2006/main">
              <a:ext uri="{FF2B5EF4-FFF2-40B4-BE49-F238E27FC236}">
                <a16:creationId xmlns:a16="http://schemas.microsoft.com/office/drawing/2014/main" id="{8FAF7D9D-2A94-496E-9232-D89BC392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4143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107A"/>
                </a:solidFill>
              </a:defRPr>
            </a:pPr>
            <a:r>
              <a:t>WATCH PARTY &amp; STREAMING</a:t>
            </a:r>
          </a:p>
        </p:txBody>
      </p:sp>
      <p:sp>
        <p:nvSpPr>
          <p:cNvPr id="9" name="slide-title.9">
            <a:extLst xmlns:a="http://schemas.openxmlformats.org/drawingml/2006/main">
              <a:ext uri="{FF2B5EF4-FFF2-40B4-BE49-F238E27FC236}">
                <a16:creationId xmlns:a16="http://schemas.microsoft.com/office/drawing/2014/main" id="{A06785A9-47CD-4D23-829E-7229A3D8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90625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t>The platform supports both OBS and browser screen sharing</a:t>
            </a:r>
          </a:p>
        </p:txBody>
      </p:sp>
      <p:sp>
        <p:nvSpPr>
          <p:cNvPr id="10" name="slide-subtitle.9">
            <a:extLst xmlns:a="http://schemas.openxmlformats.org/drawingml/2006/main">
              <a:ext uri="{FF2B5EF4-FFF2-40B4-BE49-F238E27FC236}">
                <a16:creationId xmlns:a16="http://schemas.microsoft.com/office/drawing/2014/main" id="{D5FF548B-CDB8-422D-9DB4-BFCF54C5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104900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A1AA"/>
                </a:solidFill>
              </a:defRPr>
            </a:pPr>
            <a:r>
              <a:t>The watch party module is built for live campus broadcasting and shared viewing.</a:t>
            </a:r>
          </a:p>
        </p:txBody>
      </p:sp>
      <p:sp>
        <p:nvSpPr>
          <p:cNvPr id="11" name="stream.block.0.node">
            <a:extLst xmlns:a="http://schemas.openxmlformats.org/drawingml/2006/main">
              <a:ext uri="{FF2B5EF4-FFF2-40B4-BE49-F238E27FC236}">
                <a16:creationId xmlns:a16="http://schemas.microsoft.com/office/drawing/2014/main" id="{3120BA7C-27A0-4FEF-BEF2-E48D6919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24350"/>
            <a:ext cx="2857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E50914"/>
            </a:solidFill>
            <a:prstDash val="solid"/>
          </a:ln>
        </p:spPr>
      </p:sp>
      <p:sp>
        <p:nvSpPr>
          <p:cNvPr id="12" name="stream.block.0.accent">
            <a:extLst xmlns:a="http://schemas.openxmlformats.org/drawingml/2006/main">
              <a:ext uri="{FF2B5EF4-FFF2-40B4-BE49-F238E27FC236}">
                <a16:creationId xmlns:a16="http://schemas.microsoft.com/office/drawing/2014/main" id="{4818FA34-9A5C-4B0C-A621-B1C9C62B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243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13" name="stream.block.0.label">
            <a:extLst xmlns:a="http://schemas.openxmlformats.org/drawingml/2006/main">
              <a:ext uri="{FF2B5EF4-FFF2-40B4-BE49-F238E27FC236}">
                <a16:creationId xmlns:a16="http://schemas.microsoft.com/office/drawing/2014/main" id="{52A4B08E-6384-4416-B86B-04052097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33900"/>
            <a:ext cx="2400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OBS Studio</a:t>
            </a:r>
          </a:p>
        </p:txBody>
      </p:sp>
      <p:sp>
        <p:nvSpPr>
          <p:cNvPr id="14" name="stream.block.0.sub">
            <a:extLst xmlns:a="http://schemas.openxmlformats.org/drawingml/2006/main">
              <a:ext uri="{FF2B5EF4-FFF2-40B4-BE49-F238E27FC236}">
                <a16:creationId xmlns:a16="http://schemas.microsoft.com/office/drawing/2014/main" id="{C9753377-2D69-466C-83F1-28078D07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53000"/>
            <a:ext cx="2362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RTMP input</a:t>
            </a:r>
          </a:p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rtmp://host:1935/live</a:t>
            </a:r>
          </a:p>
        </p:txBody>
      </p:sp>
      <p:sp>
        <p:nvSpPr>
          <p:cNvPr id="15" name="stream.arrow.0">
            <a:extLst xmlns:a="http://schemas.openxmlformats.org/drawingml/2006/main">
              <a:ext uri="{FF2B5EF4-FFF2-40B4-BE49-F238E27FC236}">
                <a16:creationId xmlns:a16="http://schemas.microsoft.com/office/drawing/2014/main" id="{F851D3D2-4797-4B3B-8BC8-5EA5EC50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76800"/>
            <a:ext cx="609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16" name="stream.block.1.node">
            <a:extLst xmlns:a="http://schemas.openxmlformats.org/drawingml/2006/main">
              <a:ext uri="{FF2B5EF4-FFF2-40B4-BE49-F238E27FC236}">
                <a16:creationId xmlns:a16="http://schemas.microsoft.com/office/drawing/2014/main" id="{9C5370F0-A761-42E6-ADB8-C99AD039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24350"/>
            <a:ext cx="2857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</p:sp>
      <p:sp>
        <p:nvSpPr>
          <p:cNvPr id="17" name="stream.block.1.accent">
            <a:extLst xmlns:a="http://schemas.openxmlformats.org/drawingml/2006/main">
              <a:ext uri="{FF2B5EF4-FFF2-40B4-BE49-F238E27FC236}">
                <a16:creationId xmlns:a16="http://schemas.microsoft.com/office/drawing/2014/main" id="{7C7B908C-24A9-40D4-AF79-6A448612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243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18" name="stream.block.1.label">
            <a:extLst xmlns:a="http://schemas.openxmlformats.org/drawingml/2006/main">
              <a:ext uri="{FF2B5EF4-FFF2-40B4-BE49-F238E27FC236}">
                <a16:creationId xmlns:a16="http://schemas.microsoft.com/office/drawing/2014/main" id="{85AB2E48-BC5E-4BC5-B3EE-F411B7BB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533900"/>
            <a:ext cx="2400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Node Media Server</a:t>
            </a:r>
          </a:p>
        </p:txBody>
      </p:sp>
      <p:sp>
        <p:nvSpPr>
          <p:cNvPr id="19" name="stream.block.1.sub">
            <a:extLst xmlns:a="http://schemas.openxmlformats.org/drawingml/2006/main">
              <a:ext uri="{FF2B5EF4-FFF2-40B4-BE49-F238E27FC236}">
                <a16:creationId xmlns:a16="http://schemas.microsoft.com/office/drawing/2014/main" id="{B4A19727-9B37-43B1-9F85-C764FD62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53000"/>
            <a:ext cx="2362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Tracks active stream</a:t>
            </a:r>
          </a:p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FLV playback on :8888</a:t>
            </a:r>
          </a:p>
        </p:txBody>
      </p:sp>
      <p:sp>
        <p:nvSpPr>
          <p:cNvPr id="20" name="stream.arrow.1">
            <a:extLst xmlns:a="http://schemas.openxmlformats.org/drawingml/2006/main">
              <a:ext uri="{FF2B5EF4-FFF2-40B4-BE49-F238E27FC236}">
                <a16:creationId xmlns:a16="http://schemas.microsoft.com/office/drawing/2014/main" id="{DF53BBB5-65AC-4D28-95F8-6AE1798A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76800"/>
            <a:ext cx="609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21" name="stream.block.2.node">
            <a:extLst xmlns:a="http://schemas.openxmlformats.org/drawingml/2006/main">
              <a:ext uri="{FF2B5EF4-FFF2-40B4-BE49-F238E27FC236}">
                <a16:creationId xmlns:a16="http://schemas.microsoft.com/office/drawing/2014/main" id="{4F9A8F30-9C1D-4B0F-8213-7EA593E4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24350"/>
            <a:ext cx="2857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22" name="stream.block.2.accent">
            <a:extLst xmlns:a="http://schemas.openxmlformats.org/drawingml/2006/main">
              <a:ext uri="{FF2B5EF4-FFF2-40B4-BE49-F238E27FC236}">
                <a16:creationId xmlns:a16="http://schemas.microsoft.com/office/drawing/2014/main" id="{C7D546DE-4B97-4CE6-9073-ED094B02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243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23" name="stream.block.2.label">
            <a:extLst xmlns:a="http://schemas.openxmlformats.org/drawingml/2006/main">
              <a:ext uri="{FF2B5EF4-FFF2-40B4-BE49-F238E27FC236}">
                <a16:creationId xmlns:a16="http://schemas.microsoft.com/office/drawing/2014/main" id="{EBCAEB6E-230D-4DAE-8ECA-F82B9843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33900"/>
            <a:ext cx="2400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Watch Party UI</a:t>
            </a:r>
          </a:p>
        </p:txBody>
      </p:sp>
      <p:sp>
        <p:nvSpPr>
          <p:cNvPr id="24" name="stream.block.2.sub">
            <a:extLst xmlns:a="http://schemas.openxmlformats.org/drawingml/2006/main">
              <a:ext uri="{FF2B5EF4-FFF2-40B4-BE49-F238E27FC236}">
                <a16:creationId xmlns:a16="http://schemas.microsoft.com/office/drawing/2014/main" id="{8EAD8B64-BCE8-47BF-B1DC-F57C79FA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53000"/>
            <a:ext cx="2362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Video player, status,</a:t>
            </a:r>
          </a:p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copyable stream settings</a:t>
            </a:r>
          </a:p>
        </p:txBody>
      </p:sp>
      <p:sp>
        <p:nvSpPr>
          <p:cNvPr id="25" name="stream.arrow.2">
            <a:extLst xmlns:a="http://schemas.openxmlformats.org/drawingml/2006/main">
              <a:ext uri="{FF2B5EF4-FFF2-40B4-BE49-F238E27FC236}">
                <a16:creationId xmlns:a16="http://schemas.microsoft.com/office/drawing/2014/main" id="{42561C38-A239-490A-AE9F-B54C649D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76800"/>
            <a:ext cx="609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26" name="stream.block.3.node">
            <a:extLst xmlns:a="http://schemas.openxmlformats.org/drawingml/2006/main">
              <a:ext uri="{FF2B5EF4-FFF2-40B4-BE49-F238E27FC236}">
                <a16:creationId xmlns:a16="http://schemas.microsoft.com/office/drawing/2014/main" id="{9F8193C9-8442-4005-9EC2-CC51889C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324350"/>
            <a:ext cx="2857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00FF87"/>
            </a:solidFill>
            <a:prstDash val="solid"/>
          </a:ln>
        </p:spPr>
      </p:sp>
      <p:sp>
        <p:nvSpPr>
          <p:cNvPr id="27" name="stream.block.3.accent">
            <a:extLst xmlns:a="http://schemas.openxmlformats.org/drawingml/2006/main">
              <a:ext uri="{FF2B5EF4-FFF2-40B4-BE49-F238E27FC236}">
                <a16:creationId xmlns:a16="http://schemas.microsoft.com/office/drawing/2014/main" id="{C9CD6345-2B62-48B7-956F-235B78A3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3243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7"/>
          </a:solidFill>
          <a:ln xmlns:a="http://schemas.openxmlformats.org/drawingml/2006/main" w="0">
            <a:solidFill>
              <a:srgbClr val="00FF87"/>
            </a:solidFill>
            <a:prstDash val="solid"/>
          </a:ln>
        </p:spPr>
      </p:sp>
      <p:sp>
        <p:nvSpPr>
          <p:cNvPr id="28" name="stream.block.3.label">
            <a:extLst xmlns:a="http://schemas.openxmlformats.org/drawingml/2006/main">
              <a:ext uri="{FF2B5EF4-FFF2-40B4-BE49-F238E27FC236}">
                <a16:creationId xmlns:a16="http://schemas.microsoft.com/office/drawing/2014/main" id="{F0536194-EA02-4011-8C67-763795CE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533900"/>
            <a:ext cx="2400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Viewers</a:t>
            </a:r>
          </a:p>
        </p:txBody>
      </p:sp>
      <p:sp>
        <p:nvSpPr>
          <p:cNvPr id="29" name="stream.block.3.sub">
            <a:extLst xmlns:a="http://schemas.openxmlformats.org/drawingml/2006/main">
              <a:ext uri="{FF2B5EF4-FFF2-40B4-BE49-F238E27FC236}">
                <a16:creationId xmlns:a16="http://schemas.microsoft.com/office/drawing/2014/main" id="{A8A42416-1860-4D15-9087-E1EE91E5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953000"/>
            <a:ext cx="2362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Socket.IO presence</a:t>
            </a:r>
          </a:p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or WebRTC screen share</a:t>
            </a:r>
          </a:p>
        </p:txBody>
      </p:sp>
      <p:sp>
        <p:nvSpPr>
          <p:cNvPr id="30" name="stream.video">
            <a:extLst xmlns:a="http://schemas.openxmlformats.org/drawingml/2006/main">
              <a:ext uri="{FF2B5EF4-FFF2-40B4-BE49-F238E27FC236}">
                <a16:creationId xmlns:a16="http://schemas.microsoft.com/office/drawing/2014/main" id="{C122B58C-70E5-46E8-8EAE-36C07886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724650"/>
            <a:ext cx="7429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31" name="stream.live.dot">
            <a:extLst xmlns:a="http://schemas.openxmlformats.org/drawingml/2006/main">
              <a:ext uri="{FF2B5EF4-FFF2-40B4-BE49-F238E27FC236}">
                <a16:creationId xmlns:a16="http://schemas.microsoft.com/office/drawing/2014/main" id="{314C046F-091C-4239-8929-42D6281B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32" name="stream.video.text">
            <a:extLst xmlns:a="http://schemas.openxmlformats.org/drawingml/2006/main">
              <a:ext uri="{FF2B5EF4-FFF2-40B4-BE49-F238E27FC236}">
                <a16:creationId xmlns:a16="http://schemas.microsoft.com/office/drawing/2014/main" id="{F7967EB5-D679-4250-B7C8-811FC9EF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12470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t>LIVE WATCH PARTY: OBS stream or direct browser broadcast</a:t>
            </a:r>
          </a:p>
        </p:txBody>
      </p:sp>
      <p:sp>
        <p:nvSpPr>
          <p:cNvPr id="33" name="stream.source">
            <a:extLst xmlns:a="http://schemas.openxmlformats.org/drawingml/2006/main">
              <a:ext uri="{FF2B5EF4-FFF2-40B4-BE49-F238E27FC236}">
                <a16:creationId xmlns:a16="http://schemas.microsoft.com/office/drawing/2014/main" id="{F4A8EE7B-2498-4573-9772-5DD976FC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39000"/>
            <a:ext cx="49530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1A1AA"/>
                </a:solidFill>
              </a:defRPr>
            </a:pPr>
            <a:r>
              <a:t>Source: WatchParty.jsx, NodeMediaServer setup, and Socket.IO signaling in server.js.</a:t>
            </a:r>
          </a:p>
        </p:txBody>
      </p:sp>
    </p:spTree>
    <p:extLst>
      <p:ext uri="{BB962C8B-B14F-4D97-AF65-F5344CB8AC3E}">
        <p14:creationId xmlns:p14="http://schemas.microsoft.com/office/powerpoint/2010/main" val="15228948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.10">
            <a:extLst xmlns:a="http://schemas.openxmlformats.org/drawingml/2006/main">
              <a:ext uri="{FF2B5EF4-FFF2-40B4-BE49-F238E27FC236}">
                <a16:creationId xmlns:a16="http://schemas.microsoft.com/office/drawing/2014/main" id="{E736FC99-94B8-4C3B-A9A4-1AD75DB7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50A"/>
              </a:gs>
              <a:gs pos="54000">
                <a:srgbClr val="101027"/>
              </a:gs>
              <a:gs pos="100000">
                <a:srgbClr val="1A1026"/>
              </a:gs>
            </a:gsLst>
            <a:lin ang="1500000"/>
          </a:gradFill>
          <a:ln xmlns:a="http://schemas.openxmlformats.org/drawingml/2006/main" w="0">
            <a:solidFill>
              <a:srgbClr val="05050A"/>
            </a:solidFill>
            <a:prstDash val="solid"/>
          </a:ln>
        </p:spPr>
      </p:sp>
      <p:sp>
        <p:nvSpPr>
          <p:cNvPr id="2" name="accent.slash.10.1">
            <a:extLst xmlns:a="http://schemas.openxmlformats.org/drawingml/2006/main">
              <a:ext uri="{FF2B5EF4-FFF2-40B4-BE49-F238E27FC236}">
                <a16:creationId xmlns:a16="http://schemas.microsoft.com/office/drawing/2014/main" id="{1017B474-BBA2-4E3C-8349-A2906CAB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6954500" y="-1714500"/>
            <a:ext cx="8572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3" name="accent.slash.10.2">
            <a:extLst xmlns:a="http://schemas.openxmlformats.org/drawingml/2006/main">
              <a:ext uri="{FF2B5EF4-FFF2-40B4-BE49-F238E27FC236}">
                <a16:creationId xmlns:a16="http://schemas.microsoft.com/office/drawing/2014/main" id="{661E34EB-D6C8-4BD3-A2CA-9CFDF65E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8021300" y="-1714500"/>
            <a:ext cx="2857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" name="accent.floor.10">
            <a:extLst xmlns:a="http://schemas.openxmlformats.org/drawingml/2006/main">
              <a:ext uri="{FF2B5EF4-FFF2-40B4-BE49-F238E27FC236}">
                <a16:creationId xmlns:a16="http://schemas.microsoft.com/office/drawing/2014/main" id="{8AEF8E3E-FFB6-420C-B9D0-C58DD02E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0"/>
            <a:ext cx="1828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</p:sp>
      <p:sp>
        <p:nvSpPr>
          <p:cNvPr id="5" name="accent.floor.line.10">
            <a:extLst xmlns:a="http://schemas.openxmlformats.org/drawingml/2006/main">
              <a:ext uri="{FF2B5EF4-FFF2-40B4-BE49-F238E27FC236}">
                <a16:creationId xmlns:a16="http://schemas.microsoft.com/office/drawing/2014/main" id="{6395172A-1DFD-42AC-B867-7E137079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6" name="footer.section.10">
            <a:extLst xmlns:a="http://schemas.openxmlformats.org/drawingml/2006/main">
              <a:ext uri="{FF2B5EF4-FFF2-40B4-BE49-F238E27FC236}">
                <a16:creationId xmlns:a16="http://schemas.microsoft.com/office/drawing/2014/main" id="{C7D7FE43-EA55-4972-BE76-E85A4554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</a:defRPr>
            </a:pPr>
            <a:r>
              <a:t>AI COACH: CHAMPAK</a:t>
            </a:r>
          </a:p>
        </p:txBody>
      </p:sp>
      <p:sp>
        <p:nvSpPr>
          <p:cNvPr id="7" name="footer.page.10">
            <a:extLst xmlns:a="http://schemas.openxmlformats.org/drawingml/2006/main">
              <a:ext uri="{FF2B5EF4-FFF2-40B4-BE49-F238E27FC236}">
                <a16:creationId xmlns:a16="http://schemas.microsoft.com/office/drawing/2014/main" id="{6131EDC2-12A0-4210-B86F-D8959550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6202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E5FF"/>
                </a:solidFill>
              </a:defRPr>
            </a:pPr>
            <a:r>
              <a:t>10</a:t>
            </a:r>
          </a:p>
        </p:txBody>
      </p:sp>
      <p:sp>
        <p:nvSpPr>
          <p:cNvPr id="8" name="label.AI COACH: CHAMPAK">
            <a:extLst xmlns:a="http://schemas.openxmlformats.org/drawingml/2006/main">
              <a:ext uri="{FF2B5EF4-FFF2-40B4-BE49-F238E27FC236}">
                <a16:creationId xmlns:a16="http://schemas.microsoft.com/office/drawing/2014/main" id="{572AA543-A71C-4677-A221-8DDCF524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31718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107A"/>
                </a:solidFill>
              </a:defRPr>
            </a:pPr>
            <a:r>
              <a:t>AI COACH: CHAMPAK</a:t>
            </a:r>
          </a:p>
        </p:txBody>
      </p:sp>
      <p:sp>
        <p:nvSpPr>
          <p:cNvPr id="9" name="slide-title.10">
            <a:extLst xmlns:a="http://schemas.openxmlformats.org/drawingml/2006/main">
              <a:ext uri="{FF2B5EF4-FFF2-40B4-BE49-F238E27FC236}">
                <a16:creationId xmlns:a16="http://schemas.microsoft.com/office/drawing/2014/main" id="{92C2ABD1-6E8B-4093-B288-5CE02198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90625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t>An in-app guide reduces confusion during live play</a:t>
            </a:r>
          </a:p>
        </p:txBody>
      </p:sp>
      <p:sp>
        <p:nvSpPr>
          <p:cNvPr id="10" name="slide-subtitle.10">
            <a:extLst xmlns:a="http://schemas.openxmlformats.org/drawingml/2006/main">
              <a:ext uri="{FF2B5EF4-FFF2-40B4-BE49-F238E27FC236}">
                <a16:creationId xmlns:a16="http://schemas.microsoft.com/office/drawing/2014/main" id="{2AECEC71-29B2-4F42-BD11-2E401084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104900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A1AA"/>
                </a:solidFill>
              </a:defRPr>
            </a:pPr>
            <a:r>
              <a:t>Champak answers questions about drafting, scoring, OBS setup, and fantasy strategy.</a:t>
            </a:r>
          </a:p>
        </p:txBody>
      </p:sp>
      <p:sp>
        <p:nvSpPr>
          <p:cNvPr id="11" name="chat.window">
            <a:extLst xmlns:a="http://schemas.openxmlformats.org/drawingml/2006/main">
              <a:ext uri="{FF2B5EF4-FFF2-40B4-BE49-F238E27FC236}">
                <a16:creationId xmlns:a16="http://schemas.microsoft.com/office/drawing/2014/main" id="{861BD588-CE3F-4E71-A31A-2C443353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43250"/>
            <a:ext cx="5905500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FF107A"/>
            </a:solidFill>
            <a:prstDash val="solid"/>
          </a:ln>
        </p:spPr>
      </p:sp>
      <p:sp>
        <p:nvSpPr>
          <p:cNvPr id="12" name="chat.header">
            <a:extLst xmlns:a="http://schemas.openxmlformats.org/drawingml/2006/main">
              <a:ext uri="{FF2B5EF4-FFF2-40B4-BE49-F238E27FC236}">
                <a16:creationId xmlns:a16="http://schemas.microsoft.com/office/drawing/2014/main" id="{A9A32AE6-0DFE-489D-9990-344C1750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861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107A"/>
                </a:solidFill>
              </a:defRPr>
            </a:pPr>
            <a:r>
              <a:t>CHAMPAK  AI ONLINE</a:t>
            </a:r>
          </a:p>
        </p:txBody>
      </p:sp>
      <p:sp>
        <p:nvSpPr>
          <p:cNvPr id="13" name="chat.msg.0">
            <a:extLst xmlns:a="http://schemas.openxmlformats.org/drawingml/2006/main">
              <a:ext uri="{FF2B5EF4-FFF2-40B4-BE49-F238E27FC236}">
                <a16:creationId xmlns:a16="http://schemas.microsoft.com/office/drawing/2014/main" id="{274EC092-D4AE-4890-8CE8-229DD3D6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2910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4288">
            <a:solidFill>
              <a:srgbClr val="A855F7"/>
            </a:solidFill>
            <a:prstDash val="solid"/>
          </a:ln>
        </p:spPr>
      </p:sp>
      <p:sp>
        <p:nvSpPr>
          <p:cNvPr id="14" name="chat.msg.text.0">
            <a:extLst xmlns:a="http://schemas.openxmlformats.org/drawingml/2006/main">
              <a:ext uri="{FF2B5EF4-FFF2-40B4-BE49-F238E27FC236}">
                <a16:creationId xmlns:a16="http://schemas.microsoft.com/office/drawing/2014/main" id="{ED994CD5-993C-4D8D-9830-4008381A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8150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t>Ask me about drafting teams, scoring rules, live streams, or OBS setup.</a:t>
            </a:r>
          </a:p>
        </p:txBody>
      </p:sp>
      <p:sp>
        <p:nvSpPr>
          <p:cNvPr id="15" name="chat.msg.1">
            <a:extLst xmlns:a="http://schemas.openxmlformats.org/drawingml/2006/main">
              <a:ext uri="{FF2B5EF4-FFF2-40B4-BE49-F238E27FC236}">
                <a16:creationId xmlns:a16="http://schemas.microsoft.com/office/drawing/2014/main" id="{1F4A23A2-7075-4799-9AC1-828D05AA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53050"/>
            <a:ext cx="3676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107A"/>
          </a:solidFill>
          <a:ln xmlns:a="http://schemas.openxmlformats.org/drawingml/2006/main" w="14288">
            <a:solidFill>
              <a:srgbClr val="00E5FF"/>
            </a:solidFill>
            <a:prstDash val="solid"/>
          </a:ln>
        </p:spPr>
      </p:sp>
      <p:sp>
        <p:nvSpPr>
          <p:cNvPr id="16" name="chat.msg.text.1">
            <a:extLst xmlns:a="http://schemas.openxmlformats.org/drawingml/2006/main">
              <a:ext uri="{FF2B5EF4-FFF2-40B4-BE49-F238E27FC236}">
                <a16:creationId xmlns:a16="http://schemas.microsoft.com/office/drawing/2014/main" id="{1B7AE85E-4561-49D1-AA25-9A6124C6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05450"/>
            <a:ext cx="3295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t>Tips for picking a Captain?</a:t>
            </a:r>
          </a:p>
        </p:txBody>
      </p:sp>
      <p:sp>
        <p:nvSpPr>
          <p:cNvPr id="17" name="chat.msg.2">
            <a:extLst xmlns:a="http://schemas.openxmlformats.org/drawingml/2006/main">
              <a:ext uri="{FF2B5EF4-FFF2-40B4-BE49-F238E27FC236}">
                <a16:creationId xmlns:a16="http://schemas.microsoft.com/office/drawing/2014/main" id="{4AC5AEC5-6582-46CC-8545-9FA65C56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47700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4288">
            <a:solidFill>
              <a:srgbClr val="FF107A"/>
            </a:solidFill>
            <a:prstDash val="solid"/>
          </a:ln>
        </p:spPr>
      </p:sp>
      <p:sp>
        <p:nvSpPr>
          <p:cNvPr id="18" name="chat.msg.text.2">
            <a:extLst xmlns:a="http://schemas.openxmlformats.org/drawingml/2006/main">
              <a:ext uri="{FF2B5EF4-FFF2-40B4-BE49-F238E27FC236}">
                <a16:creationId xmlns:a16="http://schemas.microsoft.com/office/drawing/2014/main" id="{CD264F17-07AD-4003-8D5C-300D439E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629400"/>
            <a:ext cx="438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t>Pick high-form players with reliable scoring. Captain earns 2x points.</a:t>
            </a:r>
          </a:p>
        </p:txBody>
      </p:sp>
      <p:sp>
        <p:nvSpPr>
          <p:cNvPr id="19" name="ai.backend.title">
            <a:extLst xmlns:a="http://schemas.openxmlformats.org/drawingml/2006/main">
              <a:ext uri="{FF2B5EF4-FFF2-40B4-BE49-F238E27FC236}">
                <a16:creationId xmlns:a16="http://schemas.microsoft.com/office/drawing/2014/main" id="{0B104928-D676-4C91-AC2E-C727B3FD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14750"/>
            <a:ext cx="5905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t>Backend intelligence</a:t>
            </a:r>
          </a:p>
        </p:txBody>
      </p:sp>
      <p:sp>
        <p:nvSpPr>
          <p:cNvPr id="20" name="ai.b1.dot">
            <a:extLst xmlns:a="http://schemas.openxmlformats.org/drawingml/2006/main">
              <a:ext uri="{FF2B5EF4-FFF2-40B4-BE49-F238E27FC236}">
                <a16:creationId xmlns:a16="http://schemas.microsoft.com/office/drawing/2014/main" id="{28D5F2C0-E0BE-43D4-A066-CA263C52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38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21" name="ai.b1.text">
            <a:extLst xmlns:a="http://schemas.openxmlformats.org/drawingml/2006/main">
              <a:ext uri="{FF2B5EF4-FFF2-40B4-BE49-F238E27FC236}">
                <a16:creationId xmlns:a16="http://schemas.microsoft.com/office/drawing/2014/main" id="{BDCE1A8B-52AD-41A1-AAC3-8B065396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62500"/>
            <a:ext cx="6953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4F5"/>
                </a:solidFill>
              </a:defRPr>
            </a:pPr>
            <a:r>
              <a:t>Frontend chat state keeps the experience conversational.</a:t>
            </a:r>
          </a:p>
        </p:txBody>
      </p:sp>
      <p:sp>
        <p:nvSpPr>
          <p:cNvPr id="22" name="ai.b2.dot">
            <a:extLst xmlns:a="http://schemas.openxmlformats.org/drawingml/2006/main">
              <a:ext uri="{FF2B5EF4-FFF2-40B4-BE49-F238E27FC236}">
                <a16:creationId xmlns:a16="http://schemas.microsoft.com/office/drawing/2014/main" id="{5E2CC16F-3883-48AD-93B9-F04C1F84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695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23" name="ai.b2.text">
            <a:extLst xmlns:a="http://schemas.openxmlformats.org/drawingml/2006/main">
              <a:ext uri="{FF2B5EF4-FFF2-40B4-BE49-F238E27FC236}">
                <a16:creationId xmlns:a16="http://schemas.microsoft.com/office/drawing/2014/main" id="{006B4231-FA40-4051-AB83-C526506A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619750"/>
            <a:ext cx="6953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4F5"/>
                </a:solidFill>
              </a:defRPr>
            </a:pPr>
            <a:r>
              <a:t>Backend /api/chat calls Gemini when API key is available.</a:t>
            </a:r>
          </a:p>
        </p:txBody>
      </p:sp>
      <p:sp>
        <p:nvSpPr>
          <p:cNvPr id="24" name="ai.b3.dot">
            <a:extLst xmlns:a="http://schemas.openxmlformats.org/drawingml/2006/main">
              <a:ext uri="{FF2B5EF4-FFF2-40B4-BE49-F238E27FC236}">
                <a16:creationId xmlns:a16="http://schemas.microsoft.com/office/drawing/2014/main" id="{AE0493C0-5FBB-40B6-BF77-D5774233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553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00"/>
          </a:solidFill>
          <a:ln xmlns:a="http://schemas.openxmlformats.org/drawingml/2006/main" w="0">
            <a:solidFill>
              <a:srgbClr val="FFD700"/>
            </a:solidFill>
            <a:prstDash val="solid"/>
          </a:ln>
        </p:spPr>
      </p:sp>
      <p:sp>
        <p:nvSpPr>
          <p:cNvPr id="25" name="ai.b3.text">
            <a:extLst xmlns:a="http://schemas.openxmlformats.org/drawingml/2006/main">
              <a:ext uri="{FF2B5EF4-FFF2-40B4-BE49-F238E27FC236}">
                <a16:creationId xmlns:a16="http://schemas.microsoft.com/office/drawing/2014/main" id="{17BAD50B-3935-4326-AEA8-1C97F0A1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477000"/>
            <a:ext cx="6953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4F5"/>
                </a:solidFill>
              </a:defRPr>
            </a:pPr>
            <a:r>
              <a:t>Fallback responses keep the demo usable even without AI config.</a:t>
            </a:r>
          </a:p>
        </p:txBody>
      </p:sp>
      <p:sp>
        <p:nvSpPr>
          <p:cNvPr id="26" name="ai.b4.dot">
            <a:extLst xmlns:a="http://schemas.openxmlformats.org/drawingml/2006/main">
              <a:ext uri="{FF2B5EF4-FFF2-40B4-BE49-F238E27FC236}">
                <a16:creationId xmlns:a16="http://schemas.microsoft.com/office/drawing/2014/main" id="{8B379447-0690-47B1-9E12-BC0F3AEF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7410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F87"/>
          </a:solidFill>
          <a:ln xmlns:a="http://schemas.openxmlformats.org/drawingml/2006/main" w="0">
            <a:solidFill>
              <a:srgbClr val="00FF87"/>
            </a:solidFill>
            <a:prstDash val="solid"/>
          </a:ln>
        </p:spPr>
      </p:sp>
      <p:sp>
        <p:nvSpPr>
          <p:cNvPr id="27" name="ai.b4.text">
            <a:extLst xmlns:a="http://schemas.openxmlformats.org/drawingml/2006/main">
              <a:ext uri="{FF2B5EF4-FFF2-40B4-BE49-F238E27FC236}">
                <a16:creationId xmlns:a16="http://schemas.microsoft.com/office/drawing/2014/main" id="{CAC5DE58-2D53-49C9-AFB8-4F9805FD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7334250"/>
            <a:ext cx="6953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4F5"/>
                </a:solidFill>
              </a:defRPr>
            </a:pPr>
            <a:r>
              <a:t>Suggested questions guide users toward high-value help.</a:t>
            </a:r>
          </a:p>
        </p:txBody>
      </p:sp>
    </p:spTree>
    <p:extLst>
      <p:ext uri="{BB962C8B-B14F-4D97-AF65-F5344CB8AC3E}">
        <p14:creationId xmlns:p14="http://schemas.microsoft.com/office/powerpoint/2010/main" val="191418150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.11">
            <a:extLst xmlns:a="http://schemas.openxmlformats.org/drawingml/2006/main">
              <a:ext uri="{FF2B5EF4-FFF2-40B4-BE49-F238E27FC236}">
                <a16:creationId xmlns:a16="http://schemas.microsoft.com/office/drawing/2014/main" id="{5ECBF46E-043D-4AC8-80B9-8A159F42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50A"/>
              </a:gs>
              <a:gs pos="54000">
                <a:srgbClr val="101027"/>
              </a:gs>
              <a:gs pos="100000">
                <a:srgbClr val="1A1026"/>
              </a:gs>
            </a:gsLst>
            <a:lin ang="1500000"/>
          </a:gradFill>
          <a:ln xmlns:a="http://schemas.openxmlformats.org/drawingml/2006/main" w="0">
            <a:solidFill>
              <a:srgbClr val="05050A"/>
            </a:solidFill>
            <a:prstDash val="solid"/>
          </a:ln>
        </p:spPr>
      </p:sp>
      <p:sp>
        <p:nvSpPr>
          <p:cNvPr id="2" name="accent.slash.11.1">
            <a:extLst xmlns:a="http://schemas.openxmlformats.org/drawingml/2006/main">
              <a:ext uri="{FF2B5EF4-FFF2-40B4-BE49-F238E27FC236}">
                <a16:creationId xmlns:a16="http://schemas.microsoft.com/office/drawing/2014/main" id="{4AA74E82-0797-49AE-8BF8-5ECF9590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6954500" y="-1714500"/>
            <a:ext cx="8572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3" name="accent.slash.11.2">
            <a:extLst xmlns:a="http://schemas.openxmlformats.org/drawingml/2006/main">
              <a:ext uri="{FF2B5EF4-FFF2-40B4-BE49-F238E27FC236}">
                <a16:creationId xmlns:a16="http://schemas.microsoft.com/office/drawing/2014/main" id="{40AD7F23-9C3A-4846-8EA6-2D8CCBAB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8021300" y="-1714500"/>
            <a:ext cx="2857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" name="accent.floor.11">
            <a:extLst xmlns:a="http://schemas.openxmlformats.org/drawingml/2006/main">
              <a:ext uri="{FF2B5EF4-FFF2-40B4-BE49-F238E27FC236}">
                <a16:creationId xmlns:a16="http://schemas.microsoft.com/office/drawing/2014/main" id="{7132F48C-ADB7-408A-8DAF-CD45DE9E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0"/>
            <a:ext cx="1828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</p:sp>
      <p:sp>
        <p:nvSpPr>
          <p:cNvPr id="5" name="accent.floor.line.11">
            <a:extLst xmlns:a="http://schemas.openxmlformats.org/drawingml/2006/main">
              <a:ext uri="{FF2B5EF4-FFF2-40B4-BE49-F238E27FC236}">
                <a16:creationId xmlns:a16="http://schemas.microsoft.com/office/drawing/2014/main" id="{263418A8-C23B-4A25-809C-64BDEA0F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6" name="footer.section.11">
            <a:extLst xmlns:a="http://schemas.openxmlformats.org/drawingml/2006/main">
              <a:ext uri="{FF2B5EF4-FFF2-40B4-BE49-F238E27FC236}">
                <a16:creationId xmlns:a16="http://schemas.microsoft.com/office/drawing/2014/main" id="{A35E873F-D64E-42D6-BBC3-C042ED34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</a:defRPr>
            </a:pPr>
            <a:r>
              <a:t>ADMIN SCORING WORKFLOW</a:t>
            </a:r>
          </a:p>
        </p:txBody>
      </p:sp>
      <p:sp>
        <p:nvSpPr>
          <p:cNvPr id="7" name="footer.page.11">
            <a:extLst xmlns:a="http://schemas.openxmlformats.org/drawingml/2006/main">
              <a:ext uri="{FF2B5EF4-FFF2-40B4-BE49-F238E27FC236}">
                <a16:creationId xmlns:a16="http://schemas.microsoft.com/office/drawing/2014/main" id="{461925B4-EE9F-4340-9E9B-57FBA4B2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6202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E5FF"/>
                </a:solidFill>
              </a:defRPr>
            </a:pPr>
            <a:r>
              <a:t>11</a:t>
            </a:r>
          </a:p>
        </p:txBody>
      </p:sp>
      <p:sp>
        <p:nvSpPr>
          <p:cNvPr id="8" name="label.ADMIN SCORING WORKFLOW">
            <a:extLst xmlns:a="http://schemas.openxmlformats.org/drawingml/2006/main">
              <a:ext uri="{FF2B5EF4-FFF2-40B4-BE49-F238E27FC236}">
                <a16:creationId xmlns:a16="http://schemas.microsoft.com/office/drawing/2014/main" id="{E24E3346-62D8-4E48-9242-A3B9CB8C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3981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107A"/>
                </a:solidFill>
              </a:defRPr>
            </a:pPr>
            <a:r>
              <a:t>ADMIN SCORING WORKFLOW</a:t>
            </a:r>
          </a:p>
        </p:txBody>
      </p:sp>
      <p:sp>
        <p:nvSpPr>
          <p:cNvPr id="9" name="slide-title.11">
            <a:extLst xmlns:a="http://schemas.openxmlformats.org/drawingml/2006/main">
              <a:ext uri="{FF2B5EF4-FFF2-40B4-BE49-F238E27FC236}">
                <a16:creationId xmlns:a16="http://schemas.microsoft.com/office/drawing/2014/main" id="{67107901-AD8A-4CE6-8943-54E02BEC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90625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t>A scoring log turns real event actions into fantasy points</a:t>
            </a:r>
          </a:p>
        </p:txBody>
      </p:sp>
      <p:sp>
        <p:nvSpPr>
          <p:cNvPr id="10" name="slide-subtitle.11">
            <a:extLst xmlns:a="http://schemas.openxmlformats.org/drawingml/2006/main">
              <a:ext uri="{FF2B5EF4-FFF2-40B4-BE49-F238E27FC236}">
                <a16:creationId xmlns:a16="http://schemas.microsoft.com/office/drawing/2014/main" id="{859561A0-F6F8-49E9-BDEE-F014E789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104900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A1AA"/>
                </a:solidFill>
              </a:defRPr>
            </a:pPr>
            <a:r>
              <a:t>Admins update player performance, which changes leaderboards through stored fantasy entries.</a:t>
            </a:r>
          </a:p>
        </p:txBody>
      </p:sp>
      <p:sp>
        <p:nvSpPr>
          <p:cNvPr id="11" name="admin.step.0">
            <a:extLst xmlns:a="http://schemas.openxmlformats.org/drawingml/2006/main">
              <a:ext uri="{FF2B5EF4-FFF2-40B4-BE49-F238E27FC236}">
                <a16:creationId xmlns:a16="http://schemas.microsoft.com/office/drawing/2014/main" id="{93ABD5D9-6C14-40AF-9FD3-EBA9FB05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624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12" name="admin.step.text.0">
            <a:extLst xmlns:a="http://schemas.openxmlformats.org/drawingml/2006/main">
              <a:ext uri="{FF2B5EF4-FFF2-40B4-BE49-F238E27FC236}">
                <a16:creationId xmlns:a16="http://schemas.microsoft.com/office/drawing/2014/main" id="{D4DCAE9D-53FC-4B8E-938C-26B33B0B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24400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t>Admin selects player</a:t>
            </a:r>
          </a:p>
        </p:txBody>
      </p:sp>
      <p:sp>
        <p:nvSpPr>
          <p:cNvPr id="13" name="admin.arrow.0">
            <a:extLst xmlns:a="http://schemas.openxmlformats.org/drawingml/2006/main">
              <a:ext uri="{FF2B5EF4-FFF2-40B4-BE49-F238E27FC236}">
                <a16:creationId xmlns:a16="http://schemas.microsoft.com/office/drawing/2014/main" id="{A46B26AF-B93B-4451-9E3E-7D0D55B8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62500"/>
            <a:ext cx="6286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14" name="admin.step.1">
            <a:extLst xmlns:a="http://schemas.openxmlformats.org/drawingml/2006/main">
              <a:ext uri="{FF2B5EF4-FFF2-40B4-BE49-F238E27FC236}">
                <a16:creationId xmlns:a16="http://schemas.microsoft.com/office/drawing/2014/main" id="{FF3AE50D-9FD3-448E-8617-3DCF2848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624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FFD700"/>
            </a:solidFill>
            <a:prstDash val="solid"/>
          </a:ln>
        </p:spPr>
      </p:sp>
      <p:sp>
        <p:nvSpPr>
          <p:cNvPr id="15" name="admin.step.text.1">
            <a:extLst xmlns:a="http://schemas.openxmlformats.org/drawingml/2006/main">
              <a:ext uri="{FF2B5EF4-FFF2-40B4-BE49-F238E27FC236}">
                <a16:creationId xmlns:a16="http://schemas.microsoft.com/office/drawing/2014/main" id="{FD3BFF4C-D3BE-42AD-8EB3-03579A2F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24400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t>Logs action + points</a:t>
            </a:r>
          </a:p>
        </p:txBody>
      </p:sp>
      <p:sp>
        <p:nvSpPr>
          <p:cNvPr id="16" name="admin.arrow.1">
            <a:extLst xmlns:a="http://schemas.openxmlformats.org/drawingml/2006/main">
              <a:ext uri="{FF2B5EF4-FFF2-40B4-BE49-F238E27FC236}">
                <a16:creationId xmlns:a16="http://schemas.microsoft.com/office/drawing/2014/main" id="{1003001D-8FF4-497E-AA63-B5CF5138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6286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700"/>
          </a:solidFill>
          <a:ln xmlns:a="http://schemas.openxmlformats.org/drawingml/2006/main" w="0">
            <a:solidFill>
              <a:srgbClr val="FFD700"/>
            </a:solidFill>
            <a:prstDash val="solid"/>
          </a:ln>
        </p:spPr>
      </p:sp>
      <p:sp>
        <p:nvSpPr>
          <p:cNvPr id="17" name="admin.step.2">
            <a:extLst xmlns:a="http://schemas.openxmlformats.org/drawingml/2006/main">
              <a:ext uri="{FF2B5EF4-FFF2-40B4-BE49-F238E27FC236}">
                <a16:creationId xmlns:a16="http://schemas.microsoft.com/office/drawing/2014/main" id="{0C625DB4-80E8-4EAB-AEFA-F7A909D0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624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</p:sp>
      <p:sp>
        <p:nvSpPr>
          <p:cNvPr id="18" name="admin.step.text.2">
            <a:extLst xmlns:a="http://schemas.openxmlformats.org/drawingml/2006/main">
              <a:ext uri="{FF2B5EF4-FFF2-40B4-BE49-F238E27FC236}">
                <a16:creationId xmlns:a16="http://schemas.microsoft.com/office/drawing/2014/main" id="{D5503E27-BD4D-4A54-A60F-28BA8291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24400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t>Player total updates</a:t>
            </a:r>
          </a:p>
        </p:txBody>
      </p:sp>
      <p:sp>
        <p:nvSpPr>
          <p:cNvPr id="19" name="admin.arrow.2">
            <a:extLst xmlns:a="http://schemas.openxmlformats.org/drawingml/2006/main">
              <a:ext uri="{FF2B5EF4-FFF2-40B4-BE49-F238E27FC236}">
                <a16:creationId xmlns:a16="http://schemas.microsoft.com/office/drawing/2014/main" id="{D8362178-1739-46FF-8B8E-FB970D6A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762500"/>
            <a:ext cx="6286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20" name="admin.step.3">
            <a:extLst xmlns:a="http://schemas.openxmlformats.org/drawingml/2006/main">
              <a:ext uri="{FF2B5EF4-FFF2-40B4-BE49-F238E27FC236}">
                <a16:creationId xmlns:a16="http://schemas.microsoft.com/office/drawing/2014/main" id="{07EF8AC6-DA65-4580-8968-882B0775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3624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A855F7"/>
            </a:solidFill>
            <a:prstDash val="solid"/>
          </a:ln>
        </p:spPr>
      </p:sp>
      <p:sp>
        <p:nvSpPr>
          <p:cNvPr id="21" name="admin.step.text.3">
            <a:extLst xmlns:a="http://schemas.openxmlformats.org/drawingml/2006/main">
              <a:ext uri="{FF2B5EF4-FFF2-40B4-BE49-F238E27FC236}">
                <a16:creationId xmlns:a16="http://schemas.microsoft.com/office/drawing/2014/main" id="{14311757-3DA8-429E-8729-AD9E2D41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4724400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t>Teams recalculate</a:t>
            </a:r>
          </a:p>
        </p:txBody>
      </p:sp>
      <p:sp>
        <p:nvSpPr>
          <p:cNvPr id="22" name="admin.arrow.3">
            <a:extLst xmlns:a="http://schemas.openxmlformats.org/drawingml/2006/main">
              <a:ext uri="{FF2B5EF4-FFF2-40B4-BE49-F238E27FC236}">
                <a16:creationId xmlns:a16="http://schemas.microsoft.com/office/drawing/2014/main" id="{1D6B42FC-47E3-41BA-83D2-E592DFE4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4762500"/>
            <a:ext cx="6286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  <a:prstDash val="solid"/>
          </a:ln>
        </p:spPr>
      </p:sp>
      <p:sp>
        <p:nvSpPr>
          <p:cNvPr id="23" name="admin.step.4">
            <a:extLst xmlns:a="http://schemas.openxmlformats.org/drawingml/2006/main">
              <a:ext uri="{FF2B5EF4-FFF2-40B4-BE49-F238E27FC236}">
                <a16:creationId xmlns:a16="http://schemas.microsoft.com/office/drawing/2014/main" id="{57E8C6D8-66C8-45B5-A099-B13973AC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43624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00FF87"/>
            </a:solidFill>
            <a:prstDash val="solid"/>
          </a:ln>
        </p:spPr>
      </p:sp>
      <p:sp>
        <p:nvSpPr>
          <p:cNvPr id="24" name="admin.step.text.4">
            <a:extLst xmlns:a="http://schemas.openxmlformats.org/drawingml/2006/main">
              <a:ext uri="{FF2B5EF4-FFF2-40B4-BE49-F238E27FC236}">
                <a16:creationId xmlns:a16="http://schemas.microsoft.com/office/drawing/2014/main" id="{C0C17269-7BBF-42DA-9C77-585F4A9F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4724400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t>Leaderboard shifts</a:t>
            </a:r>
          </a:p>
        </p:txBody>
      </p:sp>
      <p:sp>
        <p:nvSpPr>
          <p:cNvPr id="25" name="admin.log.panel">
            <a:extLst xmlns:a="http://schemas.openxmlformats.org/drawingml/2006/main">
              <a:ext uri="{FF2B5EF4-FFF2-40B4-BE49-F238E27FC236}">
                <a16:creationId xmlns:a16="http://schemas.microsoft.com/office/drawing/2014/main" id="{787DD946-9FB9-4946-BD5B-617AE4B9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705600"/>
            <a:ext cx="92583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</p:sp>
      <p:sp>
        <p:nvSpPr>
          <p:cNvPr id="26" name="admin.log.text">
            <a:extLst xmlns:a="http://schemas.openxmlformats.org/drawingml/2006/main">
              <a:ext uri="{FF2B5EF4-FFF2-40B4-BE49-F238E27FC236}">
                <a16:creationId xmlns:a16="http://schemas.microsoft.com/office/drawing/2014/main" id="{DFD860AB-41C8-4821-B8FB-F7DFA298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12470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F4F5"/>
                </a:solidFill>
              </a:defRPr>
            </a:pPr>
            <a:r>
              <a:t>PerformanceLog stores playerId, action, pointsAdded, notes, and timestamp.</a:t>
            </a:r>
          </a:p>
        </p:txBody>
      </p:sp>
    </p:spTree>
    <p:extLst>
      <p:ext uri="{BB962C8B-B14F-4D97-AF65-F5344CB8AC3E}">
        <p14:creationId xmlns:p14="http://schemas.microsoft.com/office/powerpoint/2010/main" val="71407309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.12">
            <a:extLst xmlns:a="http://schemas.openxmlformats.org/drawingml/2006/main">
              <a:ext uri="{FF2B5EF4-FFF2-40B4-BE49-F238E27FC236}">
                <a16:creationId xmlns:a16="http://schemas.microsoft.com/office/drawing/2014/main" id="{353D4CF8-F53D-4D7D-8213-0C27FE09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50A"/>
              </a:gs>
              <a:gs pos="54000">
                <a:srgbClr val="101027"/>
              </a:gs>
              <a:gs pos="100000">
                <a:srgbClr val="1A1026"/>
              </a:gs>
            </a:gsLst>
            <a:lin ang="1500000"/>
          </a:gradFill>
          <a:ln xmlns:a="http://schemas.openxmlformats.org/drawingml/2006/main" w="0">
            <a:solidFill>
              <a:srgbClr val="05050A"/>
            </a:solidFill>
            <a:prstDash val="solid"/>
          </a:ln>
        </p:spPr>
      </p:sp>
      <p:sp>
        <p:nvSpPr>
          <p:cNvPr id="2" name="accent.slash.12.1">
            <a:extLst xmlns:a="http://schemas.openxmlformats.org/drawingml/2006/main">
              <a:ext uri="{FF2B5EF4-FFF2-40B4-BE49-F238E27FC236}">
                <a16:creationId xmlns:a16="http://schemas.microsoft.com/office/drawing/2014/main" id="{2DAEA351-96E0-4946-9891-12588555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6954500" y="-1714500"/>
            <a:ext cx="8572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3" name="accent.slash.12.2">
            <a:extLst xmlns:a="http://schemas.openxmlformats.org/drawingml/2006/main">
              <a:ext uri="{FF2B5EF4-FFF2-40B4-BE49-F238E27FC236}">
                <a16:creationId xmlns:a16="http://schemas.microsoft.com/office/drawing/2014/main" id="{EF54C46A-AE7C-4098-9083-AF0831D1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8021300" y="-1714500"/>
            <a:ext cx="2857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" name="accent.floor.12">
            <a:extLst xmlns:a="http://schemas.openxmlformats.org/drawingml/2006/main">
              <a:ext uri="{FF2B5EF4-FFF2-40B4-BE49-F238E27FC236}">
                <a16:creationId xmlns:a16="http://schemas.microsoft.com/office/drawing/2014/main" id="{5351055B-B457-4CCA-BAB0-BC6713A2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0"/>
            <a:ext cx="1828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</p:sp>
      <p:sp>
        <p:nvSpPr>
          <p:cNvPr id="5" name="accent.floor.line.12">
            <a:extLst xmlns:a="http://schemas.openxmlformats.org/drawingml/2006/main">
              <a:ext uri="{FF2B5EF4-FFF2-40B4-BE49-F238E27FC236}">
                <a16:creationId xmlns:a16="http://schemas.microsoft.com/office/drawing/2014/main" id="{FFF2A719-A097-416C-A8EF-EE3F090A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6" name="footer.section.12">
            <a:extLst xmlns:a="http://schemas.openxmlformats.org/drawingml/2006/main">
              <a:ext uri="{FF2B5EF4-FFF2-40B4-BE49-F238E27FC236}">
                <a16:creationId xmlns:a16="http://schemas.microsoft.com/office/drawing/2014/main" id="{B88D81F5-A651-4955-BB11-4ED1CCA3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</a:defRPr>
            </a:pPr>
            <a:r>
              <a:t>SYSTEM ARCHITECTURE</a:t>
            </a:r>
          </a:p>
        </p:txBody>
      </p:sp>
      <p:sp>
        <p:nvSpPr>
          <p:cNvPr id="7" name="footer.page.12">
            <a:extLst xmlns:a="http://schemas.openxmlformats.org/drawingml/2006/main">
              <a:ext uri="{FF2B5EF4-FFF2-40B4-BE49-F238E27FC236}">
                <a16:creationId xmlns:a16="http://schemas.microsoft.com/office/drawing/2014/main" id="{6EE0EC27-AF80-4408-AF87-CA32E138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6202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E5FF"/>
                </a:solidFill>
              </a:defRPr>
            </a:pPr>
            <a:r>
              <a:t>12</a:t>
            </a:r>
          </a:p>
        </p:txBody>
      </p:sp>
      <p:sp>
        <p:nvSpPr>
          <p:cNvPr id="8" name="label.SYSTEM ARCHITECTURE">
            <a:extLst xmlns:a="http://schemas.openxmlformats.org/drawingml/2006/main">
              <a:ext uri="{FF2B5EF4-FFF2-40B4-BE49-F238E27FC236}">
                <a16:creationId xmlns:a16="http://schemas.microsoft.com/office/drawing/2014/main" id="{58B2F281-2429-4618-AE0A-77B13AC5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34956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107A"/>
                </a:solidFill>
              </a:defRPr>
            </a:pPr>
            <a:r>
              <a:t>SYSTEM ARCHITECTURE</a:t>
            </a:r>
          </a:p>
        </p:txBody>
      </p:sp>
      <p:sp>
        <p:nvSpPr>
          <p:cNvPr id="9" name="slide-title.12">
            <a:extLst xmlns:a="http://schemas.openxmlformats.org/drawingml/2006/main">
              <a:ext uri="{FF2B5EF4-FFF2-40B4-BE49-F238E27FC236}">
                <a16:creationId xmlns:a16="http://schemas.microsoft.com/office/drawing/2014/main" id="{8091F798-D629-41B2-B98A-0908B81B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90625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t>React UI, Express APIs, real-time services, and data storage</a:t>
            </a:r>
          </a:p>
        </p:txBody>
      </p:sp>
      <p:sp>
        <p:nvSpPr>
          <p:cNvPr id="10" name="slide-subtitle.12">
            <a:extLst xmlns:a="http://schemas.openxmlformats.org/drawingml/2006/main">
              <a:ext uri="{FF2B5EF4-FFF2-40B4-BE49-F238E27FC236}">
                <a16:creationId xmlns:a16="http://schemas.microsoft.com/office/drawing/2014/main" id="{A1E375F5-177B-4624-B63F-CB1AF06C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104900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A1AA"/>
                </a:solidFill>
              </a:defRPr>
            </a:pPr>
            <a:r>
              <a:t>The stack separates user experience, application logic, live signaling, streaming, AI, and persistence.</a:t>
            </a:r>
          </a:p>
        </p:txBody>
      </p:sp>
      <p:sp>
        <p:nvSpPr>
          <p:cNvPr id="11" name="arch.frontend.node">
            <a:extLst xmlns:a="http://schemas.openxmlformats.org/drawingml/2006/main">
              <a:ext uri="{FF2B5EF4-FFF2-40B4-BE49-F238E27FC236}">
                <a16:creationId xmlns:a16="http://schemas.microsoft.com/office/drawing/2014/main" id="{7FAF4CD4-4AB4-47BC-B68B-0029AC42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4095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12" name="arch.frontend.accent">
            <a:extLst xmlns:a="http://schemas.openxmlformats.org/drawingml/2006/main">
              <a:ext uri="{FF2B5EF4-FFF2-40B4-BE49-F238E27FC236}">
                <a16:creationId xmlns:a16="http://schemas.microsoft.com/office/drawing/2014/main" id="{1AB87DA5-B71C-4EC5-8053-9D690AF3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13" name="arch.frontend.label">
            <a:extLst xmlns:a="http://schemas.openxmlformats.org/drawingml/2006/main">
              <a:ext uri="{FF2B5EF4-FFF2-40B4-BE49-F238E27FC236}">
                <a16:creationId xmlns:a16="http://schemas.microsoft.com/office/drawing/2014/main" id="{8830DB8A-BFC7-404A-9A31-2D100B91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React + Vite frontend</a:t>
            </a:r>
          </a:p>
        </p:txBody>
      </p:sp>
      <p:sp>
        <p:nvSpPr>
          <p:cNvPr id="14" name="arch.frontend.sub">
            <a:extLst xmlns:a="http://schemas.openxmlformats.org/drawingml/2006/main">
              <a:ext uri="{FF2B5EF4-FFF2-40B4-BE49-F238E27FC236}">
                <a16:creationId xmlns:a16="http://schemas.microsoft.com/office/drawing/2014/main" id="{8A84D7E2-2EEE-4BEA-969C-17BDF14F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3600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Routes: Dashboard, Match Detail, Create Team, Live, Watch Party, Leaderboard, Admin, Auth</a:t>
            </a:r>
          </a:p>
        </p:txBody>
      </p:sp>
      <p:sp>
        <p:nvSpPr>
          <p:cNvPr id="15" name="arch.api.node">
            <a:extLst xmlns:a="http://schemas.openxmlformats.org/drawingml/2006/main">
              <a:ext uri="{FF2B5EF4-FFF2-40B4-BE49-F238E27FC236}">
                <a16:creationId xmlns:a16="http://schemas.microsoft.com/office/drawing/2014/main" id="{96D96A92-4C0A-44D6-8E54-C951171B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14750"/>
            <a:ext cx="4095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</p:sp>
      <p:sp>
        <p:nvSpPr>
          <p:cNvPr id="16" name="arch.api.accent">
            <a:extLst xmlns:a="http://schemas.openxmlformats.org/drawingml/2006/main">
              <a:ext uri="{FF2B5EF4-FFF2-40B4-BE49-F238E27FC236}">
                <a16:creationId xmlns:a16="http://schemas.microsoft.com/office/drawing/2014/main" id="{FAF8E269-F1A5-4E8C-903E-620CFD75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14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17" name="arch.api.label">
            <a:extLst xmlns:a="http://schemas.openxmlformats.org/drawingml/2006/main">
              <a:ext uri="{FF2B5EF4-FFF2-40B4-BE49-F238E27FC236}">
                <a16:creationId xmlns:a16="http://schemas.microsoft.com/office/drawing/2014/main" id="{17240C73-4754-4EAB-A0FD-B38E7E5D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24300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Express backend</a:t>
            </a:r>
          </a:p>
        </p:txBody>
      </p:sp>
      <p:sp>
        <p:nvSpPr>
          <p:cNvPr id="18" name="arch.api.sub">
            <a:extLst xmlns:a="http://schemas.openxmlformats.org/drawingml/2006/main">
              <a:ext uri="{FF2B5EF4-FFF2-40B4-BE49-F238E27FC236}">
                <a16:creationId xmlns:a16="http://schemas.microsoft.com/office/drawing/2014/main" id="{C8050D79-0FE1-49FF-984E-21A3A332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43400"/>
            <a:ext cx="3600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REST APIs, JWT auth, contest joins, team creation, scoring logs</a:t>
            </a:r>
          </a:p>
        </p:txBody>
      </p:sp>
      <p:sp>
        <p:nvSpPr>
          <p:cNvPr id="19" name="arch.db.node">
            <a:extLst xmlns:a="http://schemas.openxmlformats.org/drawingml/2006/main">
              <a:ext uri="{FF2B5EF4-FFF2-40B4-BE49-F238E27FC236}">
                <a16:creationId xmlns:a16="http://schemas.microsoft.com/office/drawing/2014/main" id="{D3455930-27D0-48FB-907F-DEBD279E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3714750"/>
            <a:ext cx="3714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FFD700"/>
            </a:solidFill>
            <a:prstDash val="solid"/>
          </a:ln>
        </p:spPr>
      </p:sp>
      <p:sp>
        <p:nvSpPr>
          <p:cNvPr id="20" name="arch.db.accent">
            <a:extLst xmlns:a="http://schemas.openxmlformats.org/drawingml/2006/main">
              <a:ext uri="{FF2B5EF4-FFF2-40B4-BE49-F238E27FC236}">
                <a16:creationId xmlns:a16="http://schemas.microsoft.com/office/drawing/2014/main" id="{D88E4EC4-3444-4847-B56A-3BC0AAA4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3714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  <a:ln xmlns:a="http://schemas.openxmlformats.org/drawingml/2006/main" w="0">
            <a:solidFill>
              <a:srgbClr val="FFD700"/>
            </a:solidFill>
            <a:prstDash val="solid"/>
          </a:ln>
        </p:spPr>
      </p:sp>
      <p:sp>
        <p:nvSpPr>
          <p:cNvPr id="21" name="arch.db.label">
            <a:extLst xmlns:a="http://schemas.openxmlformats.org/drawingml/2006/main">
              <a:ext uri="{FF2B5EF4-FFF2-40B4-BE49-F238E27FC236}">
                <a16:creationId xmlns:a16="http://schemas.microsoft.com/office/drawing/2014/main" id="{3A168F3A-4245-44FC-B5D2-08F7C5FC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3924300"/>
            <a:ext cx="3257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Prisma + SQLite</a:t>
            </a:r>
          </a:p>
        </p:txBody>
      </p:sp>
      <p:sp>
        <p:nvSpPr>
          <p:cNvPr id="22" name="arch.db.sub">
            <a:extLst xmlns:a="http://schemas.openxmlformats.org/drawingml/2006/main">
              <a:ext uri="{FF2B5EF4-FFF2-40B4-BE49-F238E27FC236}">
                <a16:creationId xmlns:a16="http://schemas.microsoft.com/office/drawing/2014/main" id="{34C9A585-A4CB-4D0E-885B-2F051EA8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4343400"/>
            <a:ext cx="3219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Users, players, matches, contests, teams, entries, logs</a:t>
            </a:r>
          </a:p>
        </p:txBody>
      </p:sp>
      <p:sp>
        <p:nvSpPr>
          <p:cNvPr id="23" name="arch.arrow.1">
            <a:extLst xmlns:a="http://schemas.openxmlformats.org/drawingml/2006/main">
              <a:ext uri="{FF2B5EF4-FFF2-40B4-BE49-F238E27FC236}">
                <a16:creationId xmlns:a16="http://schemas.microsoft.com/office/drawing/2014/main" id="{AD867B5B-2661-4BD5-A574-23F0C32C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05300"/>
            <a:ext cx="1219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24" name="arch.arrow.2">
            <a:extLst xmlns:a="http://schemas.openxmlformats.org/drawingml/2006/main">
              <a:ext uri="{FF2B5EF4-FFF2-40B4-BE49-F238E27FC236}">
                <a16:creationId xmlns:a16="http://schemas.microsoft.com/office/drawing/2014/main" id="{7215C787-7378-437B-9B7D-27229D11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305300"/>
            <a:ext cx="1219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25" name="arch.socket.node">
            <a:extLst xmlns:a="http://schemas.openxmlformats.org/drawingml/2006/main">
              <a:ext uri="{FF2B5EF4-FFF2-40B4-BE49-F238E27FC236}">
                <a16:creationId xmlns:a16="http://schemas.microsoft.com/office/drawing/2014/main" id="{F542F30C-986E-49F0-B951-8B5C54CA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6496050"/>
            <a:ext cx="3429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00FF87"/>
            </a:solidFill>
            <a:prstDash val="solid"/>
          </a:ln>
        </p:spPr>
      </p:sp>
      <p:sp>
        <p:nvSpPr>
          <p:cNvPr id="26" name="arch.socket.accent">
            <a:extLst xmlns:a="http://schemas.openxmlformats.org/drawingml/2006/main">
              <a:ext uri="{FF2B5EF4-FFF2-40B4-BE49-F238E27FC236}">
                <a16:creationId xmlns:a16="http://schemas.microsoft.com/office/drawing/2014/main" id="{8B0B60D6-62FE-4D3F-A3EC-9C85C646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64960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7"/>
          </a:solidFill>
          <a:ln xmlns:a="http://schemas.openxmlformats.org/drawingml/2006/main" w="0">
            <a:solidFill>
              <a:srgbClr val="00FF87"/>
            </a:solidFill>
            <a:prstDash val="solid"/>
          </a:ln>
        </p:spPr>
      </p:sp>
      <p:sp>
        <p:nvSpPr>
          <p:cNvPr id="27" name="arch.socket.label">
            <a:extLst xmlns:a="http://schemas.openxmlformats.org/drawingml/2006/main">
              <a:ext uri="{FF2B5EF4-FFF2-40B4-BE49-F238E27FC236}">
                <a16:creationId xmlns:a16="http://schemas.microsoft.com/office/drawing/2014/main" id="{DFD2DC0E-3A12-455E-A48C-9804343C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705600"/>
            <a:ext cx="2971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Socket.IO</a:t>
            </a:r>
          </a:p>
        </p:txBody>
      </p:sp>
      <p:sp>
        <p:nvSpPr>
          <p:cNvPr id="28" name="arch.socket.sub">
            <a:extLst xmlns:a="http://schemas.openxmlformats.org/drawingml/2006/main">
              <a:ext uri="{FF2B5EF4-FFF2-40B4-BE49-F238E27FC236}">
                <a16:creationId xmlns:a16="http://schemas.microsoft.com/office/drawing/2014/main" id="{2E03CE8B-0FA8-4F5C-9C8E-BD1A1911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7124700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WebRTC signaling and watch party presence</a:t>
            </a:r>
          </a:p>
        </p:txBody>
      </p:sp>
      <p:sp>
        <p:nvSpPr>
          <p:cNvPr id="29" name="arch.media.node">
            <a:extLst xmlns:a="http://schemas.openxmlformats.org/drawingml/2006/main">
              <a:ext uri="{FF2B5EF4-FFF2-40B4-BE49-F238E27FC236}">
                <a16:creationId xmlns:a16="http://schemas.microsoft.com/office/drawing/2014/main" id="{661BE483-64D9-44D1-9A2A-D1BBB63F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3429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E50914"/>
            </a:solidFill>
            <a:prstDash val="solid"/>
          </a:ln>
        </p:spPr>
      </p:sp>
      <p:sp>
        <p:nvSpPr>
          <p:cNvPr id="30" name="arch.media.accent">
            <a:extLst xmlns:a="http://schemas.openxmlformats.org/drawingml/2006/main">
              <a:ext uri="{FF2B5EF4-FFF2-40B4-BE49-F238E27FC236}">
                <a16:creationId xmlns:a16="http://schemas.microsoft.com/office/drawing/2014/main" id="{45252561-1986-489A-ACCD-F4F44451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31" name="arch.media.label">
            <a:extLst xmlns:a="http://schemas.openxmlformats.org/drawingml/2006/main">
              <a:ext uri="{FF2B5EF4-FFF2-40B4-BE49-F238E27FC236}">
                <a16:creationId xmlns:a16="http://schemas.microsoft.com/office/drawing/2014/main" id="{7702E71E-C94B-4164-B74D-2F7B6170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705600"/>
            <a:ext cx="2971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Node Media Server</a:t>
            </a:r>
          </a:p>
        </p:txBody>
      </p:sp>
      <p:sp>
        <p:nvSpPr>
          <p:cNvPr id="32" name="arch.media.sub">
            <a:extLst xmlns:a="http://schemas.openxmlformats.org/drawingml/2006/main">
              <a:ext uri="{FF2B5EF4-FFF2-40B4-BE49-F238E27FC236}">
                <a16:creationId xmlns:a16="http://schemas.microsoft.com/office/drawing/2014/main" id="{9DA8838B-10F9-4CB7-98D0-76655862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7124700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RTMP ingest and HTTP-FLV playback</a:t>
            </a:r>
          </a:p>
        </p:txBody>
      </p:sp>
      <p:sp>
        <p:nvSpPr>
          <p:cNvPr id="33" name="arch.ai.node">
            <a:extLst xmlns:a="http://schemas.openxmlformats.org/drawingml/2006/main">
              <a:ext uri="{FF2B5EF4-FFF2-40B4-BE49-F238E27FC236}">
                <a16:creationId xmlns:a16="http://schemas.microsoft.com/office/drawing/2014/main" id="{45E44781-AF37-4134-B320-0873277F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6496050"/>
            <a:ext cx="3429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A855F7"/>
            </a:solidFill>
            <a:prstDash val="solid"/>
          </a:ln>
        </p:spPr>
      </p:sp>
      <p:sp>
        <p:nvSpPr>
          <p:cNvPr id="34" name="arch.ai.accent">
            <a:extLst xmlns:a="http://schemas.openxmlformats.org/drawingml/2006/main">
              <a:ext uri="{FF2B5EF4-FFF2-40B4-BE49-F238E27FC236}">
                <a16:creationId xmlns:a16="http://schemas.microsoft.com/office/drawing/2014/main" id="{BA7C9FC5-9074-446C-AF58-BA4819C7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64960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  <a:prstDash val="solid"/>
          </a:ln>
        </p:spPr>
      </p:sp>
      <p:sp>
        <p:nvSpPr>
          <p:cNvPr id="35" name="arch.ai.label">
            <a:extLst xmlns:a="http://schemas.openxmlformats.org/drawingml/2006/main">
              <a:ext uri="{FF2B5EF4-FFF2-40B4-BE49-F238E27FC236}">
                <a16:creationId xmlns:a16="http://schemas.microsoft.com/office/drawing/2014/main" id="{11306FA7-B6CF-4E61-9912-3B55056E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705600"/>
            <a:ext cx="2971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Gemini integration</a:t>
            </a:r>
          </a:p>
        </p:txBody>
      </p:sp>
      <p:sp>
        <p:nvSpPr>
          <p:cNvPr id="36" name="arch.ai.sub">
            <a:extLst xmlns:a="http://schemas.openxmlformats.org/drawingml/2006/main">
              <a:ext uri="{FF2B5EF4-FFF2-40B4-BE49-F238E27FC236}">
                <a16:creationId xmlns:a16="http://schemas.microsoft.com/office/drawing/2014/main" id="{6802C61B-674D-48A8-B4A4-7501FCD2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7124700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AI coach responses through /api/chat</a:t>
            </a:r>
          </a:p>
        </p:txBody>
      </p:sp>
      <p:sp>
        <p:nvSpPr>
          <p:cNvPr id="37" name="arch.caption">
            <a:extLst xmlns:a="http://schemas.openxmlformats.org/drawingml/2006/main">
              <a:ext uri="{FF2B5EF4-FFF2-40B4-BE49-F238E27FC236}">
                <a16:creationId xmlns:a16="http://schemas.microsoft.com/office/drawing/2014/main" id="{D35F5E2C-6590-4759-BF89-2011CFDC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115300"/>
            <a:ext cx="1238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1A1AA"/>
                </a:solidFill>
              </a:defRPr>
            </a:pPr>
            <a:r>
              <a:t>Production build serves the React app from the backend, with API and live services sharing the same Node server.</a:t>
            </a:r>
          </a:p>
        </p:txBody>
      </p:sp>
    </p:spTree>
    <p:extLst>
      <p:ext uri="{BB962C8B-B14F-4D97-AF65-F5344CB8AC3E}">
        <p14:creationId xmlns:p14="http://schemas.microsoft.com/office/powerpoint/2010/main" val="115590866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.13">
            <a:extLst xmlns:a="http://schemas.openxmlformats.org/drawingml/2006/main">
              <a:ext uri="{FF2B5EF4-FFF2-40B4-BE49-F238E27FC236}">
                <a16:creationId xmlns:a16="http://schemas.microsoft.com/office/drawing/2014/main" id="{01D8BF8E-892F-476D-91D2-162ABECA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50A"/>
              </a:gs>
              <a:gs pos="54000">
                <a:srgbClr val="101027"/>
              </a:gs>
              <a:gs pos="100000">
                <a:srgbClr val="1A1026"/>
              </a:gs>
            </a:gsLst>
            <a:lin ang="1500000"/>
          </a:gradFill>
          <a:ln xmlns:a="http://schemas.openxmlformats.org/drawingml/2006/main" w="0">
            <a:solidFill>
              <a:srgbClr val="05050A"/>
            </a:solidFill>
            <a:prstDash val="solid"/>
          </a:ln>
        </p:spPr>
      </p:sp>
      <p:sp>
        <p:nvSpPr>
          <p:cNvPr id="2" name="accent.slash.13.1">
            <a:extLst xmlns:a="http://schemas.openxmlformats.org/drawingml/2006/main">
              <a:ext uri="{FF2B5EF4-FFF2-40B4-BE49-F238E27FC236}">
                <a16:creationId xmlns:a16="http://schemas.microsoft.com/office/drawing/2014/main" id="{089B1A01-F964-43B0-8707-A64A066B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6954500" y="-1714500"/>
            <a:ext cx="8572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3" name="accent.slash.13.2">
            <a:extLst xmlns:a="http://schemas.openxmlformats.org/drawingml/2006/main">
              <a:ext uri="{FF2B5EF4-FFF2-40B4-BE49-F238E27FC236}">
                <a16:creationId xmlns:a16="http://schemas.microsoft.com/office/drawing/2014/main" id="{86F48FF2-4556-40A0-BC9F-B21DBBB1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8021300" y="-1714500"/>
            <a:ext cx="2857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" name="accent.floor.13">
            <a:extLst xmlns:a="http://schemas.openxmlformats.org/drawingml/2006/main">
              <a:ext uri="{FF2B5EF4-FFF2-40B4-BE49-F238E27FC236}">
                <a16:creationId xmlns:a16="http://schemas.microsoft.com/office/drawing/2014/main" id="{1FC8381F-E935-4BDE-87BE-E9DDFEF7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0"/>
            <a:ext cx="1828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</p:sp>
      <p:sp>
        <p:nvSpPr>
          <p:cNvPr id="5" name="accent.floor.line.13">
            <a:extLst xmlns:a="http://schemas.openxmlformats.org/drawingml/2006/main">
              <a:ext uri="{FF2B5EF4-FFF2-40B4-BE49-F238E27FC236}">
                <a16:creationId xmlns:a16="http://schemas.microsoft.com/office/drawing/2014/main" id="{54521D19-4405-4EE7-A3FC-5B363389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6" name="footer.section.13">
            <a:extLst xmlns:a="http://schemas.openxmlformats.org/drawingml/2006/main">
              <a:ext uri="{FF2B5EF4-FFF2-40B4-BE49-F238E27FC236}">
                <a16:creationId xmlns:a16="http://schemas.microsoft.com/office/drawing/2014/main" id="{6D200025-006B-48CC-B395-23CB0773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</a:defRPr>
            </a:pPr>
            <a:r>
              <a:t>DATABASE MODEL</a:t>
            </a:r>
          </a:p>
        </p:txBody>
      </p:sp>
      <p:sp>
        <p:nvSpPr>
          <p:cNvPr id="7" name="footer.page.13">
            <a:extLst xmlns:a="http://schemas.openxmlformats.org/drawingml/2006/main">
              <a:ext uri="{FF2B5EF4-FFF2-40B4-BE49-F238E27FC236}">
                <a16:creationId xmlns:a16="http://schemas.microsoft.com/office/drawing/2014/main" id="{2742A541-3164-461E-9888-960010D0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6202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E5FF"/>
                </a:solidFill>
              </a:defRPr>
            </a:pPr>
            <a:r>
              <a:t>13</a:t>
            </a:r>
          </a:p>
        </p:txBody>
      </p:sp>
      <p:sp>
        <p:nvSpPr>
          <p:cNvPr id="8" name="label.DATABASE MODEL">
            <a:extLst xmlns:a="http://schemas.openxmlformats.org/drawingml/2006/main">
              <a:ext uri="{FF2B5EF4-FFF2-40B4-BE49-F238E27FC236}">
                <a16:creationId xmlns:a16="http://schemas.microsoft.com/office/drawing/2014/main" id="{F11F50BF-C220-4C2C-AAC6-F94F238C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686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107A"/>
                </a:solidFill>
              </a:defRPr>
            </a:pPr>
            <a:r>
              <a:t>DATABASE MODEL</a:t>
            </a:r>
          </a:p>
        </p:txBody>
      </p:sp>
      <p:sp>
        <p:nvSpPr>
          <p:cNvPr id="9" name="slide-title.13">
            <a:extLst xmlns:a="http://schemas.openxmlformats.org/drawingml/2006/main">
              <a:ext uri="{FF2B5EF4-FFF2-40B4-BE49-F238E27FC236}">
                <a16:creationId xmlns:a16="http://schemas.microsoft.com/office/drawing/2014/main" id="{924A6AFD-2A81-4552-A07C-8866DAC5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90625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t>The schema supports fantasy play around matches and contests</a:t>
            </a:r>
          </a:p>
        </p:txBody>
      </p:sp>
      <p:sp>
        <p:nvSpPr>
          <p:cNvPr id="10" name="slide-subtitle.13">
            <a:extLst xmlns:a="http://schemas.openxmlformats.org/drawingml/2006/main">
              <a:ext uri="{FF2B5EF4-FFF2-40B4-BE49-F238E27FC236}">
                <a16:creationId xmlns:a16="http://schemas.microsoft.com/office/drawing/2014/main" id="{E92066B7-62B6-402F-816D-811634A7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104900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A1AA"/>
                </a:solidFill>
              </a:defRPr>
            </a:pPr>
            <a:r>
              <a:t>Prisma models connect users, players, teams, contests, entries, and performance logs.</a:t>
            </a:r>
          </a:p>
        </p:txBody>
      </p:sp>
      <p:sp>
        <p:nvSpPr>
          <p:cNvPr id="11" name="db.entity.0.node">
            <a:extLst xmlns:a="http://schemas.openxmlformats.org/drawingml/2006/main">
              <a:ext uri="{FF2B5EF4-FFF2-40B4-BE49-F238E27FC236}">
                <a16:creationId xmlns:a16="http://schemas.microsoft.com/office/drawing/2014/main" id="{BC030EE0-9CA8-4BD6-9876-4F93C1CA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2667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12" name="db.entity.0.accent">
            <a:extLst xmlns:a="http://schemas.openxmlformats.org/drawingml/2006/main">
              <a:ext uri="{FF2B5EF4-FFF2-40B4-BE49-F238E27FC236}">
                <a16:creationId xmlns:a16="http://schemas.microsoft.com/office/drawing/2014/main" id="{7B25F743-075A-40E7-83CF-B4147F26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13" name="db.entity.0.label">
            <a:extLst xmlns:a="http://schemas.openxmlformats.org/drawingml/2006/main">
              <a:ext uri="{FF2B5EF4-FFF2-40B4-BE49-F238E27FC236}">
                <a16:creationId xmlns:a16="http://schemas.microsoft.com/office/drawing/2014/main" id="{28FF6D3F-A6F0-44CF-93D1-F939AB53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24300"/>
            <a:ext cx="2209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14" name="db.entity.0.sub">
            <a:extLst xmlns:a="http://schemas.openxmlformats.org/drawingml/2006/main">
              <a:ext uri="{FF2B5EF4-FFF2-40B4-BE49-F238E27FC236}">
                <a16:creationId xmlns:a16="http://schemas.microsoft.com/office/drawing/2014/main" id="{2CD32EE4-22E0-46E6-B922-A01A768F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2171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wallet, rank,</a:t>
            </a:r>
          </a:p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totalPoints</a:t>
            </a:r>
          </a:p>
        </p:txBody>
      </p:sp>
      <p:sp>
        <p:nvSpPr>
          <p:cNvPr id="15" name="db.entity.1.node">
            <a:extLst xmlns:a="http://schemas.openxmlformats.org/drawingml/2006/main">
              <a:ext uri="{FF2B5EF4-FFF2-40B4-BE49-F238E27FC236}">
                <a16:creationId xmlns:a16="http://schemas.microsoft.com/office/drawing/2014/main" id="{83E3CF2A-7465-44C4-AAD6-13AE8224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2667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</p:sp>
      <p:sp>
        <p:nvSpPr>
          <p:cNvPr id="16" name="db.entity.1.accent">
            <a:extLst xmlns:a="http://schemas.openxmlformats.org/drawingml/2006/main">
              <a:ext uri="{FF2B5EF4-FFF2-40B4-BE49-F238E27FC236}">
                <a16:creationId xmlns:a16="http://schemas.microsoft.com/office/drawing/2014/main" id="{7FED5E69-0974-4E0D-A289-1F371237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17" name="db.entity.1.label">
            <a:extLst xmlns:a="http://schemas.openxmlformats.org/drawingml/2006/main">
              <a:ext uri="{FF2B5EF4-FFF2-40B4-BE49-F238E27FC236}">
                <a16:creationId xmlns:a16="http://schemas.microsoft.com/office/drawing/2014/main" id="{138C3222-E2F3-403C-98D5-0D99BC8E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924300"/>
            <a:ext cx="2209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FantasyTeam</a:t>
            </a:r>
          </a:p>
        </p:txBody>
      </p:sp>
      <p:sp>
        <p:nvSpPr>
          <p:cNvPr id="18" name="db.entity.1.sub">
            <a:extLst xmlns:a="http://schemas.openxmlformats.org/drawingml/2006/main">
              <a:ext uri="{FF2B5EF4-FFF2-40B4-BE49-F238E27FC236}">
                <a16:creationId xmlns:a16="http://schemas.microsoft.com/office/drawing/2014/main" id="{0F787C9B-0372-47F9-8EED-841A3CAD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343400"/>
            <a:ext cx="2171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theme, budget,</a:t>
            </a:r>
          </a:p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captain, VC</a:t>
            </a:r>
          </a:p>
        </p:txBody>
      </p:sp>
      <p:sp>
        <p:nvSpPr>
          <p:cNvPr id="19" name="db.entity.2.node">
            <a:extLst xmlns:a="http://schemas.openxmlformats.org/drawingml/2006/main">
              <a:ext uri="{FF2B5EF4-FFF2-40B4-BE49-F238E27FC236}">
                <a16:creationId xmlns:a16="http://schemas.microsoft.com/office/drawing/2014/main" id="{BD8D61AA-EA70-4270-AAF4-B15D25D5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381750"/>
            <a:ext cx="2667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FFD700"/>
            </a:solidFill>
            <a:prstDash val="solid"/>
          </a:ln>
        </p:spPr>
      </p:sp>
      <p:sp>
        <p:nvSpPr>
          <p:cNvPr id="20" name="db.entity.2.accent">
            <a:extLst xmlns:a="http://schemas.openxmlformats.org/drawingml/2006/main">
              <a:ext uri="{FF2B5EF4-FFF2-40B4-BE49-F238E27FC236}">
                <a16:creationId xmlns:a16="http://schemas.microsoft.com/office/drawing/2014/main" id="{72B39AF6-7ED8-4F41-909C-DBFFBC4F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381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  <a:ln xmlns:a="http://schemas.openxmlformats.org/drawingml/2006/main" w="0">
            <a:solidFill>
              <a:srgbClr val="FFD700"/>
            </a:solidFill>
            <a:prstDash val="solid"/>
          </a:ln>
        </p:spPr>
      </p:sp>
      <p:sp>
        <p:nvSpPr>
          <p:cNvPr id="21" name="db.entity.2.label">
            <a:extLst xmlns:a="http://schemas.openxmlformats.org/drawingml/2006/main">
              <a:ext uri="{FF2B5EF4-FFF2-40B4-BE49-F238E27FC236}">
                <a16:creationId xmlns:a16="http://schemas.microsoft.com/office/drawing/2014/main" id="{56CE925F-169F-4F9E-A8F5-1CBC9CE4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6591300"/>
            <a:ext cx="2209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Player</a:t>
            </a:r>
          </a:p>
        </p:txBody>
      </p:sp>
      <p:sp>
        <p:nvSpPr>
          <p:cNvPr id="22" name="db.entity.2.sub">
            <a:extLst xmlns:a="http://schemas.openxmlformats.org/drawingml/2006/main">
              <a:ext uri="{FF2B5EF4-FFF2-40B4-BE49-F238E27FC236}">
                <a16:creationId xmlns:a16="http://schemas.microsoft.com/office/drawing/2014/main" id="{A53EF440-9C07-466F-B40B-FCF99914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7010400"/>
            <a:ext cx="2171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role, credits,</a:t>
            </a:r>
          </a:p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points, team</a:t>
            </a:r>
          </a:p>
        </p:txBody>
      </p:sp>
      <p:sp>
        <p:nvSpPr>
          <p:cNvPr id="23" name="db.entity.3.node">
            <a:extLst xmlns:a="http://schemas.openxmlformats.org/drawingml/2006/main">
              <a:ext uri="{FF2B5EF4-FFF2-40B4-BE49-F238E27FC236}">
                <a16:creationId xmlns:a16="http://schemas.microsoft.com/office/drawing/2014/main" id="{32E5B236-8C5E-444C-9FAF-48DDB022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2667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00FF87"/>
            </a:solidFill>
            <a:prstDash val="solid"/>
          </a:ln>
        </p:spPr>
      </p:sp>
      <p:sp>
        <p:nvSpPr>
          <p:cNvPr id="24" name="db.entity.3.accent">
            <a:extLst xmlns:a="http://schemas.openxmlformats.org/drawingml/2006/main">
              <a:ext uri="{FF2B5EF4-FFF2-40B4-BE49-F238E27FC236}">
                <a16:creationId xmlns:a16="http://schemas.microsoft.com/office/drawing/2014/main" id="{CC4EC9E1-326A-4012-9EE6-ABEB62F2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7"/>
          </a:solidFill>
          <a:ln xmlns:a="http://schemas.openxmlformats.org/drawingml/2006/main" w="0">
            <a:solidFill>
              <a:srgbClr val="00FF87"/>
            </a:solidFill>
            <a:prstDash val="solid"/>
          </a:ln>
        </p:spPr>
      </p:sp>
      <p:sp>
        <p:nvSpPr>
          <p:cNvPr id="25" name="db.entity.3.label">
            <a:extLst xmlns:a="http://schemas.openxmlformats.org/drawingml/2006/main">
              <a:ext uri="{FF2B5EF4-FFF2-40B4-BE49-F238E27FC236}">
                <a16:creationId xmlns:a16="http://schemas.microsoft.com/office/drawing/2014/main" id="{F764F701-17DB-4785-AE04-7079555A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24300"/>
            <a:ext cx="2209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Match</a:t>
            </a:r>
          </a:p>
        </p:txBody>
      </p:sp>
      <p:sp>
        <p:nvSpPr>
          <p:cNvPr id="26" name="db.entity.3.sub">
            <a:extLst xmlns:a="http://schemas.openxmlformats.org/drawingml/2006/main">
              <a:ext uri="{FF2B5EF4-FFF2-40B4-BE49-F238E27FC236}">
                <a16:creationId xmlns:a16="http://schemas.microsoft.com/office/drawing/2014/main" id="{877FC71D-103A-479B-A6AB-9CCEBD0D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43400"/>
            <a:ext cx="2171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sport, teams,</a:t>
            </a:r>
          </a:p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status, deadline</a:t>
            </a:r>
          </a:p>
        </p:txBody>
      </p:sp>
      <p:sp>
        <p:nvSpPr>
          <p:cNvPr id="27" name="db.entity.4.node">
            <a:extLst xmlns:a="http://schemas.openxmlformats.org/drawingml/2006/main">
              <a:ext uri="{FF2B5EF4-FFF2-40B4-BE49-F238E27FC236}">
                <a16:creationId xmlns:a16="http://schemas.microsoft.com/office/drawing/2014/main" id="{E60BE39F-FE48-4213-A616-631D1A99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714750"/>
            <a:ext cx="2667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E50914"/>
            </a:solidFill>
            <a:prstDash val="solid"/>
          </a:ln>
        </p:spPr>
      </p:sp>
      <p:sp>
        <p:nvSpPr>
          <p:cNvPr id="28" name="db.entity.4.accent">
            <a:extLst xmlns:a="http://schemas.openxmlformats.org/drawingml/2006/main">
              <a:ext uri="{FF2B5EF4-FFF2-40B4-BE49-F238E27FC236}">
                <a16:creationId xmlns:a16="http://schemas.microsoft.com/office/drawing/2014/main" id="{21974D60-8413-4128-8F86-1FBF2A24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714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29" name="db.entity.4.label">
            <a:extLst xmlns:a="http://schemas.openxmlformats.org/drawingml/2006/main">
              <a:ext uri="{FF2B5EF4-FFF2-40B4-BE49-F238E27FC236}">
                <a16:creationId xmlns:a16="http://schemas.microsoft.com/office/drawing/2014/main" id="{6C447CD9-A776-4B63-97E8-98C48147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924300"/>
            <a:ext cx="2209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Contest</a:t>
            </a:r>
          </a:p>
        </p:txBody>
      </p:sp>
      <p:sp>
        <p:nvSpPr>
          <p:cNvPr id="30" name="db.entity.4.sub">
            <a:extLst xmlns:a="http://schemas.openxmlformats.org/drawingml/2006/main">
              <a:ext uri="{FF2B5EF4-FFF2-40B4-BE49-F238E27FC236}">
                <a16:creationId xmlns:a16="http://schemas.microsoft.com/office/drawing/2014/main" id="{BFB5C2CD-5583-40D5-9E32-A0C5BCE8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343400"/>
            <a:ext cx="2171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entryFee,</a:t>
            </a:r>
          </a:p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spotsLeft, type</a:t>
            </a:r>
          </a:p>
        </p:txBody>
      </p:sp>
      <p:sp>
        <p:nvSpPr>
          <p:cNvPr id="31" name="db.entity.5.node">
            <a:extLst xmlns:a="http://schemas.openxmlformats.org/drawingml/2006/main">
              <a:ext uri="{FF2B5EF4-FFF2-40B4-BE49-F238E27FC236}">
                <a16:creationId xmlns:a16="http://schemas.microsoft.com/office/drawing/2014/main" id="{724DFFC1-27EC-4489-93FA-1025F838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381750"/>
            <a:ext cx="2667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A855F7"/>
            </a:solidFill>
            <a:prstDash val="solid"/>
          </a:ln>
        </p:spPr>
      </p:sp>
      <p:sp>
        <p:nvSpPr>
          <p:cNvPr id="32" name="db.entity.5.accent">
            <a:extLst xmlns:a="http://schemas.openxmlformats.org/drawingml/2006/main">
              <a:ext uri="{FF2B5EF4-FFF2-40B4-BE49-F238E27FC236}">
                <a16:creationId xmlns:a16="http://schemas.microsoft.com/office/drawing/2014/main" id="{75356173-58C1-4E04-9566-8F33A9DA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381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  <a:prstDash val="solid"/>
          </a:ln>
        </p:spPr>
      </p:sp>
      <p:sp>
        <p:nvSpPr>
          <p:cNvPr id="33" name="db.entity.5.label">
            <a:extLst xmlns:a="http://schemas.openxmlformats.org/drawingml/2006/main">
              <a:ext uri="{FF2B5EF4-FFF2-40B4-BE49-F238E27FC236}">
                <a16:creationId xmlns:a16="http://schemas.microsoft.com/office/drawing/2014/main" id="{7662D1EC-B3B5-47EB-AA00-16E30047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591300"/>
            <a:ext cx="2209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ContestEntry</a:t>
            </a:r>
          </a:p>
        </p:txBody>
      </p:sp>
      <p:sp>
        <p:nvSpPr>
          <p:cNvPr id="34" name="db.entity.5.sub">
            <a:extLst xmlns:a="http://schemas.openxmlformats.org/drawingml/2006/main">
              <a:ext uri="{FF2B5EF4-FFF2-40B4-BE49-F238E27FC236}">
                <a16:creationId xmlns:a16="http://schemas.microsoft.com/office/drawing/2014/main" id="{9D901CF1-B331-4C6B-A846-E5AAAE91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010400"/>
            <a:ext cx="2171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rank, points,</a:t>
            </a:r>
          </a:p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teamId, userId</a:t>
            </a:r>
          </a:p>
        </p:txBody>
      </p:sp>
      <p:sp>
        <p:nvSpPr>
          <p:cNvPr id="35" name="db.entity.6.node">
            <a:extLst xmlns:a="http://schemas.openxmlformats.org/drawingml/2006/main">
              <a:ext uri="{FF2B5EF4-FFF2-40B4-BE49-F238E27FC236}">
                <a16:creationId xmlns:a16="http://schemas.microsoft.com/office/drawing/2014/main" id="{EE9B604E-41DB-43EA-96D1-26CA8B29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381750"/>
            <a:ext cx="2667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36" name="db.entity.6.accent">
            <a:extLst xmlns:a="http://schemas.openxmlformats.org/drawingml/2006/main">
              <a:ext uri="{FF2B5EF4-FFF2-40B4-BE49-F238E27FC236}">
                <a16:creationId xmlns:a16="http://schemas.microsoft.com/office/drawing/2014/main" id="{85708480-CC47-4F5B-9FC1-6F43808B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381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7" name="db.entity.6.label">
            <a:extLst xmlns:a="http://schemas.openxmlformats.org/drawingml/2006/main">
              <a:ext uri="{FF2B5EF4-FFF2-40B4-BE49-F238E27FC236}">
                <a16:creationId xmlns:a16="http://schemas.microsoft.com/office/drawing/2014/main" id="{F6F81157-B56C-4585-BBDD-3A4101E8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591300"/>
            <a:ext cx="2209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t>PerformanceLog</a:t>
            </a:r>
          </a:p>
        </p:txBody>
      </p:sp>
      <p:sp>
        <p:nvSpPr>
          <p:cNvPr id="38" name="db.entity.6.sub">
            <a:extLst xmlns:a="http://schemas.openxmlformats.org/drawingml/2006/main">
              <a:ext uri="{FF2B5EF4-FFF2-40B4-BE49-F238E27FC236}">
                <a16:creationId xmlns:a16="http://schemas.microsoft.com/office/drawing/2014/main" id="{48CCD9A3-C6DE-4F14-BBB5-E7F00669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7010400"/>
            <a:ext cx="2171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action,</a:t>
            </a:r>
          </a:p>
          <a:p xmlns:a="http://schemas.openxmlformats.org/drawingml/2006/main">
            <a:pPr algn="l">
              <a:defRPr sz="1425" b="0">
                <a:solidFill>
                  <a:srgbClr val="A1A1AA"/>
                </a:solidFill>
              </a:defRPr>
            </a:pPr>
            <a:r>
              <a:t>pointsAdded</a:t>
            </a:r>
          </a:p>
        </p:txBody>
      </p:sp>
      <p:sp>
        <p:nvSpPr>
          <p:cNvPr id="39" name="db.link.0">
            <a:extLst xmlns:a="http://schemas.openxmlformats.org/drawingml/2006/main">
              <a:ext uri="{FF2B5EF4-FFF2-40B4-BE49-F238E27FC236}">
                <a16:creationId xmlns:a16="http://schemas.microsoft.com/office/drawing/2014/main" id="{24F15C03-F6AC-4F4A-9C39-CDF50EA7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67200"/>
            <a:ext cx="9239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0" name="db.link.1">
            <a:extLst xmlns:a="http://schemas.openxmlformats.org/drawingml/2006/main">
              <a:ext uri="{FF2B5EF4-FFF2-40B4-BE49-F238E27FC236}">
                <a16:creationId xmlns:a16="http://schemas.microsoft.com/office/drawing/2014/main" id="{8C0882D8-36DD-40CB-A23E-867E8D5B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67200"/>
            <a:ext cx="1000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41" name="db.link.2">
            <a:extLst xmlns:a="http://schemas.openxmlformats.org/drawingml/2006/main">
              <a:ext uri="{FF2B5EF4-FFF2-40B4-BE49-F238E27FC236}">
                <a16:creationId xmlns:a16="http://schemas.microsoft.com/office/drawing/2014/main" id="{6AEEDC80-DB43-4D47-BD0D-DCCFE922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672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7"/>
          </a:solidFill>
          <a:ln xmlns:a="http://schemas.openxmlformats.org/drawingml/2006/main" w="0">
            <a:solidFill>
              <a:srgbClr val="00FF87"/>
            </a:solidFill>
            <a:prstDash val="solid"/>
          </a:ln>
        </p:spPr>
      </p:sp>
      <p:sp>
        <p:nvSpPr>
          <p:cNvPr id="42" name="db.link.3">
            <a:extLst xmlns:a="http://schemas.openxmlformats.org/drawingml/2006/main">
              <a:ext uri="{FF2B5EF4-FFF2-40B4-BE49-F238E27FC236}">
                <a16:creationId xmlns:a16="http://schemas.microsoft.com/office/drawing/2014/main" id="{B16680E9-644E-4DB1-ADCC-A4DE568C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972050"/>
            <a:ext cx="381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43" name="db.link.4">
            <a:extLst xmlns:a="http://schemas.openxmlformats.org/drawingml/2006/main">
              <a:ext uri="{FF2B5EF4-FFF2-40B4-BE49-F238E27FC236}">
                <a16:creationId xmlns:a16="http://schemas.microsoft.com/office/drawing/2014/main" id="{2D2EC920-B7ED-480A-B6E0-798425D1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915150"/>
            <a:ext cx="1000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  <a:ln xmlns:a="http://schemas.openxmlformats.org/drawingml/2006/main" w="0">
            <a:solidFill>
              <a:srgbClr val="FFD700"/>
            </a:solidFill>
            <a:prstDash val="solid"/>
          </a:ln>
        </p:spPr>
      </p:sp>
      <p:sp>
        <p:nvSpPr>
          <p:cNvPr id="44" name="db.link.5">
            <a:extLst xmlns:a="http://schemas.openxmlformats.org/drawingml/2006/main">
              <a:ext uri="{FF2B5EF4-FFF2-40B4-BE49-F238E27FC236}">
                <a16:creationId xmlns:a16="http://schemas.microsoft.com/office/drawing/2014/main" id="{5DE1DB56-31F1-4622-A685-29142181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72050"/>
            <a:ext cx="381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7"/>
          </a:solidFill>
          <a:ln xmlns:a="http://schemas.openxmlformats.org/drawingml/2006/main" w="0">
            <a:solidFill>
              <a:srgbClr val="00FF87"/>
            </a:solidFill>
            <a:prstDash val="solid"/>
          </a:ln>
        </p:spPr>
      </p:sp>
      <p:sp>
        <p:nvSpPr>
          <p:cNvPr id="45" name="db.note">
            <a:extLst xmlns:a="http://schemas.openxmlformats.org/drawingml/2006/main">
              <a:ext uri="{FF2B5EF4-FFF2-40B4-BE49-F238E27FC236}">
                <a16:creationId xmlns:a16="http://schemas.microsoft.com/office/drawing/2014/main" id="{07DB9654-D8DF-406E-8FC6-365C35B5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058150"/>
            <a:ext cx="131445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4F5"/>
                </a:solidFill>
              </a:defRPr>
            </a:pPr>
            <a:r>
              <a:t>Key relationship: ContestEntry links the selected FantasyTeam to a Contest and User, enabling rank and points tracking.</a:t>
            </a:r>
          </a:p>
        </p:txBody>
      </p:sp>
    </p:spTree>
    <p:extLst>
      <p:ext uri="{BB962C8B-B14F-4D97-AF65-F5344CB8AC3E}">
        <p14:creationId xmlns:p14="http://schemas.microsoft.com/office/powerpoint/2010/main" val="156050698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.14">
            <a:extLst xmlns:a="http://schemas.openxmlformats.org/drawingml/2006/main">
              <a:ext uri="{FF2B5EF4-FFF2-40B4-BE49-F238E27FC236}">
                <a16:creationId xmlns:a16="http://schemas.microsoft.com/office/drawing/2014/main" id="{FC9F2881-A80E-4EC3-90FC-B4F9AD48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50A"/>
              </a:gs>
              <a:gs pos="54000">
                <a:srgbClr val="101027"/>
              </a:gs>
              <a:gs pos="100000">
                <a:srgbClr val="1A1026"/>
              </a:gs>
            </a:gsLst>
            <a:lin ang="1500000"/>
          </a:gradFill>
          <a:ln xmlns:a="http://schemas.openxmlformats.org/drawingml/2006/main" w="0">
            <a:solidFill>
              <a:srgbClr val="05050A"/>
            </a:solidFill>
            <a:prstDash val="solid"/>
          </a:ln>
        </p:spPr>
      </p:sp>
      <p:sp>
        <p:nvSpPr>
          <p:cNvPr id="2" name="accent.slash.14.1">
            <a:extLst xmlns:a="http://schemas.openxmlformats.org/drawingml/2006/main">
              <a:ext uri="{FF2B5EF4-FFF2-40B4-BE49-F238E27FC236}">
                <a16:creationId xmlns:a16="http://schemas.microsoft.com/office/drawing/2014/main" id="{CB13DF04-0620-4EAB-B028-9273F0B4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6954500" y="-1714500"/>
            <a:ext cx="8572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3" name="accent.slash.14.2">
            <a:extLst xmlns:a="http://schemas.openxmlformats.org/drawingml/2006/main">
              <a:ext uri="{FF2B5EF4-FFF2-40B4-BE49-F238E27FC236}">
                <a16:creationId xmlns:a16="http://schemas.microsoft.com/office/drawing/2014/main" id="{73AC9A5F-F081-4B3A-89FA-93E34230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8021300" y="-1714500"/>
            <a:ext cx="2857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" name="accent.floor.14">
            <a:extLst xmlns:a="http://schemas.openxmlformats.org/drawingml/2006/main">
              <a:ext uri="{FF2B5EF4-FFF2-40B4-BE49-F238E27FC236}">
                <a16:creationId xmlns:a16="http://schemas.microsoft.com/office/drawing/2014/main" id="{845A903D-5D3F-4792-A9F9-E9D811C9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0"/>
            <a:ext cx="1828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</p:sp>
      <p:sp>
        <p:nvSpPr>
          <p:cNvPr id="5" name="accent.floor.line.14">
            <a:extLst xmlns:a="http://schemas.openxmlformats.org/drawingml/2006/main">
              <a:ext uri="{FF2B5EF4-FFF2-40B4-BE49-F238E27FC236}">
                <a16:creationId xmlns:a16="http://schemas.microsoft.com/office/drawing/2014/main" id="{D852932F-1A44-491A-9B63-98ACF0DF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6" name="footer.section.14">
            <a:extLst xmlns:a="http://schemas.openxmlformats.org/drawingml/2006/main">
              <a:ext uri="{FF2B5EF4-FFF2-40B4-BE49-F238E27FC236}">
                <a16:creationId xmlns:a16="http://schemas.microsoft.com/office/drawing/2014/main" id="{46D307F0-39E2-4CD6-B70B-DAF1C8B2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</a:defRPr>
            </a:pPr>
            <a:r>
              <a:t>FANTASY PLAYER POOL</a:t>
            </a:r>
          </a:p>
        </p:txBody>
      </p:sp>
      <p:sp>
        <p:nvSpPr>
          <p:cNvPr id="7" name="footer.page.14">
            <a:extLst xmlns:a="http://schemas.openxmlformats.org/drawingml/2006/main">
              <a:ext uri="{FF2B5EF4-FFF2-40B4-BE49-F238E27FC236}">
                <a16:creationId xmlns:a16="http://schemas.microsoft.com/office/drawing/2014/main" id="{3DA26B04-5F3D-443C-9332-67BB6FAE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6202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E5FF"/>
                </a:solidFill>
              </a:defRPr>
            </a:pPr>
            <a:r>
              <a:t>14</a:t>
            </a:r>
          </a:p>
        </p:txBody>
      </p:sp>
      <p:sp>
        <p:nvSpPr>
          <p:cNvPr id="8" name="label.FANTASY PLAYER POOL">
            <a:extLst xmlns:a="http://schemas.openxmlformats.org/drawingml/2006/main">
              <a:ext uri="{FF2B5EF4-FFF2-40B4-BE49-F238E27FC236}">
                <a16:creationId xmlns:a16="http://schemas.microsoft.com/office/drawing/2014/main" id="{193C8EC3-18BA-4CB7-8323-7FB5B34D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34956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107A"/>
                </a:solidFill>
              </a:defRPr>
            </a:pPr>
            <a:r>
              <a:t>FANTASY PLAYER POOL</a:t>
            </a:r>
          </a:p>
        </p:txBody>
      </p:sp>
      <p:sp>
        <p:nvSpPr>
          <p:cNvPr id="9" name="slide-title.14">
            <a:extLst xmlns:a="http://schemas.openxmlformats.org/drawingml/2006/main">
              <a:ext uri="{FF2B5EF4-FFF2-40B4-BE49-F238E27FC236}">
                <a16:creationId xmlns:a16="http://schemas.microsoft.com/office/drawing/2014/main" id="{826A755D-FF97-497E-95ED-57C6BB30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90625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t>Star power makes fantasy feel alive</a:t>
            </a:r>
          </a:p>
        </p:txBody>
      </p:sp>
      <p:sp>
        <p:nvSpPr>
          <p:cNvPr id="10" name="slide-subtitle.14">
            <a:extLst xmlns:a="http://schemas.openxmlformats.org/drawingml/2006/main">
              <a:ext uri="{FF2B5EF4-FFF2-40B4-BE49-F238E27FC236}">
                <a16:creationId xmlns:a16="http://schemas.microsoft.com/office/drawing/2014/main" id="{25EE8E5E-73D2-46BB-886E-456DBC7B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104900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A1AA"/>
                </a:solidFill>
              </a:defRPr>
            </a:pPr>
            <a:r>
              <a:t>The deck now shows recognizable cricket, football, and F1 athletes as the kind of cross-sport pool this platform can support.</a:t>
            </a:r>
          </a:p>
        </p:txBody>
      </p:sp>
      <p:sp>
        <p:nvSpPr>
          <p:cNvPr id="11" name="pool.rohit.photo.frame">
            <a:extLst xmlns:a="http://schemas.openxmlformats.org/drawingml/2006/main">
              <a:ext uri="{FF2B5EF4-FFF2-40B4-BE49-F238E27FC236}">
                <a16:creationId xmlns:a16="http://schemas.microsoft.com/office/drawing/2014/main" id="{E7339B5F-0F49-46C2-9092-02ED1C63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24955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FFD700"/>
            </a:solidFill>
            <a:prstDash val="solid"/>
          </a:ln>
        </p:spPr>
      </p:sp>
      <p:pic>
        <p:nvPicPr>
          <p:cNvPr id="12" name="pool.rohit.photo.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0062f6b7142d1"/>
          <a:stretch xmlns:a="http://schemas.openxmlformats.org/drawingml/2006/main"/>
        </p:blipFill>
        <p:spPr>
          <a:xfrm xmlns:a="http://schemas.openxmlformats.org/drawingml/2006/main">
            <a:off x="1591517" y="3371850"/>
            <a:ext cx="1293717" cy="1676400"/>
          </a:xfrm>
          <a:prstGeom xmlns:a="http://schemas.openxmlformats.org/drawingml/2006/main" prst="roundRect">
            <a:avLst/>
          </a:prstGeom>
        </p:spPr>
      </p:pic>
      <p:sp>
        <p:nvSpPr>
          <p:cNvPr id="13" name="pool.rohit.caption">
            <a:extLst xmlns:a="http://schemas.openxmlformats.org/drawingml/2006/main">
              <a:ext uri="{FF2B5EF4-FFF2-40B4-BE49-F238E27FC236}">
                <a16:creationId xmlns:a16="http://schemas.microsoft.com/office/drawing/2014/main" id="{1E3FFD8B-8379-4D4A-BFD5-B1A60C7B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FFD700"/>
            </a:solidFill>
            <a:prstDash val="solid"/>
          </a:ln>
        </p:spPr>
      </p:sp>
      <p:sp>
        <p:nvSpPr>
          <p:cNvPr id="14" name="pool.rohit.name">
            <a:extLst xmlns:a="http://schemas.openxmlformats.org/drawingml/2006/main">
              <a:ext uri="{FF2B5EF4-FFF2-40B4-BE49-F238E27FC236}">
                <a16:creationId xmlns:a16="http://schemas.microsoft.com/office/drawing/2014/main" id="{82C0717A-A559-4ABF-A8DE-6DFA08B8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10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t>Rohit Sharma</a:t>
            </a:r>
          </a:p>
        </p:txBody>
      </p:sp>
      <p:sp>
        <p:nvSpPr>
          <p:cNvPr id="15" name="pool.rohit.meta">
            <a:extLst xmlns:a="http://schemas.openxmlformats.org/drawingml/2006/main">
              <a:ext uri="{FF2B5EF4-FFF2-40B4-BE49-F238E27FC236}">
                <a16:creationId xmlns:a16="http://schemas.microsoft.com/office/drawing/2014/main" id="{B016476D-D3B0-4E7E-9877-6152F688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530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700"/>
                </a:solidFill>
              </a:defRPr>
            </a:pPr>
            <a:r>
              <a:t>Cricket | BAT</a:t>
            </a:r>
          </a:p>
        </p:txBody>
      </p:sp>
      <p:sp>
        <p:nvSpPr>
          <p:cNvPr id="16" name="pool.virat.photo.frame">
            <a:extLst xmlns:a="http://schemas.openxmlformats.org/drawingml/2006/main">
              <a:ext uri="{FF2B5EF4-FFF2-40B4-BE49-F238E27FC236}">
                <a16:creationId xmlns:a16="http://schemas.microsoft.com/office/drawing/2014/main" id="{39EBD167-DE8F-42A6-8033-D7354D7A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14700"/>
            <a:ext cx="24955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FF107A"/>
            </a:solidFill>
            <a:prstDash val="solid"/>
          </a:ln>
        </p:spPr>
      </p:sp>
      <p:pic>
        <p:nvPicPr>
          <p:cNvPr id="17" name="pool.virat.photo.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5f3b6018f4c52"/>
          <a:stretch xmlns:a="http://schemas.openxmlformats.org/drawingml/2006/main"/>
        </p:blipFill>
        <p:spPr>
          <a:xfrm xmlns:a="http://schemas.openxmlformats.org/drawingml/2006/main">
            <a:off x="5710558" y="3371850"/>
            <a:ext cx="1247133" cy="1676400"/>
          </a:xfrm>
          <a:prstGeom xmlns:a="http://schemas.openxmlformats.org/drawingml/2006/main" prst="roundRect">
            <a:avLst/>
          </a:prstGeom>
        </p:spPr>
      </p:pic>
      <p:sp>
        <p:nvSpPr>
          <p:cNvPr id="18" name="pool.virat.caption">
            <a:extLst xmlns:a="http://schemas.openxmlformats.org/drawingml/2006/main">
              <a:ext uri="{FF2B5EF4-FFF2-40B4-BE49-F238E27FC236}">
                <a16:creationId xmlns:a16="http://schemas.microsoft.com/office/drawing/2014/main" id="{95601AF1-20F0-44C3-95FB-AC1DAA4D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9585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</p:sp>
      <p:sp>
        <p:nvSpPr>
          <p:cNvPr id="19" name="pool.virat.name">
            <a:extLst xmlns:a="http://schemas.openxmlformats.org/drawingml/2006/main">
              <a:ext uri="{FF2B5EF4-FFF2-40B4-BE49-F238E27FC236}">
                <a16:creationId xmlns:a16="http://schemas.microsoft.com/office/drawing/2014/main" id="{1598601A-60ED-4B9F-ADEC-8275B3BA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10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t>Virat Kohli</a:t>
            </a:r>
          </a:p>
        </p:txBody>
      </p:sp>
      <p:sp>
        <p:nvSpPr>
          <p:cNvPr id="20" name="pool.virat.meta">
            <a:extLst xmlns:a="http://schemas.openxmlformats.org/drawingml/2006/main">
              <a:ext uri="{FF2B5EF4-FFF2-40B4-BE49-F238E27FC236}">
                <a16:creationId xmlns:a16="http://schemas.microsoft.com/office/drawing/2014/main" id="{7EDA30A2-F4C3-46C2-AF7A-8E69896E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530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107A"/>
                </a:solidFill>
              </a:defRPr>
            </a:pPr>
            <a:r>
              <a:t>Cricket | BAT</a:t>
            </a:r>
          </a:p>
        </p:txBody>
      </p:sp>
      <p:sp>
        <p:nvSpPr>
          <p:cNvPr id="21" name="pool.dhoni.photo.frame">
            <a:extLst xmlns:a="http://schemas.openxmlformats.org/drawingml/2006/main">
              <a:ext uri="{FF2B5EF4-FFF2-40B4-BE49-F238E27FC236}">
                <a16:creationId xmlns:a16="http://schemas.microsoft.com/office/drawing/2014/main" id="{3024ED5D-50D0-469E-AAE2-1054CE06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14700"/>
            <a:ext cx="24955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00E5FF"/>
            </a:solidFill>
            <a:prstDash val="solid"/>
          </a:ln>
        </p:spPr>
      </p:sp>
      <p:pic>
        <p:nvPicPr>
          <p:cNvPr id="22" name="pool.dhoni.photo.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845d695f9485b"/>
          <a:stretch xmlns:a="http://schemas.openxmlformats.org/drawingml/2006/main"/>
        </p:blipFill>
        <p:spPr>
          <a:xfrm xmlns:a="http://schemas.openxmlformats.org/drawingml/2006/main">
            <a:off x="9801225" y="3371850"/>
            <a:ext cx="1257300" cy="1676400"/>
          </a:xfrm>
          <a:prstGeom xmlns:a="http://schemas.openxmlformats.org/drawingml/2006/main" prst="roundRect">
            <a:avLst/>
          </a:prstGeom>
        </p:spPr>
      </p:pic>
      <p:sp>
        <p:nvSpPr>
          <p:cNvPr id="23" name="pool.dhoni.caption">
            <a:extLst xmlns:a="http://schemas.openxmlformats.org/drawingml/2006/main">
              <a:ext uri="{FF2B5EF4-FFF2-40B4-BE49-F238E27FC236}">
                <a16:creationId xmlns:a16="http://schemas.microsoft.com/office/drawing/2014/main" id="{AC19600E-7886-402D-8C10-D5898F96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9585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24" name="pool.dhoni.name">
            <a:extLst xmlns:a="http://schemas.openxmlformats.org/drawingml/2006/main">
              <a:ext uri="{FF2B5EF4-FFF2-40B4-BE49-F238E27FC236}">
                <a16:creationId xmlns:a16="http://schemas.microsoft.com/office/drawing/2014/main" id="{392AF7D8-35B5-4506-B7AD-863A2C6C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010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t>MS Dhoni</a:t>
            </a:r>
          </a:p>
        </p:txBody>
      </p:sp>
      <p:sp>
        <p:nvSpPr>
          <p:cNvPr id="25" name="pool.dhoni.meta">
            <a:extLst xmlns:a="http://schemas.openxmlformats.org/drawingml/2006/main">
              <a:ext uri="{FF2B5EF4-FFF2-40B4-BE49-F238E27FC236}">
                <a16:creationId xmlns:a16="http://schemas.microsoft.com/office/drawing/2014/main" id="{5388ECA1-2999-4EED-934F-203BDEFD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3530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E5FF"/>
                </a:solidFill>
              </a:defRPr>
            </a:pPr>
            <a:r>
              <a:t>Cricket | WK</a:t>
            </a:r>
          </a:p>
        </p:txBody>
      </p:sp>
      <p:sp>
        <p:nvSpPr>
          <p:cNvPr id="26" name="pool.messi.photo.frame">
            <a:extLst xmlns:a="http://schemas.openxmlformats.org/drawingml/2006/main">
              <a:ext uri="{FF2B5EF4-FFF2-40B4-BE49-F238E27FC236}">
                <a16:creationId xmlns:a16="http://schemas.microsoft.com/office/drawing/2014/main" id="{14F2F064-2A39-409B-B01F-AB975AFB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3314700"/>
            <a:ext cx="24955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00FF87"/>
            </a:solidFill>
            <a:prstDash val="solid"/>
          </a:ln>
        </p:spPr>
      </p:sp>
      <p:pic>
        <p:nvPicPr>
          <p:cNvPr id="27" name="pool.messi.photo.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94fa8f82b41f0"/>
          <a:stretch xmlns:a="http://schemas.openxmlformats.org/drawingml/2006/main"/>
        </p:blipFill>
        <p:spPr>
          <a:xfrm xmlns:a="http://schemas.openxmlformats.org/drawingml/2006/main">
            <a:off x="13898838" y="3371850"/>
            <a:ext cx="1253575" cy="1676400"/>
          </a:xfrm>
          <a:prstGeom xmlns:a="http://schemas.openxmlformats.org/drawingml/2006/main" prst="roundRect">
            <a:avLst/>
          </a:prstGeom>
        </p:spPr>
      </p:pic>
      <p:sp>
        <p:nvSpPr>
          <p:cNvPr id="28" name="pool.messi.caption">
            <a:extLst xmlns:a="http://schemas.openxmlformats.org/drawingml/2006/main">
              <a:ext uri="{FF2B5EF4-FFF2-40B4-BE49-F238E27FC236}">
                <a16:creationId xmlns:a16="http://schemas.microsoft.com/office/drawing/2014/main" id="{48CD7EB0-33C5-44BA-BCE4-A6F6D927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89585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00FF87"/>
            </a:solidFill>
            <a:prstDash val="solid"/>
          </a:ln>
        </p:spPr>
      </p:sp>
      <p:sp>
        <p:nvSpPr>
          <p:cNvPr id="29" name="pool.messi.name">
            <a:extLst xmlns:a="http://schemas.openxmlformats.org/drawingml/2006/main">
              <a:ext uri="{FF2B5EF4-FFF2-40B4-BE49-F238E27FC236}">
                <a16:creationId xmlns:a16="http://schemas.microsoft.com/office/drawing/2014/main" id="{62915258-154C-4581-B24D-96EBDA0A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5010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t>Lionel Messi</a:t>
            </a:r>
          </a:p>
        </p:txBody>
      </p:sp>
      <p:sp>
        <p:nvSpPr>
          <p:cNvPr id="30" name="pool.messi.meta">
            <a:extLst xmlns:a="http://schemas.openxmlformats.org/drawingml/2006/main">
              <a:ext uri="{FF2B5EF4-FFF2-40B4-BE49-F238E27FC236}">
                <a16:creationId xmlns:a16="http://schemas.microsoft.com/office/drawing/2014/main" id="{95D078E3-AB4E-4DEE-9A75-4FB6E6DE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53530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FF87"/>
                </a:solidFill>
              </a:defRPr>
            </a:pPr>
            <a:r>
              <a:t>Football | FWD</a:t>
            </a:r>
          </a:p>
        </p:txBody>
      </p:sp>
      <p:sp>
        <p:nvSpPr>
          <p:cNvPr id="31" name="pool.ronaldo.photo.frame">
            <a:extLst xmlns:a="http://schemas.openxmlformats.org/drawingml/2006/main">
              <a:ext uri="{FF2B5EF4-FFF2-40B4-BE49-F238E27FC236}">
                <a16:creationId xmlns:a16="http://schemas.microsoft.com/office/drawing/2014/main" id="{982B1A01-F55E-4B1B-9785-4DD39FD2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96000"/>
            <a:ext cx="24955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E50914"/>
            </a:solidFill>
            <a:prstDash val="solid"/>
          </a:ln>
        </p:spPr>
      </p:sp>
      <p:pic>
        <p:nvPicPr>
          <p:cNvPr id="32" name="pool.ronaldo.photo.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a3ff9e7224837"/>
          <a:stretch xmlns:a="http://schemas.openxmlformats.org/drawingml/2006/main"/>
        </p:blipFill>
        <p:spPr>
          <a:xfrm xmlns:a="http://schemas.openxmlformats.org/drawingml/2006/main">
            <a:off x="1508496" y="6153150"/>
            <a:ext cx="1459758" cy="1676400"/>
          </a:xfrm>
          <a:prstGeom xmlns:a="http://schemas.openxmlformats.org/drawingml/2006/main" prst="roundRect">
            <a:avLst/>
          </a:prstGeom>
        </p:spPr>
      </p:pic>
      <p:sp>
        <p:nvSpPr>
          <p:cNvPr id="33" name="pool.ronaldo.caption">
            <a:extLst xmlns:a="http://schemas.openxmlformats.org/drawingml/2006/main">
              <a:ext uri="{FF2B5EF4-FFF2-40B4-BE49-F238E27FC236}">
                <a16:creationId xmlns:a16="http://schemas.microsoft.com/office/drawing/2014/main" id="{6F8607D1-0034-4994-AB36-5E33A3BD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67715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E50914"/>
            </a:solidFill>
            <a:prstDash val="solid"/>
          </a:ln>
        </p:spPr>
      </p:sp>
      <p:sp>
        <p:nvSpPr>
          <p:cNvPr id="34" name="pool.ronaldo.name">
            <a:extLst xmlns:a="http://schemas.openxmlformats.org/drawingml/2006/main">
              <a:ext uri="{FF2B5EF4-FFF2-40B4-BE49-F238E27FC236}">
                <a16:creationId xmlns:a16="http://schemas.microsoft.com/office/drawing/2014/main" id="{58D8B74C-4B0E-4AD2-AD79-2B83C599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7914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t>Cristiano Ronaldo</a:t>
            </a:r>
          </a:p>
        </p:txBody>
      </p:sp>
      <p:sp>
        <p:nvSpPr>
          <p:cNvPr id="35" name="pool.ronaldo.meta">
            <a:extLst xmlns:a="http://schemas.openxmlformats.org/drawingml/2006/main">
              <a:ext uri="{FF2B5EF4-FFF2-40B4-BE49-F238E27FC236}">
                <a16:creationId xmlns:a16="http://schemas.microsoft.com/office/drawing/2014/main" id="{85AB97AC-AB76-4AB1-94AB-D9F8DD96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1343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0914"/>
                </a:solidFill>
              </a:defRPr>
            </a:pPr>
            <a:r>
              <a:t>Football | FWD</a:t>
            </a:r>
          </a:p>
        </p:txBody>
      </p:sp>
      <p:sp>
        <p:nvSpPr>
          <p:cNvPr id="36" name="pool.haaland.photo.frame">
            <a:extLst xmlns:a="http://schemas.openxmlformats.org/drawingml/2006/main">
              <a:ext uri="{FF2B5EF4-FFF2-40B4-BE49-F238E27FC236}">
                <a16:creationId xmlns:a16="http://schemas.microsoft.com/office/drawing/2014/main" id="{40C66C11-5EA1-4CBC-8D4D-5615311B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096000"/>
            <a:ext cx="24955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00E5FF"/>
            </a:solidFill>
            <a:prstDash val="solid"/>
          </a:ln>
        </p:spPr>
      </p:sp>
      <p:pic>
        <p:nvPicPr>
          <p:cNvPr id="37" name="pool.haaland.photo.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040b891a346a3"/>
          <a:stretch xmlns:a="http://schemas.openxmlformats.org/drawingml/2006/main"/>
        </p:blipFill>
        <p:spPr>
          <a:xfrm xmlns:a="http://schemas.openxmlformats.org/drawingml/2006/main">
            <a:off x="5713857" y="6153150"/>
            <a:ext cx="1240536" cy="1676400"/>
          </a:xfrm>
          <a:prstGeom xmlns:a="http://schemas.openxmlformats.org/drawingml/2006/main" prst="roundRect">
            <a:avLst/>
          </a:prstGeom>
        </p:spPr>
      </p:pic>
      <p:sp>
        <p:nvSpPr>
          <p:cNvPr id="38" name="pool.haaland.caption">
            <a:extLst xmlns:a="http://schemas.openxmlformats.org/drawingml/2006/main">
              <a:ext uri="{FF2B5EF4-FFF2-40B4-BE49-F238E27FC236}">
                <a16:creationId xmlns:a16="http://schemas.microsoft.com/office/drawing/2014/main" id="{5160C77C-3164-4D78-93C6-8BF27C1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67715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39" name="pool.haaland.name">
            <a:extLst xmlns:a="http://schemas.openxmlformats.org/drawingml/2006/main">
              <a:ext uri="{FF2B5EF4-FFF2-40B4-BE49-F238E27FC236}">
                <a16:creationId xmlns:a16="http://schemas.microsoft.com/office/drawing/2014/main" id="{F7A32FFE-FD23-4439-8D98-B4C6E6FC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77914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t>Erling Haaland</a:t>
            </a:r>
          </a:p>
        </p:txBody>
      </p:sp>
      <p:sp>
        <p:nvSpPr>
          <p:cNvPr id="40" name="pool.haaland.meta">
            <a:extLst xmlns:a="http://schemas.openxmlformats.org/drawingml/2006/main">
              <a:ext uri="{FF2B5EF4-FFF2-40B4-BE49-F238E27FC236}">
                <a16:creationId xmlns:a16="http://schemas.microsoft.com/office/drawing/2014/main" id="{0ED2E2CF-6E7F-457B-9ABB-3C84685E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81343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E5FF"/>
                </a:solidFill>
              </a:defRPr>
            </a:pPr>
            <a:r>
              <a:t>Football | FWD</a:t>
            </a:r>
          </a:p>
        </p:txBody>
      </p:sp>
      <p:sp>
        <p:nvSpPr>
          <p:cNvPr id="41" name="pool.max.photo.frame">
            <a:extLst xmlns:a="http://schemas.openxmlformats.org/drawingml/2006/main">
              <a:ext uri="{FF2B5EF4-FFF2-40B4-BE49-F238E27FC236}">
                <a16:creationId xmlns:a16="http://schemas.microsoft.com/office/drawing/2014/main" id="{ADA6742D-0E07-4A41-8403-0E0C49EA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096000"/>
            <a:ext cx="24955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E50914"/>
            </a:solidFill>
            <a:prstDash val="solid"/>
          </a:ln>
        </p:spPr>
      </p:sp>
      <p:pic>
        <p:nvPicPr>
          <p:cNvPr id="42" name="pool.max.photo.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8b96ab91448b6"/>
          <a:stretch xmlns:a="http://schemas.openxmlformats.org/drawingml/2006/main"/>
        </p:blipFill>
        <p:spPr>
          <a:xfrm xmlns:a="http://schemas.openxmlformats.org/drawingml/2006/main">
            <a:off x="9794706" y="6153150"/>
            <a:ext cx="1270339" cy="1676400"/>
          </a:xfrm>
          <a:prstGeom xmlns:a="http://schemas.openxmlformats.org/drawingml/2006/main" prst="roundRect">
            <a:avLst/>
          </a:prstGeom>
        </p:spPr>
      </p:pic>
      <p:sp>
        <p:nvSpPr>
          <p:cNvPr id="43" name="pool.max.caption">
            <a:extLst xmlns:a="http://schemas.openxmlformats.org/drawingml/2006/main">
              <a:ext uri="{FF2B5EF4-FFF2-40B4-BE49-F238E27FC236}">
                <a16:creationId xmlns:a16="http://schemas.microsoft.com/office/drawing/2014/main" id="{AAC72B97-DF7D-4FEC-AA90-9BF6E543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67715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E50914"/>
            </a:solidFill>
            <a:prstDash val="solid"/>
          </a:ln>
        </p:spPr>
      </p:sp>
      <p:sp>
        <p:nvSpPr>
          <p:cNvPr id="44" name="pool.max.name">
            <a:extLst xmlns:a="http://schemas.openxmlformats.org/drawingml/2006/main">
              <a:ext uri="{FF2B5EF4-FFF2-40B4-BE49-F238E27FC236}">
                <a16:creationId xmlns:a16="http://schemas.microsoft.com/office/drawing/2014/main" id="{CF2912D7-12A9-42BC-83ED-96765D6D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7914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t>Max Verstappen</a:t>
            </a:r>
          </a:p>
        </p:txBody>
      </p:sp>
      <p:sp>
        <p:nvSpPr>
          <p:cNvPr id="45" name="pool.max.meta">
            <a:extLst xmlns:a="http://schemas.openxmlformats.org/drawingml/2006/main">
              <a:ext uri="{FF2B5EF4-FFF2-40B4-BE49-F238E27FC236}">
                <a16:creationId xmlns:a16="http://schemas.microsoft.com/office/drawing/2014/main" id="{5C6E4653-3C03-4DE4-9D47-318B992A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81343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0914"/>
                </a:solidFill>
              </a:defRPr>
            </a:pPr>
            <a:r>
              <a:t>Formula 1 | DRV</a:t>
            </a:r>
          </a:p>
        </p:txBody>
      </p:sp>
      <p:sp>
        <p:nvSpPr>
          <p:cNvPr id="46" name="pool.hamilton.photo.frame">
            <a:extLst xmlns:a="http://schemas.openxmlformats.org/drawingml/2006/main">
              <a:ext uri="{FF2B5EF4-FFF2-40B4-BE49-F238E27FC236}">
                <a16:creationId xmlns:a16="http://schemas.microsoft.com/office/drawing/2014/main" id="{5D0CAC85-0B3F-4B8D-A576-DD69EAD5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6096000"/>
            <a:ext cx="24955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A855F7"/>
            </a:solidFill>
            <a:prstDash val="solid"/>
          </a:ln>
        </p:spPr>
      </p:sp>
      <p:pic>
        <p:nvPicPr>
          <p:cNvPr id="47" name="pool.hamilton.photo.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a5b0abbc54c15"/>
          <a:stretch xmlns:a="http://schemas.openxmlformats.org/drawingml/2006/main"/>
        </p:blipFill>
        <p:spPr>
          <a:xfrm xmlns:a="http://schemas.openxmlformats.org/drawingml/2006/main">
            <a:off x="13896975" y="6153150"/>
            <a:ext cx="1257300" cy="1676400"/>
          </a:xfrm>
          <a:prstGeom xmlns:a="http://schemas.openxmlformats.org/drawingml/2006/main" prst="roundRect">
            <a:avLst/>
          </a:prstGeom>
        </p:spPr>
      </p:pic>
      <p:sp>
        <p:nvSpPr>
          <p:cNvPr id="48" name="pool.hamilton.caption">
            <a:extLst xmlns:a="http://schemas.openxmlformats.org/drawingml/2006/main">
              <a:ext uri="{FF2B5EF4-FFF2-40B4-BE49-F238E27FC236}">
                <a16:creationId xmlns:a16="http://schemas.microsoft.com/office/drawing/2014/main" id="{09FDAF1C-207B-4071-B806-B755E88A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67715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A855F7"/>
            </a:solidFill>
            <a:prstDash val="solid"/>
          </a:ln>
        </p:spPr>
      </p:sp>
      <p:sp>
        <p:nvSpPr>
          <p:cNvPr id="49" name="pool.hamilton.name">
            <a:extLst xmlns:a="http://schemas.openxmlformats.org/drawingml/2006/main">
              <a:ext uri="{FF2B5EF4-FFF2-40B4-BE49-F238E27FC236}">
                <a16:creationId xmlns:a16="http://schemas.microsoft.com/office/drawing/2014/main" id="{FFAAEFB8-9267-499F-B5BA-8661D0DF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7914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t>Lewis Hamilton</a:t>
            </a:r>
          </a:p>
        </p:txBody>
      </p:sp>
      <p:sp>
        <p:nvSpPr>
          <p:cNvPr id="50" name="pool.hamilton.meta">
            <a:extLst xmlns:a="http://schemas.openxmlformats.org/drawingml/2006/main">
              <a:ext uri="{FF2B5EF4-FFF2-40B4-BE49-F238E27FC236}">
                <a16:creationId xmlns:a16="http://schemas.microsoft.com/office/drawing/2014/main" id="{1476CAD0-1597-4011-B4DB-4C0F35AA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81343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55F7"/>
                </a:solidFill>
              </a:defRPr>
            </a:pPr>
            <a:r>
              <a:t>Formula 1 | DRV</a:t>
            </a:r>
          </a:p>
        </p:txBody>
      </p:sp>
      <p:sp>
        <p:nvSpPr>
          <p:cNvPr id="51" name="pool.note">
            <a:extLst xmlns:a="http://schemas.openxmlformats.org/drawingml/2006/main">
              <a:ext uri="{FF2B5EF4-FFF2-40B4-BE49-F238E27FC236}">
                <a16:creationId xmlns:a16="http://schemas.microsoft.com/office/drawing/2014/main" id="{4794625F-7E76-4F7C-8B2F-56056C96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667750"/>
            <a:ext cx="11906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4F5"/>
                </a:solidFill>
              </a:defRPr>
            </a:pPr>
            <a:r>
              <a:t>Fantasy value can combine credits, form, popularity, role scarcity, and multiplier potential.</a:t>
            </a:r>
          </a:p>
        </p:txBody>
      </p:sp>
    </p:spTree>
    <p:extLst>
      <p:ext uri="{BB962C8B-B14F-4D97-AF65-F5344CB8AC3E}">
        <p14:creationId xmlns:p14="http://schemas.microsoft.com/office/powerpoint/2010/main" val="43345612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.15">
            <a:extLst xmlns:a="http://schemas.openxmlformats.org/drawingml/2006/main">
              <a:ext uri="{FF2B5EF4-FFF2-40B4-BE49-F238E27FC236}">
                <a16:creationId xmlns:a16="http://schemas.microsoft.com/office/drawing/2014/main" id="{F620A84A-42F3-4418-956A-C1794C12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50A"/>
              </a:gs>
              <a:gs pos="54000">
                <a:srgbClr val="101027"/>
              </a:gs>
              <a:gs pos="100000">
                <a:srgbClr val="1A1026"/>
              </a:gs>
            </a:gsLst>
            <a:lin ang="1500000"/>
          </a:gradFill>
          <a:ln xmlns:a="http://schemas.openxmlformats.org/drawingml/2006/main" w="0">
            <a:solidFill>
              <a:srgbClr val="05050A"/>
            </a:solidFill>
            <a:prstDash val="solid"/>
          </a:ln>
        </p:spPr>
      </p:sp>
      <p:sp>
        <p:nvSpPr>
          <p:cNvPr id="2" name="accent.slash.15.1">
            <a:extLst xmlns:a="http://schemas.openxmlformats.org/drawingml/2006/main">
              <a:ext uri="{FF2B5EF4-FFF2-40B4-BE49-F238E27FC236}">
                <a16:creationId xmlns:a16="http://schemas.microsoft.com/office/drawing/2014/main" id="{9F566E42-2D43-4216-B9D4-46FE79A9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6954500" y="-1714500"/>
            <a:ext cx="8572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3" name="accent.slash.15.2">
            <a:extLst xmlns:a="http://schemas.openxmlformats.org/drawingml/2006/main">
              <a:ext uri="{FF2B5EF4-FFF2-40B4-BE49-F238E27FC236}">
                <a16:creationId xmlns:a16="http://schemas.microsoft.com/office/drawing/2014/main" id="{9081DD63-ADA4-404C-8482-844273A2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8021300" y="-1714500"/>
            <a:ext cx="2857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" name="accent.floor.15">
            <a:extLst xmlns:a="http://schemas.openxmlformats.org/drawingml/2006/main">
              <a:ext uri="{FF2B5EF4-FFF2-40B4-BE49-F238E27FC236}">
                <a16:creationId xmlns:a16="http://schemas.microsoft.com/office/drawing/2014/main" id="{DC314F6E-BC24-4CA8-9B6A-8648CA77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0"/>
            <a:ext cx="1828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</p:sp>
      <p:sp>
        <p:nvSpPr>
          <p:cNvPr id="5" name="accent.floor.line.15">
            <a:extLst xmlns:a="http://schemas.openxmlformats.org/drawingml/2006/main">
              <a:ext uri="{FF2B5EF4-FFF2-40B4-BE49-F238E27FC236}">
                <a16:creationId xmlns:a16="http://schemas.microsoft.com/office/drawing/2014/main" id="{16D48ECE-05CF-46EE-8721-0C8D3DA3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6" name="footer.section.15">
            <a:extLst xmlns:a="http://schemas.openxmlformats.org/drawingml/2006/main">
              <a:ext uri="{FF2B5EF4-FFF2-40B4-BE49-F238E27FC236}">
                <a16:creationId xmlns:a16="http://schemas.microsoft.com/office/drawing/2014/main" id="{83F0D8F5-D64D-48F1-A5A0-812353C9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</a:defRPr>
            </a:pPr>
            <a:r>
              <a:t>FANTASY ANALYSIS LAYER</a:t>
            </a:r>
          </a:p>
        </p:txBody>
      </p:sp>
      <p:sp>
        <p:nvSpPr>
          <p:cNvPr id="7" name="footer.page.15">
            <a:extLst xmlns:a="http://schemas.openxmlformats.org/drawingml/2006/main">
              <a:ext uri="{FF2B5EF4-FFF2-40B4-BE49-F238E27FC236}">
                <a16:creationId xmlns:a16="http://schemas.microsoft.com/office/drawing/2014/main" id="{9CA38E81-219C-4F83-9242-D6B3D8C0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6202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E5FF"/>
                </a:solidFill>
              </a:defRPr>
            </a:pPr>
            <a:r>
              <a:t>15</a:t>
            </a:r>
          </a:p>
        </p:txBody>
      </p:sp>
      <p:sp>
        <p:nvSpPr>
          <p:cNvPr id="8" name="label.FANTASY ANALYSIS LAYER">
            <a:extLst xmlns:a="http://schemas.openxmlformats.org/drawingml/2006/main">
              <a:ext uri="{FF2B5EF4-FFF2-40B4-BE49-F238E27FC236}">
                <a16:creationId xmlns:a16="http://schemas.microsoft.com/office/drawing/2014/main" id="{6B762780-E5CD-48B4-8470-7C5F1BA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3981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107A"/>
                </a:solidFill>
              </a:defRPr>
            </a:pPr>
            <a:r>
              <a:t>FANTASY ANALYSIS LAYER</a:t>
            </a:r>
          </a:p>
        </p:txBody>
      </p:sp>
      <p:sp>
        <p:nvSpPr>
          <p:cNvPr id="9" name="slide-title.15">
            <a:extLst xmlns:a="http://schemas.openxmlformats.org/drawingml/2006/main">
              <a:ext uri="{FF2B5EF4-FFF2-40B4-BE49-F238E27FC236}">
                <a16:creationId xmlns:a16="http://schemas.microsoft.com/office/drawing/2014/main" id="{DCC3B70D-45FB-49BB-B00A-787235C5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90625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t>A good fantasy product helps users compare risk and upside</a:t>
            </a:r>
          </a:p>
        </p:txBody>
      </p:sp>
      <p:sp>
        <p:nvSpPr>
          <p:cNvPr id="10" name="slide-subtitle.15">
            <a:extLst xmlns:a="http://schemas.openxmlformats.org/drawingml/2006/main">
              <a:ext uri="{FF2B5EF4-FFF2-40B4-BE49-F238E27FC236}">
                <a16:creationId xmlns:a16="http://schemas.microsoft.com/office/drawing/2014/main" id="{999DCB99-6C80-453E-9F74-626292AC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104900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A1AA"/>
                </a:solidFill>
              </a:defRPr>
            </a:pPr>
            <a:r>
              <a:t>Analysis visuals translate raw player data into fast decisions: captain choice, credits, form, selection share, and role coverage.</a:t>
            </a:r>
          </a:p>
        </p:txBody>
      </p:sp>
      <p:sp>
        <p:nvSpPr>
          <p:cNvPr id="11" name="analysis.matrix">
            <a:extLst xmlns:a="http://schemas.openxmlformats.org/drawingml/2006/main">
              <a:ext uri="{FF2B5EF4-FFF2-40B4-BE49-F238E27FC236}">
                <a16:creationId xmlns:a16="http://schemas.microsoft.com/office/drawing/2014/main" id="{38B321AA-B34A-44B8-B817-E92440C0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6286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12" name="analysis.matrix.title">
            <a:extLst xmlns:a="http://schemas.openxmlformats.org/drawingml/2006/main">
              <a:ext uri="{FF2B5EF4-FFF2-40B4-BE49-F238E27FC236}">
                <a16:creationId xmlns:a16="http://schemas.microsoft.com/office/drawing/2014/main" id="{22375E90-2D11-468D-AB74-C20D5375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E5FF"/>
                </a:solidFill>
              </a:defRPr>
            </a:pPr>
            <a:r>
              <a:t>Risk vs Upside Matrix</a:t>
            </a:r>
          </a:p>
        </p:txBody>
      </p:sp>
      <p:sp>
        <p:nvSpPr>
          <p:cNvPr id="13" name="analysis.axis.x">
            <a:extLst xmlns:a="http://schemas.openxmlformats.org/drawingml/2006/main">
              <a:ext uri="{FF2B5EF4-FFF2-40B4-BE49-F238E27FC236}">
                <a16:creationId xmlns:a16="http://schemas.microsoft.com/office/drawing/2014/main" id="{87EFF164-2289-409B-991A-0220E2CA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200900"/>
            <a:ext cx="466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A1A1AA"/>
            </a:solidFill>
            <a:prstDash val="solid"/>
          </a:ln>
        </p:spPr>
      </p:sp>
      <p:sp>
        <p:nvSpPr>
          <p:cNvPr id="14" name="analysis.axis.y">
            <a:extLst xmlns:a="http://schemas.openxmlformats.org/drawingml/2006/main">
              <a:ext uri="{FF2B5EF4-FFF2-40B4-BE49-F238E27FC236}">
                <a16:creationId xmlns:a16="http://schemas.microsoft.com/office/drawing/2014/main" id="{E4E0CCE2-D89A-4610-86DB-ECBC0F71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29150"/>
            <a:ext cx="285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A1AA"/>
          </a:solidFill>
          <a:ln xmlns:a="http://schemas.openxmlformats.org/drawingml/2006/main" w="0">
            <a:solidFill>
              <a:srgbClr val="A1A1AA"/>
            </a:solidFill>
            <a:prstDash val="solid"/>
          </a:ln>
        </p:spPr>
      </p:sp>
      <p:sp>
        <p:nvSpPr>
          <p:cNvPr id="15" name="analysis.axis.low">
            <a:extLst xmlns:a="http://schemas.openxmlformats.org/drawingml/2006/main">
              <a:ext uri="{FF2B5EF4-FFF2-40B4-BE49-F238E27FC236}">
                <a16:creationId xmlns:a16="http://schemas.microsoft.com/office/drawing/2014/main" id="{DB10F2C5-FE86-4E5A-8E21-95AE1AF0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7372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</a:defRPr>
            </a:pPr>
            <a:r>
              <a:t>Safer</a:t>
            </a:r>
          </a:p>
        </p:txBody>
      </p:sp>
      <p:sp>
        <p:nvSpPr>
          <p:cNvPr id="16" name="analysis.axis.high">
            <a:extLst xmlns:a="http://schemas.openxmlformats.org/drawingml/2006/main">
              <a:ext uri="{FF2B5EF4-FFF2-40B4-BE49-F238E27FC236}">
                <a16:creationId xmlns:a16="http://schemas.microsoft.com/office/drawing/2014/main" id="{C8792C6B-F82D-4C05-B9E1-DB623701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73723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</a:defRPr>
            </a:pPr>
            <a:r>
              <a:t>Higher upside</a:t>
            </a:r>
          </a:p>
        </p:txBody>
      </p:sp>
      <p:sp>
        <p:nvSpPr>
          <p:cNvPr id="17" name="analysis.axis.form">
            <a:extLst xmlns:a="http://schemas.openxmlformats.org/drawingml/2006/main">
              <a:ext uri="{FF2B5EF4-FFF2-40B4-BE49-F238E27FC236}">
                <a16:creationId xmlns:a16="http://schemas.microsoft.com/office/drawing/2014/main" id="{FD005E78-88D1-4356-8217-DC3ABC4D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</a:defRPr>
            </a:pPr>
            <a:r>
              <a:t>Form</a:t>
            </a:r>
          </a:p>
        </p:txBody>
      </p:sp>
      <p:sp>
        <p:nvSpPr>
          <p:cNvPr id="18" name="analysis.dot.0">
            <a:extLst xmlns:a="http://schemas.openxmlformats.org/drawingml/2006/main">
              <a:ext uri="{FF2B5EF4-FFF2-40B4-BE49-F238E27FC236}">
                <a16:creationId xmlns:a16="http://schemas.microsoft.com/office/drawing/2014/main" id="{AF29938E-A4A8-4B10-9374-6B571C91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10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00"/>
          </a:solidFill>
          <a:ln xmlns:a="http://schemas.openxmlformats.org/drawingml/2006/main" w="0">
            <a:solidFill>
              <a:srgbClr val="FFD700"/>
            </a:solidFill>
            <a:prstDash val="solid"/>
          </a:ln>
        </p:spPr>
      </p:sp>
      <p:sp>
        <p:nvSpPr>
          <p:cNvPr id="19" name="analysis.dot.label.0">
            <a:extLst xmlns:a="http://schemas.openxmlformats.org/drawingml/2006/main">
              <a:ext uri="{FF2B5EF4-FFF2-40B4-BE49-F238E27FC236}">
                <a16:creationId xmlns:a16="http://schemas.microsoft.com/office/drawing/2014/main" id="{6C9247BE-381A-47A5-9028-A4B4455F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7721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t>Rohit</a:t>
            </a:r>
          </a:p>
        </p:txBody>
      </p:sp>
      <p:sp>
        <p:nvSpPr>
          <p:cNvPr id="20" name="analysis.dot.1">
            <a:extLst xmlns:a="http://schemas.openxmlformats.org/drawingml/2006/main">
              <a:ext uri="{FF2B5EF4-FFF2-40B4-BE49-F238E27FC236}">
                <a16:creationId xmlns:a16="http://schemas.microsoft.com/office/drawing/2014/main" id="{898F2290-FF31-45D3-93BF-DD7A693C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43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F87"/>
          </a:solidFill>
          <a:ln xmlns:a="http://schemas.openxmlformats.org/drawingml/2006/main" w="0">
            <a:solidFill>
              <a:srgbClr val="00FF87"/>
            </a:solidFill>
            <a:prstDash val="solid"/>
          </a:ln>
        </p:spPr>
      </p:sp>
      <p:sp>
        <p:nvSpPr>
          <p:cNvPr id="21" name="analysis.dot.label.1">
            <a:extLst xmlns:a="http://schemas.openxmlformats.org/drawingml/2006/main">
              <a:ext uri="{FF2B5EF4-FFF2-40B4-BE49-F238E27FC236}">
                <a16:creationId xmlns:a16="http://schemas.microsoft.com/office/drawing/2014/main" id="{3406F08D-8639-4580-BA7D-098A721B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054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t>Messi</a:t>
            </a:r>
          </a:p>
        </p:txBody>
      </p:sp>
      <p:sp>
        <p:nvSpPr>
          <p:cNvPr id="22" name="analysis.dot.2">
            <a:extLst xmlns:a="http://schemas.openxmlformats.org/drawingml/2006/main">
              <a:ext uri="{FF2B5EF4-FFF2-40B4-BE49-F238E27FC236}">
                <a16:creationId xmlns:a16="http://schemas.microsoft.com/office/drawing/2014/main" id="{F5CC31CA-6260-4A5C-80B4-5BD7ACFA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23" name="analysis.dot.label.2">
            <a:extLst xmlns:a="http://schemas.openxmlformats.org/drawingml/2006/main">
              <a:ext uri="{FF2B5EF4-FFF2-40B4-BE49-F238E27FC236}">
                <a16:creationId xmlns:a16="http://schemas.microsoft.com/office/drawing/2014/main" id="{45DD2631-3945-454C-886C-020B47A3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244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t>Max</a:t>
            </a:r>
          </a:p>
        </p:txBody>
      </p:sp>
      <p:sp>
        <p:nvSpPr>
          <p:cNvPr id="24" name="analysis.dot.3">
            <a:extLst xmlns:a="http://schemas.openxmlformats.org/drawingml/2006/main">
              <a:ext uri="{FF2B5EF4-FFF2-40B4-BE49-F238E27FC236}">
                <a16:creationId xmlns:a16="http://schemas.microsoft.com/office/drawing/2014/main" id="{0F31BEC0-EB24-4104-BB55-99CB11AE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1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25" name="analysis.dot.label.3">
            <a:extLst xmlns:a="http://schemas.openxmlformats.org/drawingml/2006/main">
              <a:ext uri="{FF2B5EF4-FFF2-40B4-BE49-F238E27FC236}">
                <a16:creationId xmlns:a16="http://schemas.microsoft.com/office/drawing/2014/main" id="{1F6A6B37-C110-48B0-950D-C4BBFBE6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0769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t>Haaland</a:t>
            </a:r>
          </a:p>
        </p:txBody>
      </p:sp>
      <p:sp>
        <p:nvSpPr>
          <p:cNvPr id="26" name="analysis.dot.4">
            <a:extLst xmlns:a="http://schemas.openxmlformats.org/drawingml/2006/main">
              <a:ext uri="{FF2B5EF4-FFF2-40B4-BE49-F238E27FC236}">
                <a16:creationId xmlns:a16="http://schemas.microsoft.com/office/drawing/2014/main" id="{72C3963D-2370-42C7-A017-F9290E45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57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27" name="analysis.dot.label.4">
            <a:extLst xmlns:a="http://schemas.openxmlformats.org/drawingml/2006/main">
              <a:ext uri="{FF2B5EF4-FFF2-40B4-BE49-F238E27FC236}">
                <a16:creationId xmlns:a16="http://schemas.microsoft.com/office/drawing/2014/main" id="{F79859BE-465C-4159-8F96-2518B738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65341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t>Dhoni</a:t>
            </a:r>
          </a:p>
        </p:txBody>
      </p:sp>
      <p:sp>
        <p:nvSpPr>
          <p:cNvPr id="28" name="analysis.0.photo.frame">
            <a:extLst xmlns:a="http://schemas.openxmlformats.org/drawingml/2006/main">
              <a:ext uri="{FF2B5EF4-FFF2-40B4-BE49-F238E27FC236}">
                <a16:creationId xmlns:a16="http://schemas.microsoft.com/office/drawing/2014/main" id="{C8C504AC-B23E-4606-8CCB-9CB7AF85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14700"/>
            <a:ext cx="990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E50914"/>
            </a:solidFill>
            <a:prstDash val="solid"/>
          </a:ln>
        </p:spPr>
      </p:sp>
      <p:pic>
        <p:nvPicPr>
          <p:cNvPr id="29" name="analysis.0.photo.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822ac8cb64467"/>
          <a:srcRect xmlns:a="http://schemas.openxmlformats.org/drawingml/2006/main" l="0" t="12111" r="0" b="12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3900" y="3371850"/>
            <a:ext cx="876300" cy="876300"/>
          </a:xfrm>
          <a:prstGeom xmlns:a="http://schemas.openxmlformats.org/drawingml/2006/main" prst="roundRect">
            <a:avLst/>
          </a:prstGeom>
        </p:spPr>
      </p:pic>
      <p:sp>
        <p:nvSpPr>
          <p:cNvPr id="30" name="analysis.0.name">
            <a:extLst xmlns:a="http://schemas.openxmlformats.org/drawingml/2006/main">
              <a:ext uri="{FF2B5EF4-FFF2-40B4-BE49-F238E27FC236}">
                <a16:creationId xmlns:a16="http://schemas.microsoft.com/office/drawing/2014/main" id="{168D5017-37D9-4F97-8AD6-B5B371FF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90900"/>
            <a:ext cx="2857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t>Max Verstappen</a:t>
            </a:r>
          </a:p>
        </p:txBody>
      </p:sp>
      <p:sp>
        <p:nvSpPr>
          <p:cNvPr id="31" name="analysis.0.tag">
            <a:extLst xmlns:a="http://schemas.openxmlformats.org/drawingml/2006/main">
              <a:ext uri="{FF2B5EF4-FFF2-40B4-BE49-F238E27FC236}">
                <a16:creationId xmlns:a16="http://schemas.microsoft.com/office/drawing/2014/main" id="{27612124-C2DA-4DB5-98DA-EA05CBE6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338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0914"/>
                </a:solidFill>
              </a:defRPr>
            </a:pPr>
            <a:r>
              <a:t>C/VC upside</a:t>
            </a:r>
          </a:p>
        </p:txBody>
      </p:sp>
      <p:sp>
        <p:nvSpPr>
          <p:cNvPr id="32" name="analysis.0.form.bg">
            <a:extLst xmlns:a="http://schemas.openxmlformats.org/drawingml/2006/main">
              <a:ext uri="{FF2B5EF4-FFF2-40B4-BE49-F238E27FC236}">
                <a16:creationId xmlns:a16="http://schemas.microsoft.com/office/drawing/2014/main" id="{6A02909C-8F9C-49BB-B9E5-64EDD3E3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4671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B44"/>
          </a:solidFill>
          <a:ln xmlns:a="http://schemas.openxmlformats.org/drawingml/2006/main" w="0">
            <a:solidFill>
              <a:srgbClr val="302B44"/>
            </a:solidFill>
            <a:prstDash val="solid"/>
          </a:ln>
        </p:spPr>
      </p:sp>
      <p:sp>
        <p:nvSpPr>
          <p:cNvPr id="33" name="analysis.0.form">
            <a:extLst xmlns:a="http://schemas.openxmlformats.org/drawingml/2006/main">
              <a:ext uri="{FF2B5EF4-FFF2-40B4-BE49-F238E27FC236}">
                <a16:creationId xmlns:a16="http://schemas.microsoft.com/office/drawing/2014/main" id="{9F2A54AA-DC59-43E1-A4E7-B73FB4E1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467100"/>
            <a:ext cx="224028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34" name="analysis.0.form.label">
            <a:extLst xmlns:a="http://schemas.openxmlformats.org/drawingml/2006/main">
              <a:ext uri="{FF2B5EF4-FFF2-40B4-BE49-F238E27FC236}">
                <a16:creationId xmlns:a16="http://schemas.microsoft.com/office/drawing/2014/main" id="{07746123-9C6A-4FF2-999A-5FF94F72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3390900"/>
            <a:ext cx="1047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4F5"/>
                </a:solidFill>
              </a:defRPr>
            </a:pPr>
            <a:r>
              <a:t>Form 9.8</a:t>
            </a:r>
          </a:p>
        </p:txBody>
      </p:sp>
      <p:sp>
        <p:nvSpPr>
          <p:cNvPr id="35" name="analysis.0.credit.bg">
            <a:extLst xmlns:a="http://schemas.openxmlformats.org/drawingml/2006/main">
              <a:ext uri="{FF2B5EF4-FFF2-40B4-BE49-F238E27FC236}">
                <a16:creationId xmlns:a16="http://schemas.microsoft.com/office/drawing/2014/main" id="{2B6540DB-D864-40EC-95B3-0B1DC791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9243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B44"/>
          </a:solidFill>
          <a:ln xmlns:a="http://schemas.openxmlformats.org/drawingml/2006/main" w="0">
            <a:solidFill>
              <a:srgbClr val="302B44"/>
            </a:solidFill>
            <a:prstDash val="solid"/>
          </a:ln>
        </p:spPr>
      </p:sp>
      <p:sp>
        <p:nvSpPr>
          <p:cNvPr id="36" name="analysis.0.credit">
            <a:extLst xmlns:a="http://schemas.openxmlformats.org/drawingml/2006/main">
              <a:ext uri="{FF2B5EF4-FFF2-40B4-BE49-F238E27FC236}">
                <a16:creationId xmlns:a16="http://schemas.microsoft.com/office/drawing/2014/main" id="{8F42C206-8786-49F8-82B7-3F1D97E6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924300"/>
            <a:ext cx="22002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37" name="analysis.0.credit.label">
            <a:extLst xmlns:a="http://schemas.openxmlformats.org/drawingml/2006/main">
              <a:ext uri="{FF2B5EF4-FFF2-40B4-BE49-F238E27FC236}">
                <a16:creationId xmlns:a16="http://schemas.microsoft.com/office/drawing/2014/main" id="{26090AF1-5747-4F1B-A84C-1CD0ABFA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3848100"/>
            <a:ext cx="12382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4F5"/>
                </a:solidFill>
              </a:defRPr>
            </a:pPr>
            <a:r>
              <a:t>Credits 10.5</a:t>
            </a:r>
          </a:p>
        </p:txBody>
      </p:sp>
      <p:sp>
        <p:nvSpPr>
          <p:cNvPr id="38" name="analysis.1.photo.frame">
            <a:extLst xmlns:a="http://schemas.openxmlformats.org/drawingml/2006/main">
              <a:ext uri="{FF2B5EF4-FFF2-40B4-BE49-F238E27FC236}">
                <a16:creationId xmlns:a16="http://schemas.microsoft.com/office/drawing/2014/main" id="{461425A3-F1DA-4AD0-9DD1-A043FD24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95800"/>
            <a:ext cx="990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FFD700"/>
            </a:solidFill>
            <a:prstDash val="solid"/>
          </a:ln>
        </p:spPr>
      </p:sp>
      <p:pic>
        <p:nvPicPr>
          <p:cNvPr id="39" name="analysis.1.photo.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10089d25f483b"/>
          <a:srcRect xmlns:a="http://schemas.openxmlformats.org/drawingml/2006/main" l="0" t="11414" r="0" b="114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3900" y="4552950"/>
            <a:ext cx="876300" cy="876300"/>
          </a:xfrm>
          <a:prstGeom xmlns:a="http://schemas.openxmlformats.org/drawingml/2006/main" prst="roundRect">
            <a:avLst/>
          </a:prstGeom>
        </p:spPr>
      </p:pic>
      <p:sp>
        <p:nvSpPr>
          <p:cNvPr id="40" name="analysis.1.name">
            <a:extLst xmlns:a="http://schemas.openxmlformats.org/drawingml/2006/main">
              <a:ext uri="{FF2B5EF4-FFF2-40B4-BE49-F238E27FC236}">
                <a16:creationId xmlns:a16="http://schemas.microsoft.com/office/drawing/2014/main" id="{42D41145-2B82-42DA-8D53-153E5864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72000"/>
            <a:ext cx="2857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t>Rohit Sharma</a:t>
            </a:r>
          </a:p>
        </p:txBody>
      </p:sp>
      <p:sp>
        <p:nvSpPr>
          <p:cNvPr id="41" name="analysis.1.tag">
            <a:extLst xmlns:a="http://schemas.openxmlformats.org/drawingml/2006/main">
              <a:ext uri="{FF2B5EF4-FFF2-40B4-BE49-F238E27FC236}">
                <a16:creationId xmlns:a16="http://schemas.microsoft.com/office/drawing/2014/main" id="{9A375917-6934-4C6E-8DED-C2C718EB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149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D700"/>
                </a:solidFill>
              </a:defRPr>
            </a:pPr>
            <a:r>
              <a:t>Opening impact</a:t>
            </a:r>
          </a:p>
        </p:txBody>
      </p:sp>
      <p:sp>
        <p:nvSpPr>
          <p:cNvPr id="42" name="analysis.1.form.bg">
            <a:extLst xmlns:a="http://schemas.openxmlformats.org/drawingml/2006/main">
              <a:ext uri="{FF2B5EF4-FFF2-40B4-BE49-F238E27FC236}">
                <a16:creationId xmlns:a16="http://schemas.microsoft.com/office/drawing/2014/main" id="{12CB0175-EA70-408E-A379-27ABF03C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6482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B44"/>
          </a:solidFill>
          <a:ln xmlns:a="http://schemas.openxmlformats.org/drawingml/2006/main" w="0">
            <a:solidFill>
              <a:srgbClr val="302B44"/>
            </a:solidFill>
            <a:prstDash val="solid"/>
          </a:ln>
        </p:spPr>
      </p:sp>
      <p:sp>
        <p:nvSpPr>
          <p:cNvPr id="43" name="analysis.1.form">
            <a:extLst xmlns:a="http://schemas.openxmlformats.org/drawingml/2006/main">
              <a:ext uri="{FF2B5EF4-FFF2-40B4-BE49-F238E27FC236}">
                <a16:creationId xmlns:a16="http://schemas.microsoft.com/office/drawing/2014/main" id="{C0023C49-A55B-44AA-9761-8DC0DCD3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648200"/>
            <a:ext cx="203454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  <a:ln xmlns:a="http://schemas.openxmlformats.org/drawingml/2006/main" w="0">
            <a:solidFill>
              <a:srgbClr val="FFD700"/>
            </a:solidFill>
            <a:prstDash val="solid"/>
          </a:ln>
        </p:spPr>
      </p:sp>
      <p:sp>
        <p:nvSpPr>
          <p:cNvPr id="44" name="analysis.1.form.label">
            <a:extLst xmlns:a="http://schemas.openxmlformats.org/drawingml/2006/main">
              <a:ext uri="{FF2B5EF4-FFF2-40B4-BE49-F238E27FC236}">
                <a16:creationId xmlns:a16="http://schemas.microsoft.com/office/drawing/2014/main" id="{09288911-3765-4362-975F-2E51B114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4572000"/>
            <a:ext cx="1047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4F5"/>
                </a:solidFill>
              </a:defRPr>
            </a:pPr>
            <a:r>
              <a:t>Form 8.9</a:t>
            </a:r>
          </a:p>
        </p:txBody>
      </p:sp>
      <p:sp>
        <p:nvSpPr>
          <p:cNvPr id="45" name="analysis.1.credit.bg">
            <a:extLst xmlns:a="http://schemas.openxmlformats.org/drawingml/2006/main">
              <a:ext uri="{FF2B5EF4-FFF2-40B4-BE49-F238E27FC236}">
                <a16:creationId xmlns:a16="http://schemas.microsoft.com/office/drawing/2014/main" id="{076998F2-C7C2-4505-A0BE-4DC6881C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1054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B44"/>
          </a:solidFill>
          <a:ln xmlns:a="http://schemas.openxmlformats.org/drawingml/2006/main" w="0">
            <a:solidFill>
              <a:srgbClr val="302B44"/>
            </a:solidFill>
            <a:prstDash val="solid"/>
          </a:ln>
        </p:spPr>
      </p:sp>
      <p:sp>
        <p:nvSpPr>
          <p:cNvPr id="46" name="analysis.1.credit">
            <a:extLst xmlns:a="http://schemas.openxmlformats.org/drawingml/2006/main">
              <a:ext uri="{FF2B5EF4-FFF2-40B4-BE49-F238E27FC236}">
                <a16:creationId xmlns:a16="http://schemas.microsoft.com/office/drawing/2014/main" id="{CEC3DB92-041A-48B5-999E-6833B131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105400"/>
            <a:ext cx="19907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47" name="analysis.1.credit.label">
            <a:extLst xmlns:a="http://schemas.openxmlformats.org/drawingml/2006/main">
              <a:ext uri="{FF2B5EF4-FFF2-40B4-BE49-F238E27FC236}">
                <a16:creationId xmlns:a16="http://schemas.microsoft.com/office/drawing/2014/main" id="{93B19174-F4B8-4717-8BAE-84797A7F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5029200"/>
            <a:ext cx="12382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4F5"/>
                </a:solidFill>
              </a:defRPr>
            </a:pPr>
            <a:r>
              <a:t>Credits 9.5</a:t>
            </a:r>
          </a:p>
        </p:txBody>
      </p:sp>
      <p:sp>
        <p:nvSpPr>
          <p:cNvPr id="48" name="analysis.2.photo.frame">
            <a:extLst xmlns:a="http://schemas.openxmlformats.org/drawingml/2006/main">
              <a:ext uri="{FF2B5EF4-FFF2-40B4-BE49-F238E27FC236}">
                <a16:creationId xmlns:a16="http://schemas.microsoft.com/office/drawing/2014/main" id="{2E0A6A32-1744-453F-8C09-DBF7FBDC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76900"/>
            <a:ext cx="990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00FF87"/>
            </a:solidFill>
            <a:prstDash val="solid"/>
          </a:ln>
        </p:spPr>
      </p:sp>
      <p:pic>
        <p:nvPicPr>
          <p:cNvPr id="49" name="analysis.2.photo.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295108294411d"/>
          <a:srcRect xmlns:a="http://schemas.openxmlformats.org/drawingml/2006/main" l="0" t="6462" r="0" b="64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3900" y="5734050"/>
            <a:ext cx="876300" cy="876300"/>
          </a:xfrm>
          <a:prstGeom xmlns:a="http://schemas.openxmlformats.org/drawingml/2006/main" prst="roundRect">
            <a:avLst/>
          </a:prstGeom>
        </p:spPr>
      </p:pic>
      <p:sp>
        <p:nvSpPr>
          <p:cNvPr id="50" name="analysis.2.name">
            <a:extLst xmlns:a="http://schemas.openxmlformats.org/drawingml/2006/main">
              <a:ext uri="{FF2B5EF4-FFF2-40B4-BE49-F238E27FC236}">
                <a16:creationId xmlns:a16="http://schemas.microsoft.com/office/drawing/2014/main" id="{F384B302-FF99-4B43-944B-E4B71328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753100"/>
            <a:ext cx="2857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t>Cristiano Ronaldo</a:t>
            </a:r>
          </a:p>
        </p:txBody>
      </p:sp>
      <p:sp>
        <p:nvSpPr>
          <p:cNvPr id="51" name="analysis.2.tag">
            <a:extLst xmlns:a="http://schemas.openxmlformats.org/drawingml/2006/main">
              <a:ext uri="{FF2B5EF4-FFF2-40B4-BE49-F238E27FC236}">
                <a16:creationId xmlns:a16="http://schemas.microsoft.com/office/drawing/2014/main" id="{BA5C384B-2BF5-45EA-9C25-864643A6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0960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FF87"/>
                </a:solidFill>
              </a:defRPr>
            </a:pPr>
            <a:r>
              <a:t>Goal threat</a:t>
            </a:r>
          </a:p>
        </p:txBody>
      </p:sp>
      <p:sp>
        <p:nvSpPr>
          <p:cNvPr id="52" name="analysis.2.form.bg">
            <a:extLst xmlns:a="http://schemas.openxmlformats.org/drawingml/2006/main">
              <a:ext uri="{FF2B5EF4-FFF2-40B4-BE49-F238E27FC236}">
                <a16:creationId xmlns:a16="http://schemas.microsoft.com/office/drawing/2014/main" id="{D1FA688A-1282-4CBF-90EE-1DCA1BD8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8293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B44"/>
          </a:solidFill>
          <a:ln xmlns:a="http://schemas.openxmlformats.org/drawingml/2006/main" w="0">
            <a:solidFill>
              <a:srgbClr val="302B44"/>
            </a:solidFill>
            <a:prstDash val="solid"/>
          </a:ln>
        </p:spPr>
      </p:sp>
      <p:sp>
        <p:nvSpPr>
          <p:cNvPr id="53" name="analysis.2.form">
            <a:extLst xmlns:a="http://schemas.openxmlformats.org/drawingml/2006/main">
              <a:ext uri="{FF2B5EF4-FFF2-40B4-BE49-F238E27FC236}">
                <a16:creationId xmlns:a16="http://schemas.microsoft.com/office/drawing/2014/main" id="{CBBFA984-8202-4DF8-9B4D-D74EA806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829300"/>
            <a:ext cx="198882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7"/>
          </a:solidFill>
          <a:ln xmlns:a="http://schemas.openxmlformats.org/drawingml/2006/main" w="0">
            <a:solidFill>
              <a:srgbClr val="00FF87"/>
            </a:solidFill>
            <a:prstDash val="solid"/>
          </a:ln>
        </p:spPr>
      </p:sp>
      <p:sp>
        <p:nvSpPr>
          <p:cNvPr id="54" name="analysis.2.form.label">
            <a:extLst xmlns:a="http://schemas.openxmlformats.org/drawingml/2006/main">
              <a:ext uri="{FF2B5EF4-FFF2-40B4-BE49-F238E27FC236}">
                <a16:creationId xmlns:a16="http://schemas.microsoft.com/office/drawing/2014/main" id="{12D27515-3E23-4646-B065-89108BC1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5753100"/>
            <a:ext cx="1047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4F5"/>
                </a:solidFill>
              </a:defRPr>
            </a:pPr>
            <a:r>
              <a:t>Form 8.7</a:t>
            </a:r>
          </a:p>
        </p:txBody>
      </p:sp>
      <p:sp>
        <p:nvSpPr>
          <p:cNvPr id="55" name="analysis.2.credit.bg">
            <a:extLst xmlns:a="http://schemas.openxmlformats.org/drawingml/2006/main">
              <a:ext uri="{FF2B5EF4-FFF2-40B4-BE49-F238E27FC236}">
                <a16:creationId xmlns:a16="http://schemas.microsoft.com/office/drawing/2014/main" id="{1C9EF6B3-7A87-4326-B816-3E6C81F5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2865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B44"/>
          </a:solidFill>
          <a:ln xmlns:a="http://schemas.openxmlformats.org/drawingml/2006/main" w="0">
            <a:solidFill>
              <a:srgbClr val="302B44"/>
            </a:solidFill>
            <a:prstDash val="solid"/>
          </a:ln>
        </p:spPr>
      </p:sp>
      <p:sp>
        <p:nvSpPr>
          <p:cNvPr id="56" name="analysis.2.credit">
            <a:extLst xmlns:a="http://schemas.openxmlformats.org/drawingml/2006/main">
              <a:ext uri="{FF2B5EF4-FFF2-40B4-BE49-F238E27FC236}">
                <a16:creationId xmlns:a16="http://schemas.microsoft.com/office/drawing/2014/main" id="{66CCFFFF-10BB-4B2C-96E4-80F75A29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2865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57" name="analysis.2.credit.label">
            <a:extLst xmlns:a="http://schemas.openxmlformats.org/drawingml/2006/main">
              <a:ext uri="{FF2B5EF4-FFF2-40B4-BE49-F238E27FC236}">
                <a16:creationId xmlns:a16="http://schemas.microsoft.com/office/drawing/2014/main" id="{3F91F22A-706C-495E-95F2-3FCDA7A4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6210300"/>
            <a:ext cx="12382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4F5"/>
                </a:solidFill>
              </a:defRPr>
            </a:pPr>
            <a:r>
              <a:t>Credits 10</a:t>
            </a:r>
          </a:p>
        </p:txBody>
      </p:sp>
      <p:sp>
        <p:nvSpPr>
          <p:cNvPr id="58" name="analysis.3.photo.frame">
            <a:extLst xmlns:a="http://schemas.openxmlformats.org/drawingml/2006/main">
              <a:ext uri="{FF2B5EF4-FFF2-40B4-BE49-F238E27FC236}">
                <a16:creationId xmlns:a16="http://schemas.microsoft.com/office/drawing/2014/main" id="{BF744FBD-0B78-4AC7-AF2F-ECDFEE05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858000"/>
            <a:ext cx="990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00E5FF"/>
            </a:solidFill>
            <a:prstDash val="solid"/>
          </a:ln>
        </p:spPr>
      </p:sp>
      <p:pic>
        <p:nvPicPr>
          <p:cNvPr id="59" name="analysis.3.photo.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cd3b29ea14d50"/>
          <a:srcRect xmlns:a="http://schemas.openxmlformats.org/drawingml/2006/main" l="0" t="12611" r="0" b="126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3900" y="6915150"/>
            <a:ext cx="876300" cy="876300"/>
          </a:xfrm>
          <a:prstGeom xmlns:a="http://schemas.openxmlformats.org/drawingml/2006/main" prst="roundRect">
            <a:avLst/>
          </a:prstGeom>
        </p:spPr>
      </p:pic>
      <p:sp>
        <p:nvSpPr>
          <p:cNvPr id="60" name="analysis.3.name">
            <a:extLst xmlns:a="http://schemas.openxmlformats.org/drawingml/2006/main">
              <a:ext uri="{FF2B5EF4-FFF2-40B4-BE49-F238E27FC236}">
                <a16:creationId xmlns:a16="http://schemas.microsoft.com/office/drawing/2014/main" id="{E0A7CD72-FC28-4C0B-B8FA-ACD511D9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934200"/>
            <a:ext cx="2857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t>Lionel Messi</a:t>
            </a:r>
          </a:p>
        </p:txBody>
      </p:sp>
      <p:sp>
        <p:nvSpPr>
          <p:cNvPr id="61" name="analysis.3.tag">
            <a:extLst xmlns:a="http://schemas.openxmlformats.org/drawingml/2006/main">
              <a:ext uri="{FF2B5EF4-FFF2-40B4-BE49-F238E27FC236}">
                <a16:creationId xmlns:a16="http://schemas.microsoft.com/office/drawing/2014/main" id="{C2E1DE88-FBD0-4D1C-AF06-3C3C9A59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7277100"/>
            <a:ext cx="2476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E5FF"/>
                </a:solidFill>
              </a:defRPr>
            </a:pPr>
            <a:r>
              <a:t>Assist + goal</a:t>
            </a:r>
          </a:p>
        </p:txBody>
      </p:sp>
      <p:sp>
        <p:nvSpPr>
          <p:cNvPr id="62" name="analysis.3.form.bg">
            <a:extLst xmlns:a="http://schemas.openxmlformats.org/drawingml/2006/main">
              <a:ext uri="{FF2B5EF4-FFF2-40B4-BE49-F238E27FC236}">
                <a16:creationId xmlns:a16="http://schemas.microsoft.com/office/drawing/2014/main" id="{7F3BC971-FD2C-4A93-80A3-5AFBEE60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0104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B44"/>
          </a:solidFill>
          <a:ln xmlns:a="http://schemas.openxmlformats.org/drawingml/2006/main" w="0">
            <a:solidFill>
              <a:srgbClr val="302B44"/>
            </a:solidFill>
            <a:prstDash val="solid"/>
          </a:ln>
        </p:spPr>
      </p:sp>
      <p:sp>
        <p:nvSpPr>
          <p:cNvPr id="63" name="analysis.3.form">
            <a:extLst xmlns:a="http://schemas.openxmlformats.org/drawingml/2006/main">
              <a:ext uri="{FF2B5EF4-FFF2-40B4-BE49-F238E27FC236}">
                <a16:creationId xmlns:a16="http://schemas.microsoft.com/office/drawing/2014/main" id="{2F90704D-5734-4958-808E-DC5B2A5F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010400"/>
            <a:ext cx="210312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64" name="analysis.3.form.label">
            <a:extLst xmlns:a="http://schemas.openxmlformats.org/drawingml/2006/main">
              <a:ext uri="{FF2B5EF4-FFF2-40B4-BE49-F238E27FC236}">
                <a16:creationId xmlns:a16="http://schemas.microsoft.com/office/drawing/2014/main" id="{A0E0B619-3E1B-4E31-8BF9-BCCFD121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6934200"/>
            <a:ext cx="1047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4F5"/>
                </a:solidFill>
              </a:defRPr>
            </a:pPr>
            <a:r>
              <a:t>Form 9.2</a:t>
            </a:r>
          </a:p>
        </p:txBody>
      </p:sp>
      <p:sp>
        <p:nvSpPr>
          <p:cNvPr id="65" name="analysis.3.credit.bg">
            <a:extLst xmlns:a="http://schemas.openxmlformats.org/drawingml/2006/main">
              <a:ext uri="{FF2B5EF4-FFF2-40B4-BE49-F238E27FC236}">
                <a16:creationId xmlns:a16="http://schemas.microsoft.com/office/drawing/2014/main" id="{B3B25A27-661D-4410-8718-80D95C82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676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B44"/>
          </a:solidFill>
          <a:ln xmlns:a="http://schemas.openxmlformats.org/drawingml/2006/main" w="0">
            <a:solidFill>
              <a:srgbClr val="302B44"/>
            </a:solidFill>
            <a:prstDash val="solid"/>
          </a:ln>
        </p:spPr>
      </p:sp>
      <p:sp>
        <p:nvSpPr>
          <p:cNvPr id="66" name="analysis.3.credit">
            <a:extLst xmlns:a="http://schemas.openxmlformats.org/drawingml/2006/main">
              <a:ext uri="{FF2B5EF4-FFF2-40B4-BE49-F238E27FC236}">
                <a16:creationId xmlns:a16="http://schemas.microsoft.com/office/drawing/2014/main" id="{4838143A-CF63-4918-90BB-EA941815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676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67" name="analysis.3.credit.label">
            <a:extLst xmlns:a="http://schemas.openxmlformats.org/drawingml/2006/main">
              <a:ext uri="{FF2B5EF4-FFF2-40B4-BE49-F238E27FC236}">
                <a16:creationId xmlns:a16="http://schemas.microsoft.com/office/drawing/2014/main" id="{B5F48E5B-DE57-4AA8-8CAD-A0B92497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7391400"/>
            <a:ext cx="12382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4F5"/>
                </a:solidFill>
              </a:defRPr>
            </a:pPr>
            <a:r>
              <a:t>Credits 10</a:t>
            </a:r>
          </a:p>
        </p:txBody>
      </p:sp>
      <p:sp>
        <p:nvSpPr>
          <p:cNvPr id="68" name="analysis.caption">
            <a:extLst xmlns:a="http://schemas.openxmlformats.org/drawingml/2006/main">
              <a:ext uri="{FF2B5EF4-FFF2-40B4-BE49-F238E27FC236}">
                <a16:creationId xmlns:a16="http://schemas.microsoft.com/office/drawing/2014/main" id="{2BE00B83-EAA9-4447-AF56-E1CE9211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8572500"/>
            <a:ext cx="135255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1A1AA"/>
                </a:solidFill>
              </a:defRPr>
            </a:pPr>
            <a:r>
              <a:t>Analysis images to include in a future product: ownership heatmaps, captain-risk radar, credits-vs-form scatter, and matchup trend cards.</a:t>
            </a:r>
          </a:p>
        </p:txBody>
      </p:sp>
    </p:spTree>
    <p:extLst>
      <p:ext uri="{BB962C8B-B14F-4D97-AF65-F5344CB8AC3E}">
        <p14:creationId xmlns:p14="http://schemas.microsoft.com/office/powerpoint/2010/main" val="77321365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.16">
            <a:extLst xmlns:a="http://schemas.openxmlformats.org/drawingml/2006/main">
              <a:ext uri="{FF2B5EF4-FFF2-40B4-BE49-F238E27FC236}">
                <a16:creationId xmlns:a16="http://schemas.microsoft.com/office/drawing/2014/main" id="{36B362B4-BC09-48B9-949C-8656CC04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50A"/>
              </a:gs>
              <a:gs pos="54000">
                <a:srgbClr val="101027"/>
              </a:gs>
              <a:gs pos="100000">
                <a:srgbClr val="1A1026"/>
              </a:gs>
            </a:gsLst>
            <a:lin ang="1500000"/>
          </a:gradFill>
          <a:ln xmlns:a="http://schemas.openxmlformats.org/drawingml/2006/main" w="0">
            <a:solidFill>
              <a:srgbClr val="05050A"/>
            </a:solidFill>
            <a:prstDash val="solid"/>
          </a:ln>
        </p:spPr>
      </p:sp>
      <p:sp>
        <p:nvSpPr>
          <p:cNvPr id="2" name="accent.slash.16.1">
            <a:extLst xmlns:a="http://schemas.openxmlformats.org/drawingml/2006/main">
              <a:ext uri="{FF2B5EF4-FFF2-40B4-BE49-F238E27FC236}">
                <a16:creationId xmlns:a16="http://schemas.microsoft.com/office/drawing/2014/main" id="{C5F73FE2-E988-4F91-AE7B-F9381EE8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6954500" y="-1714500"/>
            <a:ext cx="8572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3" name="accent.slash.16.2">
            <a:extLst xmlns:a="http://schemas.openxmlformats.org/drawingml/2006/main">
              <a:ext uri="{FF2B5EF4-FFF2-40B4-BE49-F238E27FC236}">
                <a16:creationId xmlns:a16="http://schemas.microsoft.com/office/drawing/2014/main" id="{5DA7274F-34B3-4453-9E65-535ADD2B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8021300" y="-1714500"/>
            <a:ext cx="2857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" name="accent.floor.16">
            <a:extLst xmlns:a="http://schemas.openxmlformats.org/drawingml/2006/main">
              <a:ext uri="{FF2B5EF4-FFF2-40B4-BE49-F238E27FC236}">
                <a16:creationId xmlns:a16="http://schemas.microsoft.com/office/drawing/2014/main" id="{6177E80B-6F35-4CFA-A09B-AA885828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0"/>
            <a:ext cx="1828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</p:sp>
      <p:sp>
        <p:nvSpPr>
          <p:cNvPr id="5" name="accent.floor.line.16">
            <a:extLst xmlns:a="http://schemas.openxmlformats.org/drawingml/2006/main">
              <a:ext uri="{FF2B5EF4-FFF2-40B4-BE49-F238E27FC236}">
                <a16:creationId xmlns:a16="http://schemas.microsoft.com/office/drawing/2014/main" id="{78546EC1-B763-40BD-9D0C-47449A70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6" name="footer.section.16">
            <a:extLst xmlns:a="http://schemas.openxmlformats.org/drawingml/2006/main">
              <a:ext uri="{FF2B5EF4-FFF2-40B4-BE49-F238E27FC236}">
                <a16:creationId xmlns:a16="http://schemas.microsoft.com/office/drawing/2014/main" id="{AEB2B46A-DBF1-470E-B3D7-8ACADE5D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</a:defRPr>
            </a:pPr>
            <a:r>
              <a:t>TECH STACK</a:t>
            </a:r>
          </a:p>
        </p:txBody>
      </p:sp>
      <p:sp>
        <p:nvSpPr>
          <p:cNvPr id="7" name="footer.page.16">
            <a:extLst xmlns:a="http://schemas.openxmlformats.org/drawingml/2006/main">
              <a:ext uri="{FF2B5EF4-FFF2-40B4-BE49-F238E27FC236}">
                <a16:creationId xmlns:a16="http://schemas.microsoft.com/office/drawing/2014/main" id="{77B25330-8539-4194-9E61-0D1B6099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6202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E5FF"/>
                </a:solidFill>
              </a:defRPr>
            </a:pPr>
            <a:r>
              <a:t>16</a:t>
            </a:r>
          </a:p>
        </p:txBody>
      </p:sp>
      <p:sp>
        <p:nvSpPr>
          <p:cNvPr id="8" name="label.TECH STACK">
            <a:extLst xmlns:a="http://schemas.openxmlformats.org/drawingml/2006/main">
              <a:ext uri="{FF2B5EF4-FFF2-40B4-BE49-F238E27FC236}">
                <a16:creationId xmlns:a16="http://schemas.microsoft.com/office/drawing/2014/main" id="{C76ED811-BF90-45B7-8D9A-F349D944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038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107A"/>
                </a:solidFill>
              </a:defRPr>
            </a:pPr>
            <a:r>
              <a:t>TECH STACK</a:t>
            </a:r>
          </a:p>
        </p:txBody>
      </p:sp>
      <p:sp>
        <p:nvSpPr>
          <p:cNvPr id="9" name="slide-title.16">
            <a:extLst xmlns:a="http://schemas.openxmlformats.org/drawingml/2006/main">
              <a:ext uri="{FF2B5EF4-FFF2-40B4-BE49-F238E27FC236}">
                <a16:creationId xmlns:a16="http://schemas.microsoft.com/office/drawing/2014/main" id="{A2F4E2DB-4508-4B24-BEF2-4D4DEF07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90625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t>Modern web stack with real-time and media capabilities</a:t>
            </a:r>
          </a:p>
        </p:txBody>
      </p:sp>
      <p:sp>
        <p:nvSpPr>
          <p:cNvPr id="10" name="slide-subtitle.16">
            <a:extLst xmlns:a="http://schemas.openxmlformats.org/drawingml/2006/main">
              <a:ext uri="{FF2B5EF4-FFF2-40B4-BE49-F238E27FC236}">
                <a16:creationId xmlns:a16="http://schemas.microsoft.com/office/drawing/2014/main" id="{1E0ED44A-0AE4-4BD5-A2E0-1B775C26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104900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A1AA"/>
                </a:solidFill>
              </a:defRPr>
            </a:pPr>
            <a:r>
              <a:t>The implementation combines frontend polish with backend services that make live interaction possible.</a:t>
            </a:r>
          </a:p>
        </p:txBody>
      </p:sp>
      <p:sp>
        <p:nvSpPr>
          <p:cNvPr id="11" name="stack.table.frame">
            <a:extLst xmlns:a="http://schemas.openxmlformats.org/drawingml/2006/main">
              <a:ext uri="{FF2B5EF4-FFF2-40B4-BE49-F238E27FC236}">
                <a16:creationId xmlns:a16="http://schemas.microsoft.com/office/drawing/2014/main" id="{3A00EBA8-5D3A-42A1-83F0-104AB0E9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71850"/>
            <a:ext cx="13811250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12" name="stack.table.header.0">
            <a:extLst xmlns:a="http://schemas.openxmlformats.org/drawingml/2006/main">
              <a:ext uri="{FF2B5EF4-FFF2-40B4-BE49-F238E27FC236}">
                <a16:creationId xmlns:a16="http://schemas.microsoft.com/office/drawing/2014/main" id="{5CD97F58-82B7-44AE-9249-BA290A99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67100"/>
            <a:ext cx="196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E5FF"/>
                </a:solidFill>
              </a:defRPr>
            </a:pPr>
            <a:r>
              <a:t>Layer</a:t>
            </a:r>
          </a:p>
        </p:txBody>
      </p:sp>
      <p:sp>
        <p:nvSpPr>
          <p:cNvPr id="13" name="stack.table.header.1">
            <a:extLst xmlns:a="http://schemas.openxmlformats.org/drawingml/2006/main">
              <a:ext uri="{FF2B5EF4-FFF2-40B4-BE49-F238E27FC236}">
                <a16:creationId xmlns:a16="http://schemas.microsoft.com/office/drawing/2014/main" id="{3BF87A60-0372-4E7A-8EAD-47E18BE5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67100"/>
            <a:ext cx="510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E5FF"/>
                </a:solidFill>
              </a:defRPr>
            </a:pPr>
            <a:r>
              <a:t>Technology</a:t>
            </a:r>
          </a:p>
        </p:txBody>
      </p:sp>
      <p:sp>
        <p:nvSpPr>
          <p:cNvPr id="14" name="stack.table.header.2">
            <a:extLst xmlns:a="http://schemas.openxmlformats.org/drawingml/2006/main">
              <a:ext uri="{FF2B5EF4-FFF2-40B4-BE49-F238E27FC236}">
                <a16:creationId xmlns:a16="http://schemas.microsoft.com/office/drawing/2014/main" id="{E9143504-B559-4710-9EF9-2934ED36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67100"/>
            <a:ext cx="6057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E5FF"/>
                </a:solidFill>
              </a:defRPr>
            </a:pPr>
            <a:r>
              <a:t>Purpose</a:t>
            </a:r>
          </a:p>
        </p:txBody>
      </p:sp>
      <p:sp>
        <p:nvSpPr>
          <p:cNvPr id="15" name="stack.table.row.0">
            <a:extLst xmlns:a="http://schemas.openxmlformats.org/drawingml/2006/main">
              <a:ext uri="{FF2B5EF4-FFF2-40B4-BE49-F238E27FC236}">
                <a16:creationId xmlns:a16="http://schemas.microsoft.com/office/drawing/2014/main" id="{9161C37F-A1F2-4F39-B9A8-8BF24785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38600"/>
            <a:ext cx="135445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16" name="stack.table.cell.0.0">
            <a:extLst xmlns:a="http://schemas.openxmlformats.org/drawingml/2006/main">
              <a:ext uri="{FF2B5EF4-FFF2-40B4-BE49-F238E27FC236}">
                <a16:creationId xmlns:a16="http://schemas.microsoft.com/office/drawing/2014/main" id="{4E80F5C0-E2EA-45BA-8A95-92B75E2E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52900"/>
            <a:ext cx="196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17" name="stack.table.cell.0.1">
            <a:extLst xmlns:a="http://schemas.openxmlformats.org/drawingml/2006/main">
              <a:ext uri="{FF2B5EF4-FFF2-40B4-BE49-F238E27FC236}">
                <a16:creationId xmlns:a16="http://schemas.microsoft.com/office/drawing/2014/main" id="{7D00A6FC-4432-4114-ACCC-DCBEF1ED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52900"/>
            <a:ext cx="510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</a:defRPr>
            </a:pPr>
            <a:r>
              <a:t>React 19, Vite, React Router, lucide-react</a:t>
            </a:r>
          </a:p>
        </p:txBody>
      </p:sp>
      <p:sp>
        <p:nvSpPr>
          <p:cNvPr id="18" name="stack.table.cell.0.2">
            <a:extLst xmlns:a="http://schemas.openxmlformats.org/drawingml/2006/main">
              <a:ext uri="{FF2B5EF4-FFF2-40B4-BE49-F238E27FC236}">
                <a16:creationId xmlns:a16="http://schemas.microsoft.com/office/drawing/2014/main" id="{33025486-A534-4695-A4AC-1C8F4B07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52900"/>
            <a:ext cx="6057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</a:defRPr>
            </a:pPr>
            <a:r>
              <a:t>Interactive pages, navigation, icons</a:t>
            </a:r>
          </a:p>
        </p:txBody>
      </p:sp>
      <p:sp>
        <p:nvSpPr>
          <p:cNvPr id="19" name="stack.table.row.1">
            <a:extLst xmlns:a="http://schemas.openxmlformats.org/drawingml/2006/main">
              <a:ext uri="{FF2B5EF4-FFF2-40B4-BE49-F238E27FC236}">
                <a16:creationId xmlns:a16="http://schemas.microsoft.com/office/drawing/2014/main" id="{B1DFB51D-7078-4DD9-A3CE-D3B8A0CC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05350"/>
            <a:ext cx="135445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047"/>
          </a:solidFill>
          <a:ln xmlns:a="http://schemas.openxmlformats.org/drawingml/2006/main" w="0">
            <a:solidFill>
              <a:srgbClr val="343047"/>
            </a:solidFill>
            <a:prstDash val="solid"/>
          </a:ln>
        </p:spPr>
      </p:sp>
      <p:sp>
        <p:nvSpPr>
          <p:cNvPr id="20" name="stack.table.cell.1.0">
            <a:extLst xmlns:a="http://schemas.openxmlformats.org/drawingml/2006/main">
              <a:ext uri="{FF2B5EF4-FFF2-40B4-BE49-F238E27FC236}">
                <a16:creationId xmlns:a16="http://schemas.microsoft.com/office/drawing/2014/main" id="{F505289D-F722-4851-9C4D-25C74DC6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9650"/>
            <a:ext cx="196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t>Visuals</a:t>
            </a:r>
          </a:p>
        </p:txBody>
      </p:sp>
      <p:sp>
        <p:nvSpPr>
          <p:cNvPr id="21" name="stack.table.cell.1.1">
            <a:extLst xmlns:a="http://schemas.openxmlformats.org/drawingml/2006/main">
              <a:ext uri="{FF2B5EF4-FFF2-40B4-BE49-F238E27FC236}">
                <a16:creationId xmlns:a16="http://schemas.microsoft.com/office/drawing/2014/main" id="{0506E231-D3E8-47ED-9EC3-FCBE5B35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19650"/>
            <a:ext cx="510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</a:defRPr>
            </a:pPr>
            <a:r>
              <a:t>Three.js, @react-three/fiber, CSS effects</a:t>
            </a:r>
          </a:p>
        </p:txBody>
      </p:sp>
      <p:sp>
        <p:nvSpPr>
          <p:cNvPr id="22" name="stack.table.cell.1.2">
            <a:extLst xmlns:a="http://schemas.openxmlformats.org/drawingml/2006/main">
              <a:ext uri="{FF2B5EF4-FFF2-40B4-BE49-F238E27FC236}">
                <a16:creationId xmlns:a16="http://schemas.microsoft.com/office/drawing/2014/main" id="{0AFE5D21-B79F-403B-BAEA-A9CC5A0A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19650"/>
            <a:ext cx="6057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</a:defRPr>
            </a:pPr>
            <a:r>
              <a:t>Futuristic animated interface</a:t>
            </a:r>
          </a:p>
        </p:txBody>
      </p:sp>
      <p:sp>
        <p:nvSpPr>
          <p:cNvPr id="23" name="stack.table.row.2">
            <a:extLst xmlns:a="http://schemas.openxmlformats.org/drawingml/2006/main">
              <a:ext uri="{FF2B5EF4-FFF2-40B4-BE49-F238E27FC236}">
                <a16:creationId xmlns:a16="http://schemas.microsoft.com/office/drawing/2014/main" id="{BDD6A3F3-1F79-4C0D-B9E3-2E4BDE38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72100"/>
            <a:ext cx="135445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047"/>
          </a:solidFill>
          <a:ln xmlns:a="http://schemas.openxmlformats.org/drawingml/2006/main" w="0">
            <a:solidFill>
              <a:srgbClr val="343047"/>
            </a:solidFill>
            <a:prstDash val="solid"/>
          </a:ln>
        </p:spPr>
      </p:sp>
      <p:sp>
        <p:nvSpPr>
          <p:cNvPr id="24" name="stack.table.cell.2.0">
            <a:extLst xmlns:a="http://schemas.openxmlformats.org/drawingml/2006/main">
              <a:ext uri="{FF2B5EF4-FFF2-40B4-BE49-F238E27FC236}">
                <a16:creationId xmlns:a16="http://schemas.microsoft.com/office/drawing/2014/main" id="{A47B1A92-3BF3-4B7C-88B8-59A60640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86400"/>
            <a:ext cx="196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25" name="stack.table.cell.2.1">
            <a:extLst xmlns:a="http://schemas.openxmlformats.org/drawingml/2006/main">
              <a:ext uri="{FF2B5EF4-FFF2-40B4-BE49-F238E27FC236}">
                <a16:creationId xmlns:a16="http://schemas.microsoft.com/office/drawing/2014/main" id="{A72313ED-F13F-49E3-985D-2B14F886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86400"/>
            <a:ext cx="510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</a:defRPr>
            </a:pPr>
            <a:r>
              <a:t>Express, Node.js, CORS</a:t>
            </a:r>
          </a:p>
        </p:txBody>
      </p:sp>
      <p:sp>
        <p:nvSpPr>
          <p:cNvPr id="26" name="stack.table.cell.2.2">
            <a:extLst xmlns:a="http://schemas.openxmlformats.org/drawingml/2006/main">
              <a:ext uri="{FF2B5EF4-FFF2-40B4-BE49-F238E27FC236}">
                <a16:creationId xmlns:a16="http://schemas.microsoft.com/office/drawing/2014/main" id="{7A21FE49-3E2A-4C73-9280-064FCAF3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486400"/>
            <a:ext cx="6057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</a:defRPr>
            </a:pPr>
            <a:r>
              <a:t>API routes and production serving</a:t>
            </a:r>
          </a:p>
        </p:txBody>
      </p:sp>
      <p:sp>
        <p:nvSpPr>
          <p:cNvPr id="27" name="stack.table.row.3">
            <a:extLst xmlns:a="http://schemas.openxmlformats.org/drawingml/2006/main">
              <a:ext uri="{FF2B5EF4-FFF2-40B4-BE49-F238E27FC236}">
                <a16:creationId xmlns:a16="http://schemas.microsoft.com/office/drawing/2014/main" id="{7B8ADFF5-05A1-4EA4-9795-922C9E7F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8850"/>
            <a:ext cx="135445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047"/>
          </a:solidFill>
          <a:ln xmlns:a="http://schemas.openxmlformats.org/drawingml/2006/main" w="0">
            <a:solidFill>
              <a:srgbClr val="343047"/>
            </a:solidFill>
            <a:prstDash val="solid"/>
          </a:ln>
        </p:spPr>
      </p:sp>
      <p:sp>
        <p:nvSpPr>
          <p:cNvPr id="28" name="stack.table.cell.3.0">
            <a:extLst xmlns:a="http://schemas.openxmlformats.org/drawingml/2006/main">
              <a:ext uri="{FF2B5EF4-FFF2-40B4-BE49-F238E27FC236}">
                <a16:creationId xmlns:a16="http://schemas.microsoft.com/office/drawing/2014/main" id="{13B21B10-C101-4461-9791-E84CF78E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153150"/>
            <a:ext cx="196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29" name="stack.table.cell.3.1">
            <a:extLst xmlns:a="http://schemas.openxmlformats.org/drawingml/2006/main">
              <a:ext uri="{FF2B5EF4-FFF2-40B4-BE49-F238E27FC236}">
                <a16:creationId xmlns:a16="http://schemas.microsoft.com/office/drawing/2014/main" id="{01A6300C-C3F5-4C9A-8C7A-D4791EAB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53150"/>
            <a:ext cx="510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</a:defRPr>
            </a:pPr>
            <a:r>
              <a:t>Prisma, SQLite</a:t>
            </a:r>
          </a:p>
        </p:txBody>
      </p:sp>
      <p:sp>
        <p:nvSpPr>
          <p:cNvPr id="30" name="stack.table.cell.3.2">
            <a:extLst xmlns:a="http://schemas.openxmlformats.org/drawingml/2006/main">
              <a:ext uri="{FF2B5EF4-FFF2-40B4-BE49-F238E27FC236}">
                <a16:creationId xmlns:a16="http://schemas.microsoft.com/office/drawing/2014/main" id="{B73F01CC-D7EE-4144-8C5C-240C81CB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153150"/>
            <a:ext cx="6057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</a:defRPr>
            </a:pPr>
            <a:r>
              <a:t>Models, persistence, seed data</a:t>
            </a:r>
          </a:p>
        </p:txBody>
      </p:sp>
      <p:sp>
        <p:nvSpPr>
          <p:cNvPr id="31" name="stack.table.row.4">
            <a:extLst xmlns:a="http://schemas.openxmlformats.org/drawingml/2006/main">
              <a:ext uri="{FF2B5EF4-FFF2-40B4-BE49-F238E27FC236}">
                <a16:creationId xmlns:a16="http://schemas.microsoft.com/office/drawing/2014/main" id="{FF5252F0-CF09-4316-A87F-4E970FA7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705600"/>
            <a:ext cx="135445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047"/>
          </a:solidFill>
          <a:ln xmlns:a="http://schemas.openxmlformats.org/drawingml/2006/main" w="0">
            <a:solidFill>
              <a:srgbClr val="343047"/>
            </a:solidFill>
            <a:prstDash val="solid"/>
          </a:ln>
        </p:spPr>
      </p:sp>
      <p:sp>
        <p:nvSpPr>
          <p:cNvPr id="32" name="stack.table.cell.4.0">
            <a:extLst xmlns:a="http://schemas.openxmlformats.org/drawingml/2006/main">
              <a:ext uri="{FF2B5EF4-FFF2-40B4-BE49-F238E27FC236}">
                <a16:creationId xmlns:a16="http://schemas.microsoft.com/office/drawing/2014/main" id="{4168AAAF-763C-4A0B-AFC7-FD964DB5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819900"/>
            <a:ext cx="196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t>Realtime</a:t>
            </a:r>
          </a:p>
        </p:txBody>
      </p:sp>
      <p:sp>
        <p:nvSpPr>
          <p:cNvPr id="33" name="stack.table.cell.4.1">
            <a:extLst xmlns:a="http://schemas.openxmlformats.org/drawingml/2006/main">
              <a:ext uri="{FF2B5EF4-FFF2-40B4-BE49-F238E27FC236}">
                <a16:creationId xmlns:a16="http://schemas.microsoft.com/office/drawing/2014/main" id="{C0A0FC42-8D56-46EF-A7CE-70240D18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819900"/>
            <a:ext cx="510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</a:defRPr>
            </a:pPr>
            <a:r>
              <a:t>Socket.IO, WebRTC</a:t>
            </a:r>
          </a:p>
        </p:txBody>
      </p:sp>
      <p:sp>
        <p:nvSpPr>
          <p:cNvPr id="34" name="stack.table.cell.4.2">
            <a:extLst xmlns:a="http://schemas.openxmlformats.org/drawingml/2006/main">
              <a:ext uri="{FF2B5EF4-FFF2-40B4-BE49-F238E27FC236}">
                <a16:creationId xmlns:a16="http://schemas.microsoft.com/office/drawing/2014/main" id="{C9E9755A-BC40-4236-8338-399AE253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819900"/>
            <a:ext cx="6057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</a:defRPr>
            </a:pPr>
            <a:r>
              <a:t>Presence and browser screen sharing</a:t>
            </a:r>
          </a:p>
        </p:txBody>
      </p:sp>
      <p:sp>
        <p:nvSpPr>
          <p:cNvPr id="35" name="stack.table.row.5">
            <a:extLst xmlns:a="http://schemas.openxmlformats.org/drawingml/2006/main">
              <a:ext uri="{FF2B5EF4-FFF2-40B4-BE49-F238E27FC236}">
                <a16:creationId xmlns:a16="http://schemas.microsoft.com/office/drawing/2014/main" id="{DF0C0348-69CD-4774-B3B7-82B1DCCE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372350"/>
            <a:ext cx="135445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047"/>
          </a:solidFill>
          <a:ln xmlns:a="http://schemas.openxmlformats.org/drawingml/2006/main" w="0">
            <a:solidFill>
              <a:srgbClr val="343047"/>
            </a:solidFill>
            <a:prstDash val="solid"/>
          </a:ln>
        </p:spPr>
      </p:sp>
      <p:sp>
        <p:nvSpPr>
          <p:cNvPr id="36" name="stack.table.cell.5.0">
            <a:extLst xmlns:a="http://schemas.openxmlformats.org/drawingml/2006/main">
              <a:ext uri="{FF2B5EF4-FFF2-40B4-BE49-F238E27FC236}">
                <a16:creationId xmlns:a16="http://schemas.microsoft.com/office/drawing/2014/main" id="{5DD447FE-B1F3-41CF-BB7B-4ACE81E9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7486650"/>
            <a:ext cx="196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t>Streaming</a:t>
            </a:r>
          </a:p>
        </p:txBody>
      </p:sp>
      <p:sp>
        <p:nvSpPr>
          <p:cNvPr id="37" name="stack.table.cell.5.1">
            <a:extLst xmlns:a="http://schemas.openxmlformats.org/drawingml/2006/main">
              <a:ext uri="{FF2B5EF4-FFF2-40B4-BE49-F238E27FC236}">
                <a16:creationId xmlns:a16="http://schemas.microsoft.com/office/drawing/2014/main" id="{C894E1AD-57C6-4C1C-B9A7-D976B50E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7486650"/>
            <a:ext cx="510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</a:defRPr>
            </a:pPr>
            <a:r>
              <a:t>Node Media Server, flv.js</a:t>
            </a:r>
          </a:p>
        </p:txBody>
      </p:sp>
      <p:sp>
        <p:nvSpPr>
          <p:cNvPr id="38" name="stack.table.cell.5.2">
            <a:extLst xmlns:a="http://schemas.openxmlformats.org/drawingml/2006/main">
              <a:ext uri="{FF2B5EF4-FFF2-40B4-BE49-F238E27FC236}">
                <a16:creationId xmlns:a16="http://schemas.microsoft.com/office/drawing/2014/main" id="{B010CDE1-ABF1-4D87-951D-171844ED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7486650"/>
            <a:ext cx="6057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</a:defRPr>
            </a:pPr>
            <a:r>
              <a:t>OBS ingest and FLV playback</a:t>
            </a:r>
          </a:p>
        </p:txBody>
      </p:sp>
      <p:sp>
        <p:nvSpPr>
          <p:cNvPr id="39" name="stack.table.row.6">
            <a:extLst xmlns:a="http://schemas.openxmlformats.org/drawingml/2006/main">
              <a:ext uri="{FF2B5EF4-FFF2-40B4-BE49-F238E27FC236}">
                <a16:creationId xmlns:a16="http://schemas.microsoft.com/office/drawing/2014/main" id="{0CB6AD74-25D4-45C9-A8CF-E93EC8CD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8039100"/>
            <a:ext cx="135445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047"/>
          </a:solidFill>
          <a:ln xmlns:a="http://schemas.openxmlformats.org/drawingml/2006/main" w="0">
            <a:solidFill>
              <a:srgbClr val="343047"/>
            </a:solidFill>
            <a:prstDash val="solid"/>
          </a:ln>
        </p:spPr>
      </p:sp>
      <p:sp>
        <p:nvSpPr>
          <p:cNvPr id="40" name="stack.table.cell.6.0">
            <a:extLst xmlns:a="http://schemas.openxmlformats.org/drawingml/2006/main">
              <a:ext uri="{FF2B5EF4-FFF2-40B4-BE49-F238E27FC236}">
                <a16:creationId xmlns:a16="http://schemas.microsoft.com/office/drawing/2014/main" id="{1CEB3205-7F16-4658-A069-C3B7F455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153400"/>
            <a:ext cx="196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41" name="stack.table.cell.6.1">
            <a:extLst xmlns:a="http://schemas.openxmlformats.org/drawingml/2006/main">
              <a:ext uri="{FF2B5EF4-FFF2-40B4-BE49-F238E27FC236}">
                <a16:creationId xmlns:a16="http://schemas.microsoft.com/office/drawing/2014/main" id="{081E90EA-D177-42CC-BEAA-7F60BAF4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8153400"/>
            <a:ext cx="510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</a:defRPr>
            </a:pPr>
            <a:r>
              <a:t>Google Generative AI</a:t>
            </a:r>
          </a:p>
        </p:txBody>
      </p:sp>
      <p:sp>
        <p:nvSpPr>
          <p:cNvPr id="42" name="stack.table.cell.6.2">
            <a:extLst xmlns:a="http://schemas.openxmlformats.org/drawingml/2006/main">
              <a:ext uri="{FF2B5EF4-FFF2-40B4-BE49-F238E27FC236}">
                <a16:creationId xmlns:a16="http://schemas.microsoft.com/office/drawing/2014/main" id="{0E916104-4A1A-46DF-8B22-06815BF2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8153400"/>
            <a:ext cx="6057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</a:defRPr>
            </a:pPr>
            <a:r>
              <a:t>Champak coach responses</a:t>
            </a:r>
          </a:p>
        </p:txBody>
      </p:sp>
      <p:sp>
        <p:nvSpPr>
          <p:cNvPr id="43" name="stack.close">
            <a:extLst xmlns:a="http://schemas.openxmlformats.org/drawingml/2006/main">
              <a:ext uri="{FF2B5EF4-FFF2-40B4-BE49-F238E27FC236}">
                <a16:creationId xmlns:a16="http://schemas.microsoft.com/office/drawing/2014/main" id="{71D29198-56E8-4DF7-A329-572C9112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8401050"/>
            <a:ext cx="11239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1A1AA"/>
                </a:solidFill>
              </a:defRPr>
            </a:pPr>
            <a:r>
              <a:t>The stack is intentionally demo-friendly: local database, local media server, and browser-first flows.</a:t>
            </a:r>
          </a:p>
        </p:txBody>
      </p:sp>
    </p:spTree>
    <p:extLst>
      <p:ext uri="{BB962C8B-B14F-4D97-AF65-F5344CB8AC3E}">
        <p14:creationId xmlns:p14="http://schemas.microsoft.com/office/powerpoint/2010/main" val="116003363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.17">
            <a:extLst xmlns:a="http://schemas.openxmlformats.org/drawingml/2006/main">
              <a:ext uri="{FF2B5EF4-FFF2-40B4-BE49-F238E27FC236}">
                <a16:creationId xmlns:a16="http://schemas.microsoft.com/office/drawing/2014/main" id="{9FF19C29-D699-4618-80AC-4CD6CA57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50A"/>
              </a:gs>
              <a:gs pos="54000">
                <a:srgbClr val="101027"/>
              </a:gs>
              <a:gs pos="100000">
                <a:srgbClr val="1A1026"/>
              </a:gs>
            </a:gsLst>
            <a:lin ang="1500000"/>
          </a:gradFill>
          <a:ln xmlns:a="http://schemas.openxmlformats.org/drawingml/2006/main" w="0">
            <a:solidFill>
              <a:srgbClr val="05050A"/>
            </a:solidFill>
            <a:prstDash val="solid"/>
          </a:ln>
        </p:spPr>
      </p:sp>
      <p:sp>
        <p:nvSpPr>
          <p:cNvPr id="2" name="accent.slash.17.1">
            <a:extLst xmlns:a="http://schemas.openxmlformats.org/drawingml/2006/main">
              <a:ext uri="{FF2B5EF4-FFF2-40B4-BE49-F238E27FC236}">
                <a16:creationId xmlns:a16="http://schemas.microsoft.com/office/drawing/2014/main" id="{A6CC2C9F-C7B5-4A85-87B2-444A7E25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6954500" y="-1714500"/>
            <a:ext cx="8572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3" name="accent.slash.17.2">
            <a:extLst xmlns:a="http://schemas.openxmlformats.org/drawingml/2006/main">
              <a:ext uri="{FF2B5EF4-FFF2-40B4-BE49-F238E27FC236}">
                <a16:creationId xmlns:a16="http://schemas.microsoft.com/office/drawing/2014/main" id="{AAB2A0D6-C423-4ACE-AD42-6CC732A7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>
            <a:off x="18021300" y="-1714500"/>
            <a:ext cx="285750" cy="1352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" name="accent.floor.17">
            <a:extLst xmlns:a="http://schemas.openxmlformats.org/drawingml/2006/main">
              <a:ext uri="{FF2B5EF4-FFF2-40B4-BE49-F238E27FC236}">
                <a16:creationId xmlns:a16="http://schemas.microsoft.com/office/drawing/2014/main" id="{772FE2AB-47E5-461E-8479-21B5F612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0"/>
            <a:ext cx="1828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</p:sp>
      <p:sp>
        <p:nvSpPr>
          <p:cNvPr id="5" name="accent.floor.line.17">
            <a:extLst xmlns:a="http://schemas.openxmlformats.org/drawingml/2006/main">
              <a:ext uri="{FF2B5EF4-FFF2-40B4-BE49-F238E27FC236}">
                <a16:creationId xmlns:a16="http://schemas.microsoft.com/office/drawing/2014/main" id="{E3E7E50F-78DC-442B-935C-77EA3A92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69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6" name="footer.section.17">
            <a:extLst xmlns:a="http://schemas.openxmlformats.org/drawingml/2006/main">
              <a:ext uri="{FF2B5EF4-FFF2-40B4-BE49-F238E27FC236}">
                <a16:creationId xmlns:a16="http://schemas.microsoft.com/office/drawing/2014/main" id="{D6BED115-101F-49CC-8EF1-AB9882FA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</a:defRPr>
            </a:pPr>
            <a:r>
              <a:t>FUTURE SCOPE</a:t>
            </a:r>
          </a:p>
        </p:txBody>
      </p:sp>
      <p:sp>
        <p:nvSpPr>
          <p:cNvPr id="7" name="footer.page.17">
            <a:extLst xmlns:a="http://schemas.openxmlformats.org/drawingml/2006/main">
              <a:ext uri="{FF2B5EF4-FFF2-40B4-BE49-F238E27FC236}">
                <a16:creationId xmlns:a16="http://schemas.microsoft.com/office/drawing/2014/main" id="{18801B5C-F695-4A88-B53F-D9E36ECC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6202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C19"/>
          </a:solidFill>
          <a:ln xmlns:a="http://schemas.openxmlformats.org/drawingml/2006/main" w="0">
            <a:solidFill>
              <a:srgbClr val="0F0C19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E5FF"/>
                </a:solidFill>
              </a:defRPr>
            </a:pPr>
            <a:r>
              <a:t>17</a:t>
            </a:r>
          </a:p>
        </p:txBody>
      </p:sp>
      <p:sp>
        <p:nvSpPr>
          <p:cNvPr id="8" name="label.FUTURE SCOPE">
            <a:extLst xmlns:a="http://schemas.openxmlformats.org/drawingml/2006/main">
              <a:ext uri="{FF2B5EF4-FFF2-40B4-BE49-F238E27FC236}">
                <a16:creationId xmlns:a16="http://schemas.microsoft.com/office/drawing/2014/main" id="{E95A7128-A8C2-4516-9A84-A6E2C2DC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362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0C19"/>
          </a:solidFill>
          <a:ln xmlns:a="http://schemas.openxmlformats.org/drawingml/2006/main" w="19050">
            <a:solidFill>
              <a:srgbClr val="FF10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107A"/>
                </a:solidFill>
              </a:defRPr>
            </a:pPr>
            <a:r>
              <a:t>FUTURE SCOPE</a:t>
            </a:r>
          </a:p>
        </p:txBody>
      </p:sp>
      <p:sp>
        <p:nvSpPr>
          <p:cNvPr id="9" name="slide-title.17">
            <a:extLst xmlns:a="http://schemas.openxmlformats.org/drawingml/2006/main">
              <a:ext uri="{FF2B5EF4-FFF2-40B4-BE49-F238E27FC236}">
                <a16:creationId xmlns:a16="http://schemas.microsoft.com/office/drawing/2014/main" id="{E1B79814-62DB-46CF-9E4E-EF1487AC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190625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t>The foundation is ready for richer campus-scale play</a:t>
            </a:r>
          </a:p>
        </p:txBody>
      </p:sp>
      <p:sp>
        <p:nvSpPr>
          <p:cNvPr id="10" name="slide-subtitle.17">
            <a:extLst xmlns:a="http://schemas.openxmlformats.org/drawingml/2006/main">
              <a:ext uri="{FF2B5EF4-FFF2-40B4-BE49-F238E27FC236}">
                <a16:creationId xmlns:a16="http://schemas.microsoft.com/office/drawing/2014/main" id="{5C6FD8D6-CD35-407A-BE22-3F779A40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104900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A1AA"/>
                </a:solidFill>
              </a:defRPr>
            </a:pPr>
            <a:r>
              <a:t>The next version can focus on reliability, richer scoring, and broader event support.</a:t>
            </a:r>
          </a:p>
        </p:txBody>
      </p:sp>
      <p:sp>
        <p:nvSpPr>
          <p:cNvPr id="11" name="future.num.0">
            <a:extLst xmlns:a="http://schemas.openxmlformats.org/drawingml/2006/main">
              <a:ext uri="{FF2B5EF4-FFF2-40B4-BE49-F238E27FC236}">
                <a16:creationId xmlns:a16="http://schemas.microsoft.com/office/drawing/2014/main" id="{131AEF1C-0469-479E-8244-8644E6D0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29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12" name="future.num.text.0">
            <a:extLst xmlns:a="http://schemas.openxmlformats.org/drawingml/2006/main">
              <a:ext uri="{FF2B5EF4-FFF2-40B4-BE49-F238E27FC236}">
                <a16:creationId xmlns:a16="http://schemas.microsoft.com/office/drawing/2014/main" id="{72C3F6DA-94DD-459F-A741-18D70ADE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543300"/>
            <a:ext cx="32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5050A"/>
                </a:solidFill>
              </a:defRPr>
            </a:pPr>
            <a:r>
              <a:t>1</a:t>
            </a:r>
          </a:p>
        </p:txBody>
      </p:sp>
      <p:sp>
        <p:nvSpPr>
          <p:cNvPr id="13" name="future.title.0">
            <a:extLst xmlns:a="http://schemas.openxmlformats.org/drawingml/2006/main">
              <a:ext uri="{FF2B5EF4-FFF2-40B4-BE49-F238E27FC236}">
                <a16:creationId xmlns:a16="http://schemas.microsoft.com/office/drawing/2014/main" id="{236C8A64-EBCB-40F4-BC87-4B8CC199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09950"/>
            <a:ext cx="49530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t>Mobile-first refinement</a:t>
            </a:r>
          </a:p>
        </p:txBody>
      </p:sp>
      <p:sp>
        <p:nvSpPr>
          <p:cNvPr id="14" name="future.body.0">
            <a:extLst xmlns:a="http://schemas.openxmlformats.org/drawingml/2006/main">
              <a:ext uri="{FF2B5EF4-FFF2-40B4-BE49-F238E27FC236}">
                <a16:creationId xmlns:a16="http://schemas.microsoft.com/office/drawing/2014/main" id="{E4C36AE8-023F-4985-AE15-6F701E36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29050"/>
            <a:ext cx="981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1A1AA"/>
                </a:solidFill>
              </a:defRPr>
            </a:pPr>
            <a:r>
              <a:t>Responsive drafting and live watch party controls.</a:t>
            </a:r>
          </a:p>
        </p:txBody>
      </p:sp>
      <p:sp>
        <p:nvSpPr>
          <p:cNvPr id="15" name="future.num.1">
            <a:extLst xmlns:a="http://schemas.openxmlformats.org/drawingml/2006/main">
              <a:ext uri="{FF2B5EF4-FFF2-40B4-BE49-F238E27FC236}">
                <a16:creationId xmlns:a16="http://schemas.microsoft.com/office/drawing/2014/main" id="{0843E412-8B50-4824-A3A7-39D66A5E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291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00"/>
          </a:solidFill>
          <a:ln xmlns:a="http://schemas.openxmlformats.org/drawingml/2006/main" w="0">
            <a:solidFill>
              <a:srgbClr val="FFD700"/>
            </a:solidFill>
            <a:prstDash val="solid"/>
          </a:ln>
        </p:spPr>
      </p:sp>
      <p:sp>
        <p:nvSpPr>
          <p:cNvPr id="16" name="future.num.text.1">
            <a:extLst xmlns:a="http://schemas.openxmlformats.org/drawingml/2006/main">
              <a:ext uri="{FF2B5EF4-FFF2-40B4-BE49-F238E27FC236}">
                <a16:creationId xmlns:a16="http://schemas.microsoft.com/office/drawing/2014/main" id="{3E08C20A-DE5E-42E0-AB93-CCB14202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543425"/>
            <a:ext cx="32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  <a:ln xmlns:a="http://schemas.openxmlformats.org/drawingml/2006/main" w="0">
            <a:solidFill>
              <a:srgbClr val="FFD700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5050A"/>
                </a:solidFill>
              </a:defRPr>
            </a:pPr>
            <a:r>
              <a:t>2</a:t>
            </a:r>
          </a:p>
        </p:txBody>
      </p:sp>
      <p:sp>
        <p:nvSpPr>
          <p:cNvPr id="17" name="future.title.1">
            <a:extLst xmlns:a="http://schemas.openxmlformats.org/drawingml/2006/main">
              <a:ext uri="{FF2B5EF4-FFF2-40B4-BE49-F238E27FC236}">
                <a16:creationId xmlns:a16="http://schemas.microsoft.com/office/drawing/2014/main" id="{DBC90750-E147-4EBC-A173-65CB781E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10075"/>
            <a:ext cx="49530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t>Advanced scoring rules</a:t>
            </a:r>
          </a:p>
        </p:txBody>
      </p:sp>
      <p:sp>
        <p:nvSpPr>
          <p:cNvPr id="18" name="future.body.1">
            <a:extLst xmlns:a="http://schemas.openxmlformats.org/drawingml/2006/main">
              <a:ext uri="{FF2B5EF4-FFF2-40B4-BE49-F238E27FC236}">
                <a16:creationId xmlns:a16="http://schemas.microsoft.com/office/drawing/2014/main" id="{FBDF2230-5688-4B39-BC69-F6A60FED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29175"/>
            <a:ext cx="981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1A1AA"/>
                </a:solidFill>
              </a:defRPr>
            </a:pPr>
            <a:r>
              <a:t>Sport-specific points, substitutions, penalties, and bonuses.</a:t>
            </a:r>
          </a:p>
        </p:txBody>
      </p:sp>
      <p:sp>
        <p:nvSpPr>
          <p:cNvPr id="19" name="future.num.2">
            <a:extLst xmlns:a="http://schemas.openxmlformats.org/drawingml/2006/main">
              <a:ext uri="{FF2B5EF4-FFF2-40B4-BE49-F238E27FC236}">
                <a16:creationId xmlns:a16="http://schemas.microsoft.com/office/drawing/2014/main" id="{5DB6C24C-25BE-4CB8-9B4B-1DCF5C74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292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F87"/>
          </a:solidFill>
          <a:ln xmlns:a="http://schemas.openxmlformats.org/drawingml/2006/main" w="0">
            <a:solidFill>
              <a:srgbClr val="00FF87"/>
            </a:solidFill>
            <a:prstDash val="solid"/>
          </a:ln>
        </p:spPr>
      </p:sp>
      <p:sp>
        <p:nvSpPr>
          <p:cNvPr id="20" name="future.num.text.2">
            <a:extLst xmlns:a="http://schemas.openxmlformats.org/drawingml/2006/main">
              <a:ext uri="{FF2B5EF4-FFF2-40B4-BE49-F238E27FC236}">
                <a16:creationId xmlns:a16="http://schemas.microsoft.com/office/drawing/2014/main" id="{C1DA2120-2AFB-45A8-9837-AF061FF8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543550"/>
            <a:ext cx="32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7"/>
          </a:solidFill>
          <a:ln xmlns:a="http://schemas.openxmlformats.org/drawingml/2006/main" w="0">
            <a:solidFill>
              <a:srgbClr val="00FF8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5050A"/>
                </a:solidFill>
              </a:defRPr>
            </a:pPr>
            <a:r>
              <a:t>3</a:t>
            </a:r>
          </a:p>
        </p:txBody>
      </p:sp>
      <p:sp>
        <p:nvSpPr>
          <p:cNvPr id="21" name="future.title.2">
            <a:extLst xmlns:a="http://schemas.openxmlformats.org/drawingml/2006/main">
              <a:ext uri="{FF2B5EF4-FFF2-40B4-BE49-F238E27FC236}">
                <a16:creationId xmlns:a16="http://schemas.microsoft.com/office/drawing/2014/main" id="{6A5A25CC-29B7-4AB0-B19D-4D355326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10200"/>
            <a:ext cx="49530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t>Payments or rewards</a:t>
            </a:r>
          </a:p>
        </p:txBody>
      </p:sp>
      <p:sp>
        <p:nvSpPr>
          <p:cNvPr id="22" name="future.body.2">
            <a:extLst xmlns:a="http://schemas.openxmlformats.org/drawingml/2006/main">
              <a:ext uri="{FF2B5EF4-FFF2-40B4-BE49-F238E27FC236}">
                <a16:creationId xmlns:a16="http://schemas.microsoft.com/office/drawing/2014/main" id="{61F917F8-9657-4774-84D9-C137E19D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29300"/>
            <a:ext cx="981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1A1AA"/>
                </a:solidFill>
              </a:defRPr>
            </a:pPr>
            <a:r>
              <a:t>Wallet top-ups, badges, certificates, and sponsor prizes.</a:t>
            </a:r>
          </a:p>
        </p:txBody>
      </p:sp>
      <p:sp>
        <p:nvSpPr>
          <p:cNvPr id="23" name="future.num.3">
            <a:extLst xmlns:a="http://schemas.openxmlformats.org/drawingml/2006/main">
              <a:ext uri="{FF2B5EF4-FFF2-40B4-BE49-F238E27FC236}">
                <a16:creationId xmlns:a16="http://schemas.microsoft.com/office/drawing/2014/main" id="{CED0541E-82EE-4CA5-89B1-B13359FE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4293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</p:sp>
      <p:sp>
        <p:nvSpPr>
          <p:cNvPr id="24" name="future.num.text.3">
            <a:extLst xmlns:a="http://schemas.openxmlformats.org/drawingml/2006/main">
              <a:ext uri="{FF2B5EF4-FFF2-40B4-BE49-F238E27FC236}">
                <a16:creationId xmlns:a16="http://schemas.microsoft.com/office/drawing/2014/main" id="{C1A96614-C161-4148-B1CB-D16D0F81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6543675"/>
            <a:ext cx="32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107A"/>
          </a:solidFill>
          <a:ln xmlns:a="http://schemas.openxmlformats.org/drawingml/2006/main" w="0">
            <a:solidFill>
              <a:srgbClr val="FF107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5050A"/>
                </a:solidFill>
              </a:defRPr>
            </a:pPr>
            <a:r>
              <a:t>4</a:t>
            </a:r>
          </a:p>
        </p:txBody>
      </p:sp>
      <p:sp>
        <p:nvSpPr>
          <p:cNvPr id="25" name="future.title.3">
            <a:extLst xmlns:a="http://schemas.openxmlformats.org/drawingml/2006/main">
              <a:ext uri="{FF2B5EF4-FFF2-40B4-BE49-F238E27FC236}">
                <a16:creationId xmlns:a16="http://schemas.microsoft.com/office/drawing/2014/main" id="{F2A2E524-30D4-4362-8F48-9BEF34A3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10325"/>
            <a:ext cx="49530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t>Moderation and roles</a:t>
            </a:r>
          </a:p>
        </p:txBody>
      </p:sp>
      <p:sp>
        <p:nvSpPr>
          <p:cNvPr id="26" name="future.body.3">
            <a:extLst xmlns:a="http://schemas.openxmlformats.org/drawingml/2006/main">
              <a:ext uri="{FF2B5EF4-FFF2-40B4-BE49-F238E27FC236}">
                <a16:creationId xmlns:a16="http://schemas.microsoft.com/office/drawing/2014/main" id="{F6D4B24B-58F5-4F96-BE2A-652922FE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829425"/>
            <a:ext cx="981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1A1AA"/>
                </a:solidFill>
              </a:defRPr>
            </a:pPr>
            <a:r>
              <a:t>Separate admin, streamer, organizer, and user permissions.</a:t>
            </a:r>
          </a:p>
        </p:txBody>
      </p:sp>
      <p:sp>
        <p:nvSpPr>
          <p:cNvPr id="27" name="future.num.4">
            <a:extLst xmlns:a="http://schemas.openxmlformats.org/drawingml/2006/main">
              <a:ext uri="{FF2B5EF4-FFF2-40B4-BE49-F238E27FC236}">
                <a16:creationId xmlns:a16="http://schemas.microsoft.com/office/drawing/2014/main" id="{485C49F5-CCB6-4BDB-8E2A-3B5194FD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429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28" name="future.num.text.4">
            <a:extLst xmlns:a="http://schemas.openxmlformats.org/drawingml/2006/main">
              <a:ext uri="{FF2B5EF4-FFF2-40B4-BE49-F238E27FC236}">
                <a16:creationId xmlns:a16="http://schemas.microsoft.com/office/drawing/2014/main" id="{F78DD6E2-6CD6-40BE-A7CF-A7496197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7543800"/>
            <a:ext cx="32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5050A"/>
                </a:solidFill>
              </a:defRPr>
            </a:pPr>
            <a:r>
              <a:t>5</a:t>
            </a:r>
          </a:p>
        </p:txBody>
      </p:sp>
      <p:sp>
        <p:nvSpPr>
          <p:cNvPr id="29" name="future.title.4">
            <a:extLst xmlns:a="http://schemas.openxmlformats.org/drawingml/2006/main">
              <a:ext uri="{FF2B5EF4-FFF2-40B4-BE49-F238E27FC236}">
                <a16:creationId xmlns:a16="http://schemas.microsoft.com/office/drawing/2014/main" id="{CAC069C9-10DE-453B-B633-541E1551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410450"/>
            <a:ext cx="49530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t>Deployment hardening</a:t>
            </a:r>
          </a:p>
        </p:txBody>
      </p:sp>
      <p:sp>
        <p:nvSpPr>
          <p:cNvPr id="30" name="future.body.4">
            <a:extLst xmlns:a="http://schemas.openxmlformats.org/drawingml/2006/main">
              <a:ext uri="{FF2B5EF4-FFF2-40B4-BE49-F238E27FC236}">
                <a16:creationId xmlns:a16="http://schemas.microsoft.com/office/drawing/2014/main" id="{B395A7AE-B621-4371-A47B-307DFE08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829550"/>
            <a:ext cx="981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1A1AA"/>
                </a:solidFill>
              </a:defRPr>
            </a:pPr>
            <a:r>
              <a:t>Environment secrets, persistent database, logs, and monitoring.</a:t>
            </a:r>
          </a:p>
        </p:txBody>
      </p:sp>
      <p:sp>
        <p:nvSpPr>
          <p:cNvPr id="31" name="future.final">
            <a:extLst xmlns:a="http://schemas.openxmlformats.org/drawingml/2006/main">
              <a:ext uri="{FF2B5EF4-FFF2-40B4-BE49-F238E27FC236}">
                <a16:creationId xmlns:a16="http://schemas.microsoft.com/office/drawing/2014/main" id="{C536AE2D-E25D-48BE-9E91-1B636B6E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790950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51225"/>
          </a:solidFill>
          <a:ln xmlns:a="http://schemas.openxmlformats.org/drawingml/2006/main" w="28575">
            <a:solidFill>
              <a:srgbClr val="FF107A"/>
            </a:solidFill>
            <a:prstDash val="solid"/>
          </a:ln>
        </p:spPr>
      </p:sp>
      <p:sp>
        <p:nvSpPr>
          <p:cNvPr id="32" name="future.final.text">
            <a:extLst xmlns:a="http://schemas.openxmlformats.org/drawingml/2006/main">
              <a:ext uri="{FF2B5EF4-FFF2-40B4-BE49-F238E27FC236}">
                <a16:creationId xmlns:a16="http://schemas.microsoft.com/office/drawing/2014/main" id="{B643814D-F3A8-4185-80B7-795397E4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4591050"/>
            <a:ext cx="2705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25"/>
          </a:solidFill>
          <a:ln xmlns:a="http://schemas.openxmlformats.org/drawingml/2006/main" w="0">
            <a:solidFill>
              <a:srgbClr val="15122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t>IIITN Fantasy Arena turns events into participation.</a:t>
            </a:r>
          </a:p>
        </p:txBody>
      </p:sp>
      <p:sp>
        <p:nvSpPr>
          <p:cNvPr id="33" name="future.thanks">
            <a:extLst xmlns:a="http://schemas.openxmlformats.org/drawingml/2006/main">
              <a:ext uri="{FF2B5EF4-FFF2-40B4-BE49-F238E27FC236}">
                <a16:creationId xmlns:a16="http://schemas.microsoft.com/office/drawing/2014/main" id="{4C57C29C-1FEC-4DA6-9393-5EFBED94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124700"/>
            <a:ext cx="371475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5050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E5FF"/>
                </a:solidFill>
              </a:defRPr>
            </a:pPr>
            <a: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0836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2026-04-29T03:14:47.5690000Z</dcterms:created>
  <dcterms:modified xsi:type="dcterms:W3CDTF">2026-04-29T03:14:47.5690000Z</dcterms:modified>
</coreProperties>
</file>